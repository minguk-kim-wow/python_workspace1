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handoutMasterIdLst>
    <p:handoutMasterId r:id="rId44"/>
  </p:handoutMasterIdLst>
  <p:sldIdLst>
    <p:sldId id="258" r:id="rId2"/>
    <p:sldId id="1125" r:id="rId3"/>
    <p:sldId id="1127" r:id="rId4"/>
    <p:sldId id="1131" r:id="rId5"/>
    <p:sldId id="1141" r:id="rId6"/>
    <p:sldId id="1195" r:id="rId7"/>
    <p:sldId id="1415" r:id="rId8"/>
    <p:sldId id="1452" r:id="rId9"/>
    <p:sldId id="1453" r:id="rId10"/>
    <p:sldId id="1446" r:id="rId11"/>
    <p:sldId id="1439" r:id="rId12"/>
    <p:sldId id="1416" r:id="rId13"/>
    <p:sldId id="1461" r:id="rId14"/>
    <p:sldId id="1462" r:id="rId15"/>
    <p:sldId id="1458" r:id="rId16"/>
    <p:sldId id="1459" r:id="rId17"/>
    <p:sldId id="1460" r:id="rId18"/>
    <p:sldId id="1463" r:id="rId19"/>
    <p:sldId id="1454" r:id="rId20"/>
    <p:sldId id="1455" r:id="rId21"/>
    <p:sldId id="1449" r:id="rId22"/>
    <p:sldId id="1450" r:id="rId23"/>
    <p:sldId id="1436" r:id="rId24"/>
    <p:sldId id="1429" r:id="rId25"/>
    <p:sldId id="1464" r:id="rId26"/>
    <p:sldId id="1465" r:id="rId27"/>
    <p:sldId id="1466" r:id="rId28"/>
    <p:sldId id="1467" r:id="rId29"/>
    <p:sldId id="1468" r:id="rId30"/>
    <p:sldId id="1417" r:id="rId31"/>
    <p:sldId id="1451" r:id="rId32"/>
    <p:sldId id="1442" r:id="rId33"/>
    <p:sldId id="1443" r:id="rId34"/>
    <p:sldId id="1406" r:id="rId35"/>
    <p:sldId id="1132" r:id="rId36"/>
    <p:sldId id="1394" r:id="rId37"/>
    <p:sldId id="1410" r:id="rId38"/>
    <p:sldId id="1411" r:id="rId39"/>
    <p:sldId id="1135" r:id="rId40"/>
    <p:sldId id="1134" r:id="rId41"/>
    <p:sldId id="1166" r:id="rId42"/>
  </p:sldIdLst>
  <p:sldSz cx="9144000" cy="5143500" type="screen16x9"/>
  <p:notesSz cx="6735763" cy="9866313"/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305">
          <p15:clr>
            <a:srgbClr val="A4A3A4"/>
          </p15:clr>
        </p15:guide>
        <p15:guide id="4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sung" initials="S" lastIdx="13" clrIdx="0">
    <p:extLst>
      <p:ext uri="{19B8F6BF-5375-455C-9EA6-DF929625EA0E}">
        <p15:presenceInfo xmlns:p15="http://schemas.microsoft.com/office/powerpoint/2012/main" userId="Sams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8000"/>
    <a:srgbClr val="180DFB"/>
    <a:srgbClr val="FFCCCC"/>
    <a:srgbClr val="FFFFFF"/>
    <a:srgbClr val="E46C0A"/>
    <a:srgbClr val="215968"/>
    <a:srgbClr val="BFBFBF"/>
    <a:srgbClr val="FF3300"/>
    <a:srgbClr val="B3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07" autoAdjust="0"/>
    <p:restoredTop sz="86151" autoAdjust="0"/>
  </p:normalViewPr>
  <p:slideViewPr>
    <p:cSldViewPr>
      <p:cViewPr varScale="1">
        <p:scale>
          <a:sx n="145" d="100"/>
          <a:sy n="145" d="100"/>
        </p:scale>
        <p:origin x="138" y="336"/>
      </p:cViewPr>
      <p:guideLst>
        <p:guide orient="horz"/>
        <p:guide/>
        <p:guide orient="horz" pos="305"/>
        <p:guide pos="34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954" y="-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2019-09-19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2550" y="741363"/>
            <a:ext cx="6572250" cy="3697287"/>
          </a:xfrm>
          <a:ln/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2157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254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39552" y="54900"/>
            <a:ext cx="8340531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>
              <a:defRPr sz="2400" b="1" i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92265" y="5147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◈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5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9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155120" cy="579120"/>
          </a:xfrm>
          <a:prstGeom prst="rect">
            <a:avLst/>
          </a:prstGeom>
          <a:pattFill prst="wdUpDiag">
            <a:fgClr>
              <a:schemeClr val="accent4">
                <a:lumMod val="75000"/>
              </a:schemeClr>
            </a:fgClr>
            <a:bgClr>
              <a:schemeClr val="accent4">
                <a:lumMod val="50000"/>
              </a:schemeClr>
            </a:bgClr>
          </a:patt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 bwMode="auto">
          <a:xfrm>
            <a:off x="0" y="579120"/>
            <a:ext cx="9155120" cy="4565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755576" y="67964"/>
            <a:ext cx="8159824" cy="428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ko-KR" altLang="en-US" sz="24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251520" y="7433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800" dirty="0">
                <a:solidFill>
                  <a:schemeClr val="bg1"/>
                </a:solidFill>
              </a:rPr>
              <a:t>◈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9"/>
          <p:cNvSpPr>
            <a:spLocks noChangeArrowheads="1"/>
          </p:cNvSpPr>
          <p:nvPr userDrawn="1"/>
        </p:nvSpPr>
        <p:spPr bwMode="auto">
          <a:xfrm>
            <a:off x="25257" y="253583"/>
            <a:ext cx="9083247" cy="39023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Rectangle 19"/>
          <p:cNvSpPr>
            <a:spLocks noChangeArrowheads="1"/>
          </p:cNvSpPr>
          <p:nvPr userDrawn="1"/>
        </p:nvSpPr>
        <p:spPr bwMode="auto">
          <a:xfrm>
            <a:off x="219938" y="4155926"/>
            <a:ext cx="8901538" cy="9570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Rectangle 19"/>
          <p:cNvSpPr>
            <a:spLocks noChangeArrowheads="1"/>
          </p:cNvSpPr>
          <p:nvPr userDrawn="1"/>
        </p:nvSpPr>
        <p:spPr bwMode="auto">
          <a:xfrm>
            <a:off x="25259" y="4155874"/>
            <a:ext cx="290650" cy="957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30" tIns="45715" rIns="72000" bIns="45715" anchor="ctr"/>
          <a:lstStyle/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션</a:t>
            </a:r>
            <a:endParaRPr kumimoji="0" lang="ko-KR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Rectangle 22"/>
          <p:cNvSpPr>
            <a:spLocks noChangeArrowheads="1"/>
          </p:cNvSpPr>
          <p:nvPr userDrawn="1"/>
        </p:nvSpPr>
        <p:spPr bwMode="auto">
          <a:xfrm>
            <a:off x="25257" y="19025"/>
            <a:ext cx="386422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과정명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Rectangle 22"/>
          <p:cNvSpPr>
            <a:spLocks noChangeArrowheads="1"/>
          </p:cNvSpPr>
          <p:nvPr userDrawn="1"/>
        </p:nvSpPr>
        <p:spPr bwMode="auto">
          <a:xfrm>
            <a:off x="5917292" y="19025"/>
            <a:ext cx="3204184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/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Rectangle 22"/>
          <p:cNvSpPr>
            <a:spLocks noChangeArrowheads="1"/>
          </p:cNvSpPr>
          <p:nvPr userDrawn="1"/>
        </p:nvSpPr>
        <p:spPr bwMode="auto">
          <a:xfrm>
            <a:off x="409428" y="19025"/>
            <a:ext cx="2434379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 latinLnBrk="1"/>
            <a:endParaRPr lang="ko-KR" altLang="en-US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22"/>
          <p:cNvSpPr>
            <a:spLocks noChangeArrowheads="1"/>
          </p:cNvSpPr>
          <p:nvPr userDrawn="1"/>
        </p:nvSpPr>
        <p:spPr bwMode="auto">
          <a:xfrm>
            <a:off x="3226326" y="19025"/>
            <a:ext cx="2308448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latinLnBrk="1"/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Rectangle 22"/>
          <p:cNvSpPr>
            <a:spLocks noChangeArrowheads="1"/>
          </p:cNvSpPr>
          <p:nvPr userDrawn="1"/>
        </p:nvSpPr>
        <p:spPr bwMode="auto">
          <a:xfrm>
            <a:off x="2843808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모듈명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Rectangle 22"/>
          <p:cNvSpPr>
            <a:spLocks noChangeArrowheads="1"/>
          </p:cNvSpPr>
          <p:nvPr userDrawn="1"/>
        </p:nvSpPr>
        <p:spPr bwMode="auto">
          <a:xfrm>
            <a:off x="5534774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2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389580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79159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168738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558317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92184" indent="-29218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3067" indent="-24348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394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352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3107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2686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265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1844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423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58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159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738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31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789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476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05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63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file:///\\&#47484;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getting_started/tutorials.html" TargetMode="External"/><Relationship Id="rId2" Type="http://schemas.openxmlformats.org/officeDocument/2006/relationships/hyperlink" Target="https://code.visualstudio.com/docs/getstarted/theme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ikidocs.net/13#join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5"/>
          <p:cNvSpPr>
            <a:spLocks noChangeArrowheads="1"/>
          </p:cNvSpPr>
          <p:nvPr/>
        </p:nvSpPr>
        <p:spPr bwMode="auto">
          <a:xfrm>
            <a:off x="3455385" y="1226458"/>
            <a:ext cx="2233243" cy="3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77916" tIns="38958" rIns="77916" bIns="38958">
            <a:spAutoFit/>
          </a:bodyPr>
          <a:lstStyle/>
          <a:p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1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ko-KR" b="1" dirty="0"/>
              <a:t>문자열 처리와 그룹연산</a:t>
            </a:r>
            <a:endParaRPr lang="ko-KR" altLang="en-US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1383885" y="612294"/>
            <a:ext cx="6356468" cy="459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7916" tIns="38958" rIns="77916" bIns="38958" anchor="ctr"/>
          <a:lstStyle/>
          <a:p>
            <a:pPr latinLnBrk="1"/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 err="1"/>
              <a:t>빅데이터</a:t>
            </a:r>
            <a:r>
              <a:rPr lang="ko-KR" altLang="en-US" sz="2000" b="1" dirty="0"/>
              <a:t> 수집 시스템 개발</a:t>
            </a:r>
            <a:endParaRPr lang="ko-KR" altLang="en-US" sz="2000" dirty="0"/>
          </a:p>
        </p:txBody>
      </p:sp>
      <p:sp>
        <p:nvSpPr>
          <p:cNvPr id="26628" name="Rectangle 24"/>
          <p:cNvSpPr>
            <a:spLocks noChangeArrowheads="1"/>
          </p:cNvSpPr>
          <p:nvPr/>
        </p:nvSpPr>
        <p:spPr bwMode="auto">
          <a:xfrm>
            <a:off x="185051" y="195263"/>
            <a:ext cx="8773898" cy="4752975"/>
          </a:xfrm>
          <a:prstGeom prst="rect">
            <a:avLst/>
          </a:prstGeom>
          <a:noFill/>
          <a:ln w="38100" cmpd="dbl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lIns="77916" tIns="38958" rIns="77916" bIns="38958" anchor="ctr"/>
          <a:lstStyle/>
          <a:p>
            <a:pPr algn="l" latinLnBrk="1"/>
            <a:endParaRPr lang="ko-KR" altLang="en-US" sz="15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5292353" y="382310"/>
            <a:ext cx="2448000" cy="2299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7916" tIns="38958" rIns="77916" bIns="38958" anchor="ctr"/>
          <a:lstStyle/>
          <a:p>
            <a:pPr algn="l" latinLnBrk="1">
              <a:defRPr/>
            </a:pP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평생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멀티미디어 일반형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양식</a:t>
            </a:r>
            <a:endParaRPr lang="en-US" altLang="ko-KR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491096"/>
              </p:ext>
            </p:extLst>
          </p:nvPr>
        </p:nvGraphicFramePr>
        <p:xfrm>
          <a:off x="1353043" y="1738134"/>
          <a:ext cx="6437915" cy="3886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내용전문가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백현숫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교수설계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한기대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교수설계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022236"/>
              </p:ext>
            </p:extLst>
          </p:nvPr>
        </p:nvGraphicFramePr>
        <p:xfrm>
          <a:off x="1353043" y="2202998"/>
          <a:ext cx="6437915" cy="11662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4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3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NCS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분류 정보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20–01–02–09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정보통신 </a:t>
                      </a:r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정보기술 </a:t>
                      </a:r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정보기술개발 </a:t>
                      </a:r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빅데이터플랫폼구축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 정보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03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수집시스템 개발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69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 요소 정보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2001020903_17v1.1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수집시스템 설계하기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6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36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6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3683"/>
              </p:ext>
            </p:extLst>
          </p:nvPr>
        </p:nvGraphicFramePr>
        <p:xfrm>
          <a:off x="1352655" y="3452594"/>
          <a:ext cx="6438693" cy="11658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1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버전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특이사항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원고 작성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백현숙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v.1.0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2019/09/11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원고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한기대 피드백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v.1.1</a:t>
                      </a:r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원고 보완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v.2.0</a:t>
                      </a:r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자문 진행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v.2.1</a:t>
                      </a:r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원고 보완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539552" y="54900"/>
            <a:ext cx="8340531" cy="398999"/>
          </a:xfrm>
        </p:spPr>
        <p:txBody>
          <a:bodyPr/>
          <a:lstStyle/>
          <a:p>
            <a:r>
              <a:rPr lang="ko-KR" altLang="en-US" dirty="0"/>
              <a:t>학습 목차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23349"/>
              </p:ext>
            </p:extLst>
          </p:nvPr>
        </p:nvGraphicFramePr>
        <p:xfrm>
          <a:off x="228660" y="1074822"/>
          <a:ext cx="8712969" cy="398524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9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모듈명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회차명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 요소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모듈명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능력단위요소명</a:t>
                      </a:r>
                      <a:r>
                        <a:rPr lang="ko-KR" altLang="en-US" sz="800" b="0" baseline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1.1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능력단위요소명</a:t>
                      </a:r>
                      <a:r>
                        <a:rPr lang="ko-KR" altLang="en-US" sz="800" b="0" baseline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1.2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03.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능력단위요소명</a:t>
                      </a:r>
                      <a:r>
                        <a:rPr lang="ko-KR" altLang="en-US" sz="800" b="0" baseline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1.3</a:t>
                      </a:r>
                    </a:p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1.4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en-US" altLang="ko-KR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04.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능력단위요소명</a:t>
                      </a:r>
                      <a:r>
                        <a:rPr lang="ko-KR" altLang="en-US" sz="800" b="0" baseline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1.4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모듈명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05. </a:t>
                      </a: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회차명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능력단위요소명</a:t>
                      </a:r>
                      <a:r>
                        <a:rPr lang="ko-KR" altLang="en-US" sz="800" b="0" baseline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2.1</a:t>
                      </a:r>
                    </a:p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2.2</a:t>
                      </a:r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  <a:endParaRPr lang="en-US" altLang="ko-KR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수행준거</a:t>
                      </a:r>
                      <a:r>
                        <a:rPr lang="ko-KR" altLang="en-US" sz="800" b="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기입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019"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309961"/>
              </p:ext>
            </p:extLst>
          </p:nvPr>
        </p:nvGraphicFramePr>
        <p:xfrm>
          <a:off x="232852" y="532666"/>
          <a:ext cx="8697788" cy="4549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4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NCS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분류 정보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20–01–02–09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정보통신 </a:t>
                      </a:r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정보기술 </a:t>
                      </a:r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정보기술개발 </a:t>
                      </a:r>
                      <a:r>
                        <a:rPr lang="en-US" altLang="ko-KR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빅데이터플랫폼구축</a:t>
                      </a:r>
                      <a:endParaRPr lang="ko-KR" altLang="en-US" sz="800" dirty="0">
                        <a:solidFill>
                          <a:srgbClr val="180DF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4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 정보</a:t>
                      </a:r>
                    </a:p>
                  </a:txBody>
                  <a:tcPr marL="84406" marR="84406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능력단위코드 기입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800" dirty="0">
                          <a:solidFill>
                            <a:srgbClr val="180DF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수집시스템 개발</a:t>
                      </a:r>
                    </a:p>
                  </a:txBody>
                  <a:tcPr marL="84399" marR="84399" marT="34319" marB="343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1939801" y="95975"/>
            <a:ext cx="6245600" cy="323155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학습 목차를 작성해 주세요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(NCS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비적용 과정일 경우에는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NCS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및 능력단위 정보를 기입하지 않아도 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344489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6"/>
          <p:cNvSpPr txBox="1">
            <a:spLocks noChangeArrowheads="1"/>
          </p:cNvSpPr>
          <p:nvPr/>
        </p:nvSpPr>
        <p:spPr bwMode="auto">
          <a:xfrm>
            <a:off x="323528" y="4271830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ko-KR" altLang="en-US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학습자가 학습 화면에 구성한 내용을 보고 있다고 가정하고</a:t>
            </a:r>
            <a:r>
              <a:rPr lang="en-US" altLang="ko-KR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설명으로 함께 들어야 할 음성 내용을 자세하게 기입해 주세요</a:t>
            </a:r>
            <a:r>
              <a:rPr lang="en-US" altLang="ko-KR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이건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나래이션해요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? 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저도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이런건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나래이션하면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좋겠어요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..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ㅜㅜ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endParaRPr lang="ko-KR" altLang="en-US" sz="800" b="1" dirty="0">
              <a:solidFill>
                <a:srgbClr val="008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66761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학습열기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23528" y="683338"/>
            <a:ext cx="8568952" cy="168121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문자열의 취급방법도 다른 언어들에 비해서 접근하기 쉽게 되어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문자열은 컴퓨터와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사람간에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가장 간극이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큰부분이라서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대부분의 언어에서 문자열을 다루기가 쉽지 않습니다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초보 개발자분들이 프로그램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할때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가장 어려워 하는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부분중에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하나이기도 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애초에 언어를 만든 사람이 재미로 만들었다는 성격이 문자열에서도 드러납니다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문자열의 연산이나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기본적으로 리스트와 큰 차이가 나지 않아서 사용하기 쉽습니다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장에서는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문자열간의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형태의 숫자를 처리하는 방법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문자열내에서 다른 서브 문자열을 검색하거나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토큰의 분리와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결합등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문자열을 처리하는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방법등을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알아보도록 하겠습니다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866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76916" y="625122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학습내용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76916" y="212255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학습목표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99592" y="998537"/>
            <a:ext cx="5832648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처리와 그룹연산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99592" y="2495971"/>
            <a:ext cx="6408712" cy="121955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문자열로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원하는 문자를 추출하거나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수정하거나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제거할 수 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서식문자열을 이용하여 다양한 형태의 데이터들을 문자열로 만들 수 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문자열을 분해하여 리스트로 만들거나 리스트 형태의 문자열을 결합하여 한 문장을 만들 수 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4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244231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문자열처리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2135501" cy="102411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인덱싱과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포매팅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연산</a:t>
            </a: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400131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345926" cy="349325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문자열</a:t>
            </a:r>
            <a:r>
              <a:rPr lang="en-US" altLang="ko-KR" sz="1200" dirty="0"/>
              <a:t>(String)</a:t>
            </a:r>
            <a:r>
              <a:rPr lang="ko-KR" altLang="en-US" sz="1200" dirty="0"/>
              <a:t>이란 문자</a:t>
            </a:r>
            <a:r>
              <a:rPr lang="en-US" altLang="ko-KR" sz="1200" dirty="0"/>
              <a:t>, </a:t>
            </a:r>
            <a:r>
              <a:rPr lang="ko-KR" altLang="en-US" sz="1200" dirty="0"/>
              <a:t>단어 등으로 구성된 문자들의 집합을 의미합니다 </a:t>
            </a:r>
            <a:endParaRPr lang="en-US" altLang="ko-KR" sz="1200" dirty="0"/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문자열은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”(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큰따옴표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 ‘(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따옴표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 둘러쌓아 만듭니다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우리눈에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숫자로 보이더라도 따옴표 안에 있는 데이터는 문자열입니다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문자열의 예시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대한민국은 민주공화국이다“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“1234”, ‘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도토리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’, ‘beautiful day’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여러줄에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걸쳐 써야 할 경우에는 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“ “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쓰거나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 ‘ ‘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쓰면 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pPr lvl="1" algn="l">
              <a:lnSpc>
                <a:spcPct val="150000"/>
              </a:lnSpc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10FEE2-A9C6-4121-9676-31393805AEB0}"/>
              </a:ext>
            </a:extLst>
          </p:cNvPr>
          <p:cNvSpPr/>
          <p:nvPr/>
        </p:nvSpPr>
        <p:spPr bwMode="auto">
          <a:xfrm>
            <a:off x="395536" y="2588886"/>
            <a:ext cx="5472608" cy="1296144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 err="1">
                <a:solidFill>
                  <a:schemeClr val="tx1"/>
                </a:solidFill>
              </a:rPr>
              <a:t>mystr</a:t>
            </a:r>
            <a:r>
              <a:rPr lang="en-US" altLang="ko-KR" dirty="0">
                <a:solidFill>
                  <a:schemeClr val="tx1"/>
                </a:solidFill>
              </a:rPr>
              <a:t> = “”” </a:t>
            </a:r>
          </a:p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                </a:t>
            </a:r>
            <a:r>
              <a:rPr lang="ko-KR" altLang="en-US" dirty="0">
                <a:solidFill>
                  <a:schemeClr val="tx1"/>
                </a:solidFill>
              </a:rPr>
              <a:t>문장이 </a:t>
            </a:r>
            <a:r>
              <a:rPr lang="ko-KR" altLang="en-US" dirty="0" err="1">
                <a:solidFill>
                  <a:schemeClr val="tx1"/>
                </a:solidFill>
              </a:rPr>
              <a:t>한줄을</a:t>
            </a:r>
            <a:r>
              <a:rPr lang="ko-KR" altLang="en-US" dirty="0">
                <a:solidFill>
                  <a:schemeClr val="tx1"/>
                </a:solidFill>
              </a:rPr>
              <a:t> 초과할 경우에는 </a:t>
            </a:r>
            <a:endParaRPr lang="en-US" altLang="ko-KR" dirty="0">
              <a:solidFill>
                <a:schemeClr val="tx1"/>
              </a:solidFill>
            </a:endParaRPr>
          </a:p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               </a:t>
            </a:r>
            <a:r>
              <a:rPr lang="ko-KR" altLang="en-US" dirty="0" err="1">
                <a:solidFill>
                  <a:schemeClr val="tx1"/>
                </a:solidFill>
              </a:rPr>
              <a:t>이런식으로</a:t>
            </a:r>
            <a:r>
              <a:rPr lang="ko-KR" altLang="en-US" dirty="0">
                <a:solidFill>
                  <a:schemeClr val="tx1"/>
                </a:solidFill>
              </a:rPr>
              <a:t> 작성하면 됩니다  </a:t>
            </a:r>
            <a:endParaRPr lang="en-US" altLang="ko-KR" dirty="0">
              <a:solidFill>
                <a:schemeClr val="tx1"/>
              </a:solidFill>
            </a:endParaRPr>
          </a:p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         </a:t>
            </a:r>
            <a:r>
              <a:rPr lang="ko-KR" altLang="en-US" dirty="0">
                <a:solidFill>
                  <a:schemeClr val="tx1"/>
                </a:solidFill>
              </a:rPr>
              <a:t>      </a:t>
            </a:r>
            <a:r>
              <a:rPr lang="en-US" altLang="ko-KR" dirty="0">
                <a:solidFill>
                  <a:schemeClr val="tx1"/>
                </a:solidFill>
              </a:rPr>
              <a:t>“”””</a:t>
            </a:r>
          </a:p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“””</a:t>
            </a:r>
          </a:p>
          <a:p>
            <a:pPr marL="0" algn="l"/>
            <a:r>
              <a:rPr lang="ko-KR" altLang="en-US" dirty="0">
                <a:solidFill>
                  <a:schemeClr val="tx1"/>
                </a:solidFill>
              </a:rPr>
              <a:t>좌변에 변수가 없을 경우에는 문자열이 아니라 </a:t>
            </a:r>
            <a:r>
              <a:rPr lang="ko-KR" altLang="en-US" dirty="0" err="1">
                <a:solidFill>
                  <a:schemeClr val="tx1"/>
                </a:solidFill>
              </a:rPr>
              <a:t>여러줄에</a:t>
            </a:r>
            <a:r>
              <a:rPr lang="ko-KR" altLang="en-US" dirty="0">
                <a:solidFill>
                  <a:schemeClr val="tx1"/>
                </a:solidFill>
              </a:rPr>
              <a:t> 걸친 주석으로 </a:t>
            </a:r>
            <a:endParaRPr lang="en-US" altLang="ko-KR" dirty="0">
              <a:solidFill>
                <a:schemeClr val="tx1"/>
              </a:solidFill>
            </a:endParaRPr>
          </a:p>
          <a:p>
            <a:pPr marL="0" algn="l"/>
            <a:r>
              <a:rPr lang="ko-KR" altLang="en-US" dirty="0">
                <a:solidFill>
                  <a:schemeClr val="tx1"/>
                </a:solidFill>
              </a:rPr>
              <a:t>판단됩니다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“””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573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097454" cy="378564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b="1" dirty="0"/>
              <a:t>파일명 </a:t>
            </a:r>
            <a:r>
              <a:rPr lang="en-US" altLang="ko-KR" sz="1200" b="1" dirty="0"/>
              <a:t>: exam12_1.py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문자열</a:t>
            </a:r>
            <a:r>
              <a:rPr lang="en-US" altLang="ko-KR" sz="1200" b="1" dirty="0"/>
              <a:t>(String)</a:t>
            </a:r>
            <a:endParaRPr lang="ko-KR" altLang="en-US" sz="1200" b="1" dirty="0"/>
          </a:p>
          <a:p>
            <a:pPr algn="l"/>
            <a:r>
              <a:rPr lang="en-US" altLang="ko-KR" sz="1200" b="1" dirty="0"/>
              <a:t>msg1 = "Hello Python"</a:t>
            </a:r>
            <a:endParaRPr lang="ko-KR" altLang="en-US" sz="1200" b="1" dirty="0"/>
          </a:p>
          <a:p>
            <a:pPr algn="l"/>
            <a:r>
              <a:rPr lang="en-US" altLang="ko-KR" sz="1200" b="1" dirty="0"/>
              <a:t>msg2 = 'Python is easy'</a:t>
            </a:r>
            <a:endParaRPr lang="ko-KR" altLang="en-US" sz="1200" b="1" dirty="0"/>
          </a:p>
          <a:p>
            <a:pPr algn="l"/>
            <a:br>
              <a:rPr lang="ko-KR" altLang="en-US" sz="1200" b="1" dirty="0"/>
            </a:br>
            <a:r>
              <a:rPr lang="en-US" altLang="ko-KR" sz="1200" b="1" dirty="0"/>
              <a:t>msg3 = """ </a:t>
            </a:r>
            <a:endParaRPr lang="ko-KR" altLang="en-US" sz="1200" b="1" dirty="0"/>
          </a:p>
          <a:p>
            <a:pPr algn="l"/>
            <a:r>
              <a:rPr lang="ko-KR" altLang="en-US" sz="1200" b="1" dirty="0"/>
              <a:t>나보기가 역겨워 </a:t>
            </a:r>
            <a:r>
              <a:rPr lang="ko-KR" altLang="en-US" sz="1200" b="1" dirty="0" err="1"/>
              <a:t>가실때에는</a:t>
            </a:r>
            <a:r>
              <a:rPr lang="ko-KR" altLang="en-US" sz="1200" b="1" dirty="0"/>
              <a:t> </a:t>
            </a:r>
          </a:p>
          <a:p>
            <a:pPr algn="l"/>
            <a:r>
              <a:rPr lang="ko-KR" altLang="en-US" sz="1200" b="1" dirty="0"/>
              <a:t>말없이 고이 </a:t>
            </a:r>
            <a:r>
              <a:rPr lang="ko-KR" altLang="en-US" sz="1200" b="1" dirty="0" err="1"/>
              <a:t>보내드리우리다</a:t>
            </a:r>
            <a:r>
              <a:rPr lang="ko-KR" altLang="en-US" sz="1200" b="1" dirty="0"/>
              <a:t> </a:t>
            </a:r>
          </a:p>
          <a:p>
            <a:pPr algn="l"/>
            <a:r>
              <a:rPr lang="ko-KR" altLang="en-US" sz="1200" b="1" dirty="0"/>
              <a:t>영변에 약산 진달래꽃 </a:t>
            </a:r>
            <a:r>
              <a:rPr lang="ko-KR" altLang="en-US" sz="1200" b="1" dirty="0" err="1"/>
              <a:t>아름따다</a:t>
            </a:r>
            <a:r>
              <a:rPr lang="ko-KR" altLang="en-US" sz="1200" b="1" dirty="0"/>
              <a:t> </a:t>
            </a:r>
          </a:p>
          <a:p>
            <a:pPr algn="l"/>
            <a:r>
              <a:rPr lang="ko-KR" altLang="en-US" sz="1200" b="1" dirty="0" err="1"/>
              <a:t>가실길에</a:t>
            </a:r>
            <a:r>
              <a:rPr lang="ko-KR" altLang="en-US" sz="1200" b="1" dirty="0"/>
              <a:t> 뿌리오리다</a:t>
            </a:r>
          </a:p>
          <a:p>
            <a:pPr algn="l"/>
            <a:r>
              <a:rPr lang="en-US" altLang="ko-KR" sz="1200" b="1" dirty="0"/>
              <a:t>"""</a:t>
            </a:r>
            <a:endParaRPr lang="ko-KR" altLang="en-US" sz="1200" b="1" dirty="0"/>
          </a:p>
          <a:p>
            <a:pPr algn="l"/>
            <a:br>
              <a:rPr lang="ko-KR" altLang="en-US" sz="1200" b="1" dirty="0"/>
            </a:br>
            <a:r>
              <a:rPr lang="en-US" altLang="ko-KR" sz="1200" b="1" dirty="0"/>
              <a:t>print(msg1)</a:t>
            </a:r>
          </a:p>
          <a:p>
            <a:pPr algn="l"/>
            <a:r>
              <a:rPr lang="en-US" altLang="ko-KR" sz="1200" b="1" dirty="0"/>
              <a:t>print(msg2)</a:t>
            </a:r>
          </a:p>
          <a:p>
            <a:pPr algn="l"/>
            <a:r>
              <a:rPr lang="en-US" altLang="ko-KR" sz="1200" b="1" dirty="0"/>
              <a:t>print(msg3)</a:t>
            </a:r>
          </a:p>
          <a:p>
            <a:br>
              <a:rPr lang="en-US" altLang="ko-KR" sz="1200" b="1" dirty="0"/>
            </a:br>
            <a:endParaRPr lang="en-US" altLang="ko-KR" sz="1200" b="1" dirty="0"/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058646-D0AD-4769-BF8E-46FDD2C8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277459"/>
            <a:ext cx="2876550" cy="1447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34F8419-18C7-48CA-8346-1D81B20809C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2339752" y="1222752"/>
            <a:ext cx="1836204" cy="55691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C0220A-7CAF-44C1-AD4E-AA8350805111}"/>
              </a:ext>
            </a:extLst>
          </p:cNvPr>
          <p:cNvSpPr/>
          <p:nvPr/>
        </p:nvSpPr>
        <p:spPr bwMode="auto">
          <a:xfrm>
            <a:off x="4355976" y="987574"/>
            <a:ext cx="2952328" cy="542944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변수</a:t>
            </a:r>
            <a:r>
              <a:rPr lang="en-US" altLang="ko-KR" dirty="0">
                <a:solidFill>
                  <a:sysClr val="windowText" lastClr="000000"/>
                </a:solidFill>
              </a:rPr>
              <a:t>=“””   </a:t>
            </a:r>
            <a:r>
              <a:rPr lang="ko-KR" altLang="en-US" dirty="0">
                <a:solidFill>
                  <a:sysClr val="windowText" lastClr="000000"/>
                </a:solidFill>
              </a:rPr>
              <a:t>형태를 유지해야 한다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>
                <a:solidFill>
                  <a:sysClr val="windowText" lastClr="000000"/>
                </a:solidFill>
              </a:rPr>
              <a:t>다음 데이터를 바로 써도 되고 옆에 처럼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한줄내려서</a:t>
            </a:r>
            <a:r>
              <a:rPr lang="ko-KR" altLang="en-US" dirty="0">
                <a:solidFill>
                  <a:sysClr val="windowText" lastClr="000000"/>
                </a:solidFill>
              </a:rPr>
              <a:t> 기술해도 된다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0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345926" cy="187588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숫자로 구성된 문자열 처리하기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input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이용하여 데이터를 받아들이면 모두 문자열로 인식합니다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문자열을 숫자로 변환하여 계산하려면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string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타입으로 전환해야 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타입전환은 하나의 타입을 다른 타입으로 전환하는데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타입전환은 변수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전환타입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수식 형태로 이루어집니다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lvl="1" algn="l">
              <a:lnSpc>
                <a:spcPct val="150000"/>
              </a:lnSpc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10FEE2-A9C6-4121-9676-31393805AEB0}"/>
              </a:ext>
            </a:extLst>
          </p:cNvPr>
          <p:cNvSpPr/>
          <p:nvPr/>
        </p:nvSpPr>
        <p:spPr bwMode="auto">
          <a:xfrm>
            <a:off x="1259632" y="2283718"/>
            <a:ext cx="5472608" cy="834916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value1 = int( input(“</a:t>
            </a:r>
            <a:r>
              <a:rPr lang="ko-KR" altLang="en-US" dirty="0">
                <a:solidFill>
                  <a:schemeClr val="tx1"/>
                </a:solidFill>
              </a:rPr>
              <a:t>정수를 을 입력하세요“</a:t>
            </a:r>
            <a:r>
              <a:rPr lang="en-US" altLang="ko-KR" dirty="0">
                <a:solidFill>
                  <a:schemeClr val="tx1"/>
                </a:solidFill>
              </a:rPr>
              <a:t>) ) </a:t>
            </a:r>
          </a:p>
          <a:p>
            <a:pPr marL="0" algn="l"/>
            <a:endParaRPr lang="en-US" altLang="ko-KR" dirty="0">
              <a:solidFill>
                <a:schemeClr val="tx1"/>
              </a:solidFill>
            </a:endParaRPr>
          </a:p>
          <a:p>
            <a:pPr marL="0" algn="l"/>
            <a:r>
              <a:rPr lang="en-US" altLang="ko-KR" dirty="0">
                <a:solidFill>
                  <a:schemeClr val="tx1"/>
                </a:solidFill>
              </a:rPr>
              <a:t>value2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=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float(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input(“</a:t>
            </a:r>
            <a:r>
              <a:rPr lang="ko-KR" altLang="en-US" dirty="0">
                <a:solidFill>
                  <a:schemeClr val="tx1"/>
                </a:solidFill>
              </a:rPr>
              <a:t>실수를 입력하세요 </a:t>
            </a:r>
            <a:r>
              <a:rPr lang="en-US" altLang="ko-KR" dirty="0">
                <a:solidFill>
                  <a:schemeClr val="tx1"/>
                </a:solidFill>
              </a:rPr>
              <a:t>“)) </a:t>
            </a:r>
          </a:p>
          <a:p>
            <a:pPr marL="0" algn="l"/>
            <a:endParaRPr lang="en-US" altLang="ko-KR" dirty="0">
              <a:solidFill>
                <a:schemeClr val="tx1"/>
              </a:solidFill>
            </a:endParaRPr>
          </a:p>
          <a:p>
            <a:pPr marL="0" algn="l"/>
            <a:r>
              <a:rPr lang="ko-KR" altLang="en-US" dirty="0">
                <a:solidFill>
                  <a:schemeClr val="tx1"/>
                </a:solidFill>
              </a:rPr>
              <a:t>만일 입력자가 정수를 입력하지 않으면 예외가 발생한다</a:t>
            </a:r>
          </a:p>
        </p:txBody>
      </p:sp>
    </p:spTree>
    <p:extLst>
      <p:ext uri="{BB962C8B-B14F-4D97-AF65-F5344CB8AC3E}">
        <p14:creationId xmlns:p14="http://schemas.microsoft.com/office/powerpoint/2010/main" val="423490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345926" cy="215288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입력된 문자열이 숫자로 이루어졌는지 확인하는 함수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input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이용하여 받아들인 데이터가 만일 숫자가 아닌 문자가 포함되어 있다면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예외를 발생시킵니다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예외를 발생시키지 않고 사전에 오류를 점검하고 싶다면 우선 타입전환이 가능한지 확인을 해야 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문자열이 숫자로 구성되었는지 확인하기 위한 함수가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isdigit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isdecimal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isnumeric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세개가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algn="l">
              <a:lnSpc>
                <a:spcPct val="150000"/>
              </a:lnSpc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10FEE2-A9C6-4121-9676-31393805AEB0}"/>
              </a:ext>
            </a:extLst>
          </p:cNvPr>
          <p:cNvSpPr/>
          <p:nvPr/>
        </p:nvSpPr>
        <p:spPr bwMode="auto">
          <a:xfrm>
            <a:off x="755576" y="2283718"/>
            <a:ext cx="6192688" cy="1680626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isdecimal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문자열이 숫자로만 구성되었으면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True,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아니면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False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반환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isdigit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 기호 중에서 어깨위에 제곱이나 세제곱을 표시하는 문자처럼  ‘숫자처럼 생긴’ 모든 글자를 다 숫자로 판단합니다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idnumeric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숫자값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표현에 해당하는 텍스트까지 숫자로 인정해줍니다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½” </a:t>
            </a:r>
          </a:p>
          <a:p>
            <a:pPr marL="0" algn="l"/>
            <a:endParaRPr lang="en-US" altLang="ko-KR" dirty="0">
              <a:solidFill>
                <a:schemeClr val="tx1"/>
              </a:solidFill>
            </a:endParaRPr>
          </a:p>
          <a:p>
            <a:pPr marL="0" algn="l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768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097454" cy="364714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숫자로 구성된 문자열 처리하기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exam12_2.py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value1 = input("</a:t>
            </a:r>
            <a:r>
              <a:rPr lang="ko-KR" altLang="en-US" b="1" dirty="0"/>
              <a:t>정수를 입력하세요 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value2 = input("</a:t>
            </a:r>
            <a:r>
              <a:rPr lang="ko-KR" altLang="en-US" b="1" dirty="0"/>
              <a:t>정수를 입력하세요 </a:t>
            </a:r>
            <a:r>
              <a:rPr lang="en-US" altLang="ko-KR" b="1" dirty="0"/>
              <a:t>")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#print( value1.isdigit() )</a:t>
            </a:r>
          </a:p>
          <a:p>
            <a:pPr algn="l"/>
            <a:r>
              <a:rPr lang="en-US" altLang="ko-KR" b="1" dirty="0"/>
              <a:t>if value1.isdecimal() and  value2.isdecimal():</a:t>
            </a:r>
          </a:p>
          <a:p>
            <a:pPr algn="l"/>
            <a:r>
              <a:rPr lang="en-US" altLang="ko-KR" b="1" dirty="0"/>
              <a:t>    result = value1 + value2 </a:t>
            </a:r>
          </a:p>
          <a:p>
            <a:pPr algn="l"/>
            <a:r>
              <a:rPr lang="en-US" altLang="ko-KR" b="1" dirty="0"/>
              <a:t>    print("</a:t>
            </a:r>
            <a:r>
              <a:rPr lang="ko-KR" altLang="en-US" b="1" dirty="0"/>
              <a:t>결과는 </a:t>
            </a:r>
            <a:r>
              <a:rPr lang="en-US" altLang="ko-KR" b="1" dirty="0"/>
              <a:t>", result, " </a:t>
            </a:r>
            <a:r>
              <a:rPr lang="ko-KR" altLang="en-US" b="1" dirty="0"/>
              <a:t>입니다 </a:t>
            </a:r>
            <a:r>
              <a:rPr lang="en-US" altLang="ko-KR" b="1" dirty="0"/>
              <a:t>")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    #</a:t>
            </a:r>
            <a:r>
              <a:rPr lang="ko-KR" altLang="en-US" b="1" dirty="0"/>
              <a:t>위의 코드 수정하기 </a:t>
            </a:r>
          </a:p>
          <a:p>
            <a:pPr algn="l"/>
            <a:r>
              <a:rPr lang="ko-KR" altLang="en-US" b="1" dirty="0"/>
              <a:t>    </a:t>
            </a:r>
            <a:r>
              <a:rPr lang="en-US" altLang="ko-KR" b="1" dirty="0"/>
              <a:t>result2 = int(value1) + int(value2)</a:t>
            </a:r>
          </a:p>
          <a:p>
            <a:pPr algn="l"/>
            <a:r>
              <a:rPr lang="en-US" altLang="ko-KR" b="1" dirty="0"/>
              <a:t>    print("</a:t>
            </a:r>
            <a:r>
              <a:rPr lang="ko-KR" altLang="en-US" b="1" dirty="0"/>
              <a:t>결과는 </a:t>
            </a:r>
            <a:r>
              <a:rPr lang="en-US" altLang="ko-KR" b="1" dirty="0"/>
              <a:t>", result2, " </a:t>
            </a:r>
            <a:r>
              <a:rPr lang="ko-KR" altLang="en-US" b="1" dirty="0"/>
              <a:t>입니다 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else:</a:t>
            </a:r>
          </a:p>
          <a:p>
            <a:pPr algn="l"/>
            <a:r>
              <a:rPr lang="en-US" altLang="ko-KR" b="1" dirty="0"/>
              <a:t>    print("</a:t>
            </a:r>
            <a:r>
              <a:rPr lang="ko-KR" altLang="en-US" b="1" dirty="0"/>
              <a:t>정수를 입력하지 않아서 연산에 실패했습니다</a:t>
            </a:r>
            <a:r>
              <a:rPr lang="en-US" altLang="ko-KR" b="1" dirty="0"/>
              <a:t>")</a:t>
            </a:r>
          </a:p>
          <a:p>
            <a:br>
              <a:rPr lang="en-US" altLang="ko-KR" b="1" dirty="0"/>
            </a:br>
            <a:endParaRPr lang="en-US" altLang="ko-KR" b="1" dirty="0"/>
          </a:p>
          <a:p>
            <a:br>
              <a:rPr lang="en-US" altLang="ko-KR" b="1" dirty="0"/>
            </a:br>
            <a:endParaRPr lang="en-US" altLang="ko-KR" b="1" dirty="0"/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10</a:t>
            </a:fld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34F8419-18C7-48CA-8346-1D81B20809C4}"/>
              </a:ext>
            </a:extLst>
          </p:cNvPr>
          <p:cNvCxnSpPr>
            <a:cxnSpLocks/>
          </p:cNvCxnSpPr>
          <p:nvPr/>
        </p:nvCxnSpPr>
        <p:spPr>
          <a:xfrm flipH="1">
            <a:off x="2339752" y="2215347"/>
            <a:ext cx="648072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C0220A-7CAF-44C1-AD4E-AA8350805111}"/>
              </a:ext>
            </a:extLst>
          </p:cNvPr>
          <p:cNvSpPr/>
          <p:nvPr/>
        </p:nvSpPr>
        <p:spPr bwMode="auto">
          <a:xfrm>
            <a:off x="3563888" y="1563638"/>
            <a:ext cx="3528392" cy="1008112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두개의 정수를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입력받아</a:t>
            </a:r>
            <a:r>
              <a:rPr lang="ko-KR" altLang="en-US" dirty="0">
                <a:solidFill>
                  <a:sysClr val="windowText" lastClr="000000"/>
                </a:solidFill>
              </a:rPr>
              <a:t> 그 결과를 출력하려고 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12</a:t>
            </a:r>
            <a:r>
              <a:rPr lang="ko-KR" altLang="en-US" dirty="0">
                <a:solidFill>
                  <a:sysClr val="windowText" lastClr="000000"/>
                </a:solidFill>
              </a:rPr>
              <a:t>와 </a:t>
            </a:r>
            <a:r>
              <a:rPr lang="en-US" altLang="ko-KR" dirty="0">
                <a:solidFill>
                  <a:sysClr val="windowText" lastClr="000000"/>
                </a:solidFill>
              </a:rPr>
              <a:t>34</a:t>
            </a:r>
            <a:r>
              <a:rPr lang="ko-KR" altLang="en-US" dirty="0">
                <a:solidFill>
                  <a:sysClr val="windowText" lastClr="000000"/>
                </a:solidFill>
              </a:rPr>
              <a:t>를 입력하였다면 결과값이 </a:t>
            </a:r>
            <a:r>
              <a:rPr lang="en-US" altLang="ko-KR" dirty="0">
                <a:solidFill>
                  <a:sysClr val="windowText" lastClr="000000"/>
                </a:solidFill>
              </a:rPr>
              <a:t>46</a:t>
            </a:r>
            <a:r>
              <a:rPr lang="ko-KR" altLang="en-US" dirty="0">
                <a:solidFill>
                  <a:sysClr val="windowText" lastClr="000000"/>
                </a:solidFill>
              </a:rPr>
              <a:t>가 나오는 것이 아니라 </a:t>
            </a:r>
            <a:r>
              <a:rPr lang="en-US" altLang="ko-KR" dirty="0">
                <a:solidFill>
                  <a:sysClr val="windowText" lastClr="000000"/>
                </a:solidFill>
              </a:rPr>
              <a:t>1234 </a:t>
            </a:r>
            <a:r>
              <a:rPr lang="ko-KR" altLang="en-US" dirty="0">
                <a:solidFill>
                  <a:sysClr val="windowText" lastClr="000000"/>
                </a:solidFill>
              </a:rPr>
              <a:t>가 나옵니다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input</a:t>
            </a:r>
            <a:r>
              <a:rPr lang="ko-KR" altLang="en-US" dirty="0">
                <a:solidFill>
                  <a:sysClr val="windowText" lastClr="000000"/>
                </a:solidFill>
              </a:rPr>
              <a:t> 함수는 반환이 무조건 </a:t>
            </a:r>
            <a:r>
              <a:rPr lang="en-US" altLang="ko-KR" dirty="0">
                <a:solidFill>
                  <a:sysClr val="windowText" lastClr="000000"/>
                </a:solidFill>
              </a:rPr>
              <a:t>string </a:t>
            </a:r>
            <a:r>
              <a:rPr lang="ko-KR" altLang="en-US" dirty="0">
                <a:solidFill>
                  <a:sysClr val="windowText" lastClr="000000"/>
                </a:solidFill>
              </a:rPr>
              <a:t>타입입니다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ko-KR" altLang="en-US" dirty="0" err="1">
                <a:solidFill>
                  <a:sysClr val="windowText" lastClr="000000"/>
                </a:solidFill>
              </a:rPr>
              <a:t>파이썬에서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string </a:t>
            </a:r>
            <a:r>
              <a:rPr lang="ko-KR" altLang="en-US" dirty="0">
                <a:solidFill>
                  <a:sysClr val="windowText" lastClr="000000"/>
                </a:solidFill>
              </a:rPr>
              <a:t>타입에 </a:t>
            </a:r>
            <a:r>
              <a:rPr lang="en-US" altLang="ko-KR" dirty="0">
                <a:solidFill>
                  <a:sysClr val="windowText" lastClr="000000"/>
                </a:solidFill>
              </a:rPr>
              <a:t>string </a:t>
            </a:r>
            <a:r>
              <a:rPr lang="ko-KR" altLang="en-US" dirty="0">
                <a:solidFill>
                  <a:sysClr val="windowText" lastClr="000000"/>
                </a:solidFill>
              </a:rPr>
              <a:t>타입을 더하면 결과는 문자열을 결합 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>
                <a:solidFill>
                  <a:sysClr val="windowText" lastClr="000000"/>
                </a:solidFill>
              </a:rPr>
              <a:t>그래서 결과가 </a:t>
            </a:r>
            <a:r>
              <a:rPr lang="en-US" altLang="ko-KR" dirty="0">
                <a:solidFill>
                  <a:sysClr val="windowText" lastClr="000000"/>
                </a:solidFill>
              </a:rPr>
              <a:t>1234</a:t>
            </a:r>
            <a:r>
              <a:rPr lang="ko-KR" altLang="en-US" dirty="0">
                <a:solidFill>
                  <a:sysClr val="windowText" lastClr="000000"/>
                </a:solidFill>
              </a:rPr>
              <a:t>로 나옵니다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0459B5-56B8-4855-8955-CE4687D2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00" y="2912636"/>
            <a:ext cx="1509514" cy="646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04C4161-479B-4898-968F-614A1D22EEFD}"/>
              </a:ext>
            </a:extLst>
          </p:cNvPr>
          <p:cNvCxnSpPr/>
          <p:nvPr/>
        </p:nvCxnSpPr>
        <p:spPr>
          <a:xfrm flipH="1">
            <a:off x="2663788" y="1059582"/>
            <a:ext cx="756084" cy="7920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EE5AD4-A4D7-4C7F-B0BA-3C903B1FE08B}"/>
              </a:ext>
            </a:extLst>
          </p:cNvPr>
          <p:cNvSpPr/>
          <p:nvPr/>
        </p:nvSpPr>
        <p:spPr bwMode="auto">
          <a:xfrm>
            <a:off x="3584600" y="574914"/>
            <a:ext cx="3507680" cy="77270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 err="1">
                <a:solidFill>
                  <a:sysClr val="windowText" lastClr="000000"/>
                </a:solidFill>
              </a:rPr>
              <a:t>입력받은</a:t>
            </a:r>
            <a:r>
              <a:rPr lang="ko-KR" altLang="en-US" dirty="0">
                <a:solidFill>
                  <a:sysClr val="windowText" lastClr="000000"/>
                </a:solidFill>
              </a:rPr>
              <a:t> 데이터가 숫자로 전환가능한지 확인한다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둘다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True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일때</a:t>
            </a:r>
            <a:r>
              <a:rPr lang="ko-KR" altLang="en-US" dirty="0">
                <a:solidFill>
                  <a:sysClr val="windowText" lastClr="000000"/>
                </a:solidFill>
              </a:rPr>
              <a:t> 수행을 하고 아니면 정수가 입력되지 않아 연산에 실패했다는 오류메시지가 발생한다 </a:t>
            </a:r>
          </a:p>
        </p:txBody>
      </p:sp>
    </p:spTree>
    <p:extLst>
      <p:ext uri="{BB962C8B-B14F-4D97-AF65-F5344CB8AC3E}">
        <p14:creationId xmlns:p14="http://schemas.microsoft.com/office/powerpoint/2010/main" val="3233971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400108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출력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줄바꿈이나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특별한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문자등을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출력하기 위해 이스케이프 문자를 사용합니다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이스케이프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코드란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프로그래밍할 때 사용할 수 있도록 미리 정의해 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조합＂입니다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출력을 보기 좋게 정렬하는 용도로 사용 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안에 함께 사용합니다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파이썬에서는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\(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역슬래쉬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함께 사용하는데 키보드의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우축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상단에 백스페이스 아래에 있는 문자입니다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영문폰트에서는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보이고 한글폰트에서는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보입니다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표에 있는 내용이 자주 사용하는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문자입ㄴ다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11</a:t>
            </a:fld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AE8ED3B-36A9-4C07-97F1-98838ECF7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212554"/>
              </p:ext>
            </p:extLst>
          </p:nvPr>
        </p:nvGraphicFramePr>
        <p:xfrm>
          <a:off x="323528" y="2211710"/>
          <a:ext cx="5354840" cy="176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058">
                  <a:extLst>
                    <a:ext uri="{9D8B030D-6E8A-4147-A177-3AD203B41FA5}">
                      <a16:colId xmlns:a16="http://schemas.microsoft.com/office/drawing/2014/main" val="370795461"/>
                    </a:ext>
                  </a:extLst>
                </a:gridCol>
                <a:gridCol w="4108782">
                  <a:extLst>
                    <a:ext uri="{9D8B030D-6E8A-4147-A177-3AD203B41FA5}">
                      <a16:colId xmlns:a16="http://schemas.microsoft.com/office/drawing/2014/main" val="2521890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7222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\n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문자열에서 </a:t>
                      </a:r>
                      <a:r>
                        <a:rPr lang="ko-KR" altLang="en-US" sz="1200" dirty="0" err="1"/>
                        <a:t>줄바꿈을</a:t>
                      </a:r>
                      <a:r>
                        <a:rPr lang="ko-KR" altLang="en-US" sz="1200" dirty="0"/>
                        <a:t> 할 때 사용합니다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979337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\t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문자열에서 </a:t>
                      </a:r>
                      <a:r>
                        <a:rPr lang="ko-KR" altLang="en-US" sz="1200" dirty="0" err="1"/>
                        <a:t>탭키를</a:t>
                      </a:r>
                      <a:r>
                        <a:rPr lang="ko-KR" altLang="en-US" sz="1200" dirty="0"/>
                        <a:t> 적용할 때 사용합니다</a:t>
                      </a:r>
                      <a:r>
                        <a:rPr lang="en-US" altLang="ko-KR" sz="1200" dirty="0"/>
                        <a:t>.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9223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\\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역슬래쉬</a:t>
                      </a:r>
                      <a:r>
                        <a:rPr lang="ko-KR" altLang="en-US" sz="1200" dirty="0"/>
                        <a:t> 문자 자체를 출력하고자 할 때 사용합니다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84217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\’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작은 따옴표를 출력하고자 할 때 사용합니다</a:t>
                      </a:r>
                      <a:r>
                        <a:rPr lang="en-US" altLang="ko-KR" sz="1200" dirty="0"/>
                        <a:t>.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024284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\”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큰 따옴표를 출력하고자 할 때 사용합니다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84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08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81630" cy="280075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출력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print("\"</a:t>
            </a:r>
            <a:r>
              <a:rPr lang="ko-KR" altLang="en-US" b="1" dirty="0"/>
              <a:t>파이썬</a:t>
            </a:r>
            <a:r>
              <a:rPr lang="en-US" altLang="ko-KR" b="1" dirty="0"/>
              <a:t>\"</a:t>
            </a:r>
            <a:r>
              <a:rPr lang="ko-KR" altLang="en-US" b="1" dirty="0"/>
              <a:t>은 데이터분석에 사용되는 언어입니다 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print("\'</a:t>
            </a:r>
            <a:r>
              <a:rPr lang="ko-KR" altLang="en-US" b="1" dirty="0"/>
              <a:t>파이썬</a:t>
            </a:r>
            <a:r>
              <a:rPr lang="en-US" altLang="ko-KR" b="1" dirty="0"/>
              <a:t>\'</a:t>
            </a:r>
            <a:r>
              <a:rPr lang="ko-KR" altLang="en-US" b="1" dirty="0"/>
              <a:t>은 </a:t>
            </a:r>
            <a:r>
              <a:rPr lang="en-US" altLang="ko-KR" b="1" dirty="0"/>
              <a:t>\'</a:t>
            </a:r>
            <a:r>
              <a:rPr lang="ko-KR" altLang="en-US" b="1" dirty="0"/>
              <a:t>딥러닝</a:t>
            </a:r>
            <a:r>
              <a:rPr lang="en-US" altLang="ko-KR" b="1" dirty="0"/>
              <a:t>\'</a:t>
            </a:r>
            <a:r>
              <a:rPr lang="ko-KR" altLang="en-US" b="1" dirty="0"/>
              <a:t>에도 사용됩니다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파이썬</a:t>
            </a:r>
            <a:r>
              <a:rPr lang="en-US" altLang="ko-KR" b="1" dirty="0"/>
              <a:t>\n</a:t>
            </a:r>
            <a:r>
              <a:rPr lang="ko-KR" altLang="en-US" b="1" dirty="0"/>
              <a:t>데이터분석</a:t>
            </a:r>
            <a:r>
              <a:rPr lang="en-US" altLang="ko-KR" b="1" dirty="0"/>
              <a:t>\n</a:t>
            </a:r>
            <a:r>
              <a:rPr lang="ko-KR" altLang="en-US" b="1" dirty="0" err="1"/>
              <a:t>크롤링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파이썬</a:t>
            </a:r>
            <a:r>
              <a:rPr lang="en-US" altLang="ko-KR" b="1" dirty="0"/>
              <a:t>\t</a:t>
            </a:r>
            <a:r>
              <a:rPr lang="ko-KR" altLang="en-US" b="1" dirty="0"/>
              <a:t>데이터분석</a:t>
            </a:r>
            <a:r>
              <a:rPr lang="en-US" altLang="ko-KR" b="1" dirty="0"/>
              <a:t>\t</a:t>
            </a:r>
            <a:r>
              <a:rPr lang="ko-KR" altLang="en-US" b="1" dirty="0" err="1"/>
              <a:t>크롤링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print("c:\\pythonwork_space\\exam12\\exam12_1.py")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msg = "</a:t>
            </a:r>
            <a:r>
              <a:rPr lang="ko-KR" altLang="en-US" b="1" dirty="0"/>
              <a:t>파이썬</a:t>
            </a:r>
            <a:r>
              <a:rPr lang="en-US" altLang="ko-KR" b="1" dirty="0"/>
              <a:t>\t</a:t>
            </a:r>
            <a:r>
              <a:rPr lang="ko-KR" altLang="en-US" b="1" dirty="0" err="1"/>
              <a:t>뷰티플스프</a:t>
            </a:r>
            <a:r>
              <a:rPr lang="en-US" altLang="ko-KR" b="1" dirty="0"/>
              <a:t>\n</a:t>
            </a:r>
            <a:r>
              <a:rPr lang="ko-KR" altLang="en-US" b="1" dirty="0" err="1"/>
              <a:t>사이킷런</a:t>
            </a:r>
            <a:r>
              <a:rPr lang="en-US" altLang="ko-KR" b="1" dirty="0"/>
              <a:t>"</a:t>
            </a:r>
            <a:endParaRPr lang="ko-KR" altLang="en-US" b="1" dirty="0"/>
          </a:p>
          <a:p>
            <a:pPr algn="l"/>
            <a:r>
              <a:rPr lang="en-US" altLang="ko-KR" b="1" dirty="0"/>
              <a:t>print(msg)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path = </a:t>
            </a:r>
            <a:r>
              <a:rPr lang="en-US" altLang="ko-KR" b="1" dirty="0" err="1"/>
              <a:t>r"c</a:t>
            </a:r>
            <a:r>
              <a:rPr lang="en-US" altLang="ko-KR" b="1" dirty="0"/>
              <a:t>:\pythonwork_space\exam12\exam12_1.py"</a:t>
            </a:r>
          </a:p>
          <a:p>
            <a:pPr algn="l"/>
            <a:r>
              <a:rPr lang="en-US" altLang="ko-KR" b="1" dirty="0"/>
              <a:t>print(path)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12</a:t>
            </a:fld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D360F5D-F49F-41D3-B640-C4BBD4840C13}"/>
              </a:ext>
            </a:extLst>
          </p:cNvPr>
          <p:cNvCxnSpPr/>
          <p:nvPr/>
        </p:nvCxnSpPr>
        <p:spPr>
          <a:xfrm flipH="1">
            <a:off x="3779912" y="961147"/>
            <a:ext cx="11521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F23F17-5813-40AE-8857-FEC0D535E4C7}"/>
              </a:ext>
            </a:extLst>
          </p:cNvPr>
          <p:cNvSpPr/>
          <p:nvPr/>
        </p:nvSpPr>
        <p:spPr bwMode="auto">
          <a:xfrm>
            <a:off x="5076056" y="391776"/>
            <a:ext cx="3816424" cy="955838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escape</a:t>
            </a:r>
            <a:r>
              <a:rPr lang="ko-KR" altLang="en-US" dirty="0">
                <a:solidFill>
                  <a:sysClr val="windowText" lastClr="000000"/>
                </a:solidFill>
              </a:rPr>
              <a:t>문자를 사용해서 다양한 기능을 구현할 수 있습니다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>
                <a:solidFill>
                  <a:sysClr val="windowText" lastClr="000000"/>
                </a:solidFill>
              </a:rPr>
              <a:t> 가끔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역슬래쉬</a:t>
            </a:r>
            <a:r>
              <a:rPr lang="ko-KR" altLang="en-US" dirty="0">
                <a:solidFill>
                  <a:sysClr val="windowText" lastClr="000000"/>
                </a:solidFill>
              </a:rPr>
              <a:t> 문자를 무력화 시켜야 할 때가 있습니다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그럴때는</a:t>
            </a:r>
            <a:r>
              <a:rPr lang="ko-KR" altLang="en-US" dirty="0">
                <a:solidFill>
                  <a:sysClr val="windowText" lastClr="000000"/>
                </a:solidFill>
              </a:rPr>
              <a:t> 문자열 앞에 </a:t>
            </a:r>
            <a:r>
              <a:rPr lang="en-US" altLang="ko-KR" dirty="0">
                <a:solidFill>
                  <a:sysClr val="windowText" lastClr="000000"/>
                </a:solidFill>
              </a:rPr>
              <a:t>r</a:t>
            </a:r>
            <a:r>
              <a:rPr lang="ko-KR" altLang="en-US" dirty="0">
                <a:solidFill>
                  <a:sysClr val="windowText" lastClr="000000"/>
                </a:solidFill>
              </a:rPr>
              <a:t>을 붙여주면 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r</a:t>
            </a:r>
            <a:r>
              <a:rPr lang="ko-KR" altLang="en-US" dirty="0">
                <a:solidFill>
                  <a:sysClr val="windowText" lastClr="000000"/>
                </a:solidFill>
              </a:rPr>
              <a:t>을 붙이면 </a:t>
            </a:r>
            <a:r>
              <a:rPr lang="en-US" altLang="ko-KR" dirty="0">
                <a:solidFill>
                  <a:sysClr val="windowText" lastClr="000000"/>
                </a:solidFill>
              </a:rPr>
              <a:t>escape </a:t>
            </a:r>
            <a:r>
              <a:rPr lang="ko-KR" altLang="en-US" dirty="0">
                <a:solidFill>
                  <a:sysClr val="windowText" lastClr="000000"/>
                </a:solidFill>
              </a:rPr>
              <a:t>문자가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무력화되서</a:t>
            </a:r>
            <a:r>
              <a:rPr lang="ko-KR" altLang="en-US" dirty="0">
                <a:solidFill>
                  <a:sysClr val="windowText" lastClr="000000"/>
                </a:solidFill>
              </a:rPr>
              <a:t> 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역슬래쉬를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  <a:hlinkClick r:id="rId2" action="ppaction://hlinkfile"/>
              </a:rPr>
              <a:t>를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두개씩</a:t>
            </a:r>
            <a:r>
              <a:rPr lang="ko-KR" altLang="en-US" dirty="0">
                <a:solidFill>
                  <a:sysClr val="windowText" lastClr="000000"/>
                </a:solidFill>
              </a:rPr>
              <a:t> 붙이지 않아도 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95B785-C273-4990-83DF-3CCE600C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930" y="1888191"/>
            <a:ext cx="2429384" cy="12770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482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324703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문자열을 더하거나 곱할 수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두가지 연산만 허용됩니다</a:t>
            </a:r>
            <a:r>
              <a:rPr lang="en-US" altLang="ko-KR" sz="1200" dirty="0"/>
              <a:t>.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더하기 연산은 두개의 문자열을 합쳐서 하나의 문자열을 만듭니다</a:t>
            </a:r>
            <a:r>
              <a:rPr lang="en-US" altLang="ko-KR" sz="1200" dirty="0"/>
              <a:t>. 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곱하기 연산은 특정 문자열을 지정한 회수만큼 반복하여 긴 문자열을 </a:t>
            </a:r>
            <a:r>
              <a:rPr lang="ko-KR" altLang="en-US" sz="1200" dirty="0" err="1"/>
              <a:t>만들때</a:t>
            </a:r>
            <a:r>
              <a:rPr lang="ko-KR" altLang="en-US" sz="1200" dirty="0"/>
              <a:t> 사용합니다 </a:t>
            </a:r>
            <a:r>
              <a:rPr lang="en-US" altLang="ko-KR" sz="1200" dirty="0"/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AF59B3-32EE-4536-B3B8-D9988B3E2FD9}"/>
              </a:ext>
            </a:extLst>
          </p:cNvPr>
          <p:cNvSpPr/>
          <p:nvPr/>
        </p:nvSpPr>
        <p:spPr bwMode="auto">
          <a:xfrm>
            <a:off x="539552" y="1530518"/>
            <a:ext cx="6408712" cy="1905327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s = 'Hello'</a:t>
            </a:r>
          </a:p>
          <a:p>
            <a:pPr algn="l"/>
            <a:r>
              <a:rPr lang="en-US" altLang="ko-KR" sz="1200" b="1" dirty="0"/>
              <a:t>s2 = 'Python'</a:t>
            </a:r>
          </a:p>
          <a:p>
            <a:pPr algn="l"/>
            <a:r>
              <a:rPr lang="en-US" altLang="ko-KR" sz="1200" b="1" dirty="0"/>
              <a:t>s3 = s + " " + s2</a:t>
            </a:r>
          </a:p>
          <a:p>
            <a:pPr algn="l"/>
            <a:r>
              <a:rPr lang="en-US" altLang="ko-KR" sz="1200" b="1" dirty="0"/>
              <a:t>print(s3)                    </a:t>
            </a:r>
            <a:r>
              <a:rPr lang="ko-KR" altLang="en-US" sz="1200" b="1" dirty="0"/>
              <a:t>결과 </a:t>
            </a:r>
            <a:r>
              <a:rPr lang="en-US" altLang="ko-KR" sz="1200" b="1" dirty="0"/>
              <a:t>: Hello Python</a:t>
            </a:r>
          </a:p>
          <a:p>
            <a:pPr algn="l"/>
            <a:endParaRPr lang="en-US" altLang="ko-KR" sz="1200" b="1" dirty="0"/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line = </a:t>
            </a:r>
            <a:r>
              <a:rPr lang="ko-KR" altLang="en-US" sz="1200" b="1" dirty="0"/>
              <a:t>＂</a:t>
            </a:r>
            <a:r>
              <a:rPr lang="en-US" altLang="ko-KR" sz="1200" b="1" dirty="0"/>
              <a:t>-</a:t>
            </a:r>
            <a:r>
              <a:rPr lang="ko-KR" altLang="en-US" sz="1200" b="1" dirty="0"/>
              <a:t>＂</a:t>
            </a:r>
            <a:r>
              <a:rPr lang="en-US" altLang="ko-KR" sz="1200" b="1" dirty="0"/>
              <a:t> * 5</a:t>
            </a:r>
          </a:p>
          <a:p>
            <a:pPr algn="l"/>
            <a:r>
              <a:rPr lang="en-US" altLang="ko-KR" sz="1200" b="1" dirty="0"/>
              <a:t>print(line)                </a:t>
            </a:r>
            <a:r>
              <a:rPr lang="ko-KR" altLang="en-US" sz="1200" b="1" dirty="0"/>
              <a:t>결과 </a:t>
            </a:r>
            <a:r>
              <a:rPr lang="en-US" altLang="ko-KR" sz="1200" b="1" dirty="0"/>
              <a:t>-----       </a:t>
            </a:r>
            <a:r>
              <a:rPr lang="ko-KR" altLang="en-US" sz="1200" b="1" dirty="0"/>
              <a:t>앞의 문자를 </a:t>
            </a:r>
            <a:r>
              <a:rPr lang="en-US" altLang="ko-KR" sz="1200" b="1" dirty="0"/>
              <a:t>* </a:t>
            </a:r>
            <a:r>
              <a:rPr lang="ko-KR" altLang="en-US" sz="1200" b="1" dirty="0"/>
              <a:t>뒤에 숫자만큼 반복한다 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666988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81630" cy="323164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연산하기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#exam12_4.py</a:t>
            </a:r>
            <a:r>
              <a:rPr lang="ko-KR" altLang="en-US" b="1" dirty="0"/>
              <a:t> 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print()</a:t>
            </a:r>
          </a:p>
          <a:p>
            <a:pPr algn="l"/>
            <a:r>
              <a:rPr lang="en-US" altLang="ko-KR" b="1" dirty="0"/>
              <a:t>s1 = "Hello"</a:t>
            </a:r>
          </a:p>
          <a:p>
            <a:pPr algn="l"/>
            <a:r>
              <a:rPr lang="en-US" altLang="ko-KR" b="1" dirty="0"/>
              <a:t>s2 = "Python"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 = s1 + " " + s2</a:t>
            </a:r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 = s1 * 3</a:t>
            </a:r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line = "-" * 50</a:t>
            </a:r>
          </a:p>
          <a:p>
            <a:pPr algn="l"/>
            <a:r>
              <a:rPr lang="en-US" altLang="ko-KR" b="1" dirty="0"/>
              <a:t>print(line)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for </a:t>
            </a:r>
            <a:r>
              <a:rPr lang="en-US" altLang="ko-KR" b="1" dirty="0" err="1"/>
              <a:t>i</a:t>
            </a:r>
            <a:r>
              <a:rPr lang="en-US" altLang="ko-KR" b="1" dirty="0"/>
              <a:t> in range(1, 11):</a:t>
            </a:r>
          </a:p>
          <a:p>
            <a:pPr algn="l"/>
            <a:r>
              <a:rPr lang="en-US" altLang="ko-KR" b="1" dirty="0"/>
              <a:t>    print("*" * </a:t>
            </a:r>
            <a:r>
              <a:rPr lang="en-US" altLang="ko-KR" b="1" dirty="0" err="1"/>
              <a:t>i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print()</a:t>
            </a: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B9F58AD-8AE2-4646-AF0E-0FC7ABF4B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116465"/>
            <a:ext cx="3660307" cy="19593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0869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361636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인덱싱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인덱싱을 이용해 문자열의 요소들을 하나씩 접근할 수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문자열의 인덱싱은 문자열변수</a:t>
            </a:r>
            <a:r>
              <a:rPr lang="en-US" altLang="ko-KR" sz="1200" dirty="0"/>
              <a:t>[</a:t>
            </a:r>
            <a:r>
              <a:rPr lang="ko-KR" altLang="en-US" sz="1200" dirty="0" err="1"/>
              <a:t>위치값</a:t>
            </a:r>
            <a:r>
              <a:rPr lang="en-US" altLang="ko-KR" sz="1200" dirty="0"/>
              <a:t>]</a:t>
            </a:r>
            <a:r>
              <a:rPr lang="ko-KR" altLang="en-US" sz="1200" dirty="0"/>
              <a:t>의 형태로 데이터를 </a:t>
            </a:r>
            <a:r>
              <a:rPr lang="ko-KR" altLang="en-US" sz="1200" dirty="0" err="1"/>
              <a:t>한글자씩</a:t>
            </a:r>
            <a:r>
              <a:rPr lang="ko-KR" altLang="en-US" sz="1200" dirty="0"/>
              <a:t> 읽을 수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인덱싱은 값을 읽기 위한 용도로만 사용되고 쓰기 위한 용도로는 사용되지 않습니다</a:t>
            </a:r>
            <a:r>
              <a:rPr lang="en-US" altLang="ko-KR" sz="1200" dirty="0"/>
              <a:t>. 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원래의 글자 범위를 벗어나면 예외가 발생합니다</a:t>
            </a:r>
            <a:r>
              <a:rPr lang="en-US" altLang="ko-KR" sz="1200" dirty="0"/>
              <a:t>. 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인덱싱을 </a:t>
            </a:r>
            <a:r>
              <a:rPr lang="en-US" altLang="ko-KR" sz="1200" dirty="0"/>
              <a:t>–</a:t>
            </a:r>
            <a:r>
              <a:rPr lang="ko-KR" altLang="en-US" sz="1200" dirty="0"/>
              <a:t>를 사용할 수 도 있습니다</a:t>
            </a:r>
            <a:endParaRPr lang="en-US" altLang="ko-KR" sz="1200" dirty="0"/>
          </a:p>
          <a:p>
            <a:pPr marL="171450" indent="-171450" algn="l">
              <a:buFontTx/>
              <a:buChar char="-"/>
            </a:pP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0E7E62-12DB-4EB4-BE29-4455D177AE7F}"/>
              </a:ext>
            </a:extLst>
          </p:cNvPr>
          <p:cNvSpPr/>
          <p:nvPr/>
        </p:nvSpPr>
        <p:spPr bwMode="auto">
          <a:xfrm>
            <a:off x="467544" y="1851670"/>
            <a:ext cx="6408712" cy="214184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=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“Hello”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print( s[0] ) 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print( s[1] ) </a:t>
            </a: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s[0] = “h”  &lt;- 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이건 허용되지 않습니다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ko-KR" altLang="en-US" sz="1200" dirty="0" err="1">
                <a:solidFill>
                  <a:sysClr val="windowText" lastClr="000000"/>
                </a:solidFill>
              </a:rPr>
              <a:t>첫글자를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소문자로 바꾸려면 별도의 문자열 객체를 만들어서 복사해야 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s2 = “h” + s[1] + s[2[ +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s[3]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+ s[4]  </a:t>
            </a:r>
          </a:p>
          <a:p>
            <a:pPr marL="0" algn="l"/>
            <a:r>
              <a:rPr lang="ko-KR" altLang="en-US" sz="1200" dirty="0" err="1">
                <a:solidFill>
                  <a:sysClr val="windowText" lastClr="000000"/>
                </a:solidFill>
              </a:rPr>
              <a:t>여러개의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글자의 경우 실제로 이렇게는 사용하지 않고 다음 페이지의  슬라이딩을 사용합니다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</a:t>
            </a: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l"/>
            <a:r>
              <a:rPr lang="ko-KR" altLang="en-US" sz="1200" b="1" dirty="0"/>
              <a:t>슬라이딩 예</a:t>
            </a:r>
            <a:r>
              <a:rPr lang="en-US" altLang="ko-KR" sz="1200" b="1" dirty="0"/>
              <a:t>) s2 = "h" + s[1:]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</a:p>
          <a:p>
            <a:pPr marL="0" algn="l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279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361636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슬라이딩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슬라이딩은 창문을 열었다 닫았다 </a:t>
            </a:r>
            <a:r>
              <a:rPr lang="ko-KR" altLang="en-US" sz="1200" dirty="0" err="1"/>
              <a:t>하는것처럼</a:t>
            </a:r>
            <a:r>
              <a:rPr lang="ko-KR" altLang="en-US" sz="1200" dirty="0"/>
              <a:t> 보여서 </a:t>
            </a:r>
            <a:r>
              <a:rPr lang="ko-KR" altLang="en-US" sz="1200" dirty="0" err="1"/>
              <a:t>붙인겁니다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인덱싱은 한번에 하나의 글자만 읽을 수 있는데 반해서 슬라이딩은 어디부터 </a:t>
            </a:r>
            <a:r>
              <a:rPr lang="ko-KR" altLang="en-US" sz="1200" dirty="0" err="1"/>
              <a:t>어디까지라고</a:t>
            </a:r>
            <a:r>
              <a:rPr lang="ko-KR" altLang="en-US" sz="1200" dirty="0"/>
              <a:t> 지정을 할 수 있습니다</a:t>
            </a:r>
            <a:r>
              <a:rPr lang="en-US" altLang="ko-KR" sz="1200" dirty="0"/>
              <a:t>. 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 dirty="0"/>
              <a:t>문자열변수</a:t>
            </a:r>
            <a:r>
              <a:rPr lang="en-US" altLang="ko-KR" sz="1200" dirty="0"/>
              <a:t>[</a:t>
            </a:r>
            <a:r>
              <a:rPr lang="ko-KR" altLang="en-US" sz="1200" dirty="0"/>
              <a:t>시작</a:t>
            </a:r>
            <a:r>
              <a:rPr lang="en-US" altLang="ko-KR" sz="1200" dirty="0"/>
              <a:t>:</a:t>
            </a:r>
            <a:r>
              <a:rPr lang="ko-KR" altLang="en-US" sz="1200" dirty="0"/>
              <a:t>종료</a:t>
            </a:r>
            <a:r>
              <a:rPr lang="en-US" altLang="ko-KR" sz="1200" dirty="0"/>
              <a:t>] </a:t>
            </a:r>
            <a:r>
              <a:rPr lang="ko-KR" altLang="en-US" sz="1200" dirty="0"/>
              <a:t>형태로 콜론</a:t>
            </a:r>
            <a:r>
              <a:rPr lang="en-US" altLang="ko-KR" sz="1200" dirty="0"/>
              <a:t>(</a:t>
            </a:r>
            <a:r>
              <a:rPr lang="en-US" altLang="ko-KR" sz="1200" dirty="0">
                <a:sym typeface="Wingdings" panose="05000000000000000000" pitchFamily="2" charset="2"/>
              </a:rPr>
              <a:t>:) </a:t>
            </a:r>
            <a:r>
              <a:rPr lang="ko-KR" altLang="en-US" sz="1200" dirty="0">
                <a:sym typeface="Wingdings" panose="05000000000000000000" pitchFamily="2" charset="2"/>
              </a:rPr>
              <a:t>연산자를 이용해서 시작과 끝을 지정하는데 시작과 콜론만 지정하면 시작위치부터 마지막 문자까지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콜론과 마지막 위치를 지정하면 처음부터 지정한 위치까지 문자열을 추출할 수 있습니다  </a:t>
            </a:r>
            <a:r>
              <a:rPr lang="en-US" altLang="ko-KR" sz="1200" dirty="0"/>
              <a:t> </a:t>
            </a:r>
          </a:p>
          <a:p>
            <a:pPr marL="171450" indent="-171450" algn="l">
              <a:buFontTx/>
              <a:buChar char="-"/>
            </a:pP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AF59B3-32EE-4536-B3B8-D9988B3E2FD9}"/>
              </a:ext>
            </a:extLst>
          </p:cNvPr>
          <p:cNvSpPr/>
          <p:nvPr/>
        </p:nvSpPr>
        <p:spPr bwMode="auto">
          <a:xfrm>
            <a:off x="539552" y="1839037"/>
            <a:ext cx="7416824" cy="1984438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=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“Hello”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print( s[0:5] )        Hello 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print( s[3:] )           Hel  , 0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부터 시작해서 마지막에 지정한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3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번을 제외한 나머지를 추출합니다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 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print( s[:3] )           lo ,  3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번방부터 시작해서 마지막까지 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=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“blue diamond”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s2 = s[0:4]               blue</a:t>
            </a: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s3 = s[5:]                  diamond</a:t>
            </a:r>
          </a:p>
        </p:txBody>
      </p:sp>
    </p:spTree>
    <p:extLst>
      <p:ext uri="{BB962C8B-B14F-4D97-AF65-F5344CB8AC3E}">
        <p14:creationId xmlns:p14="http://schemas.microsoft.com/office/powerpoint/2010/main" val="3936450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81630" cy="487824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인덱싱과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#exam12_5.py</a:t>
            </a:r>
            <a:endParaRPr lang="ko-KR" altLang="en-US" b="1" dirty="0"/>
          </a:p>
          <a:p>
            <a:pPr algn="l"/>
            <a:r>
              <a:rPr lang="en-US" altLang="ko-KR" b="1" dirty="0"/>
              <a:t>str = "Hello Python"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 str[0] ) </a:t>
            </a:r>
          </a:p>
          <a:p>
            <a:pPr algn="l"/>
            <a:r>
              <a:rPr lang="en-US" altLang="ko-KR" b="1" dirty="0"/>
              <a:t>print( str[1] ) </a:t>
            </a:r>
          </a:p>
          <a:p>
            <a:pPr algn="l"/>
            <a:r>
              <a:rPr lang="en-US" altLang="ko-KR" b="1" dirty="0"/>
              <a:t>print( str[2] ) </a:t>
            </a:r>
          </a:p>
          <a:p>
            <a:pPr algn="l"/>
            <a:r>
              <a:rPr lang="en-US" altLang="ko-KR" b="1" dirty="0"/>
              <a:t>print( str[3] ) </a:t>
            </a:r>
          </a:p>
          <a:p>
            <a:pPr algn="l"/>
            <a:r>
              <a:rPr lang="en-US" altLang="ko-KR" b="1" dirty="0"/>
              <a:t>print( str[4]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 str[-1] )</a:t>
            </a:r>
          </a:p>
          <a:p>
            <a:pPr algn="l"/>
            <a:r>
              <a:rPr lang="en-US" altLang="ko-KR" b="1" dirty="0"/>
              <a:t>print( str[-2] )</a:t>
            </a:r>
          </a:p>
          <a:p>
            <a:pPr algn="l"/>
            <a:r>
              <a:rPr lang="en-US" altLang="ko-KR" b="1" dirty="0"/>
              <a:t>print( str[-3]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 str[0:5] ) #0~5</a:t>
            </a:r>
            <a:r>
              <a:rPr lang="ko-KR" altLang="en-US" b="1" dirty="0"/>
              <a:t>번째 문자열 </a:t>
            </a:r>
          </a:p>
          <a:p>
            <a:pPr algn="l"/>
            <a:r>
              <a:rPr lang="en-US" altLang="ko-KR" b="1" dirty="0"/>
              <a:t>print( str[:5] )</a:t>
            </a:r>
          </a:p>
          <a:p>
            <a:pPr algn="l"/>
            <a:r>
              <a:rPr lang="en-US" altLang="ko-KR" b="1" dirty="0"/>
              <a:t>print( str[6:]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인덱싱을 이용한 문자열 뒤집기 </a:t>
            </a:r>
          </a:p>
          <a:p>
            <a:pPr algn="l"/>
            <a:r>
              <a:rPr lang="en-US" altLang="ko-KR" b="1" dirty="0"/>
              <a:t>for </a:t>
            </a:r>
            <a:r>
              <a:rPr lang="en-US" altLang="ko-KR" b="1" dirty="0" err="1"/>
              <a:t>i</a:t>
            </a:r>
            <a:r>
              <a:rPr lang="en-US" altLang="ko-KR" b="1" dirty="0"/>
              <a:t> in range(-1, -(</a:t>
            </a:r>
            <a:r>
              <a:rPr lang="en-US" altLang="ko-KR" b="1" dirty="0" err="1"/>
              <a:t>len</a:t>
            </a:r>
            <a:r>
              <a:rPr lang="en-US" altLang="ko-KR" b="1" dirty="0"/>
              <a:t>(str)+1), -1):</a:t>
            </a:r>
          </a:p>
          <a:p>
            <a:pPr algn="l"/>
            <a:r>
              <a:rPr lang="en-US" altLang="ko-KR" b="1" dirty="0"/>
              <a:t>    print(str[</a:t>
            </a:r>
            <a:r>
              <a:rPr lang="en-US" altLang="ko-KR" b="1" dirty="0" err="1"/>
              <a:t>i</a:t>
            </a:r>
            <a:r>
              <a:rPr lang="en-US" altLang="ko-KR" b="1" dirty="0"/>
              <a:t>], end='')</a:t>
            </a:r>
          </a:p>
          <a:p>
            <a:pPr algn="l"/>
            <a:r>
              <a:rPr lang="en-US" altLang="ko-KR" b="1" dirty="0"/>
              <a:t>print()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 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17</a:t>
            </a:fld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D360F5D-F49F-41D3-B640-C4BBD4840C13}"/>
              </a:ext>
            </a:extLst>
          </p:cNvPr>
          <p:cNvCxnSpPr>
            <a:cxnSpLocks/>
          </p:cNvCxnSpPr>
          <p:nvPr/>
        </p:nvCxnSpPr>
        <p:spPr>
          <a:xfrm flipH="1">
            <a:off x="1115616" y="1265187"/>
            <a:ext cx="2808312" cy="101853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F23F17-5813-40AE-8857-FEC0D535E4C7}"/>
              </a:ext>
            </a:extLst>
          </p:cNvPr>
          <p:cNvSpPr/>
          <p:nvPr/>
        </p:nvSpPr>
        <p:spPr bwMode="auto">
          <a:xfrm>
            <a:off x="4031940" y="1039296"/>
            <a:ext cx="3816424" cy="451782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인덱싱을 </a:t>
            </a:r>
            <a:r>
              <a:rPr lang="en-US" altLang="ko-KR" dirty="0">
                <a:solidFill>
                  <a:sysClr val="windowText" lastClr="000000"/>
                </a:solidFill>
              </a:rPr>
              <a:t>–</a:t>
            </a:r>
            <a:r>
              <a:rPr lang="ko-KR" altLang="en-US" dirty="0">
                <a:solidFill>
                  <a:sysClr val="windowText" lastClr="000000"/>
                </a:solidFill>
              </a:rPr>
              <a:t>를 사용하면 뒤쪽에서부터 시작합니다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05A18C-31B5-49D0-8B9F-069A5CE0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011447"/>
            <a:ext cx="2286000" cy="1987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181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81630" cy="446275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 문자열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인덱싱과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#exam12_6.py</a:t>
            </a:r>
            <a:endParaRPr lang="ko-KR" altLang="en-US" b="1" dirty="0"/>
          </a:p>
          <a:p>
            <a:pPr algn="l"/>
            <a:r>
              <a:rPr lang="en-US" altLang="ko-KR" b="1" dirty="0"/>
              <a:t>print()</a:t>
            </a:r>
          </a:p>
          <a:p>
            <a:pPr algn="l"/>
            <a:r>
              <a:rPr lang="en-US" altLang="ko-KR" b="1" dirty="0"/>
              <a:t>str = "</a:t>
            </a:r>
            <a:r>
              <a:rPr lang="en-US" altLang="ko-KR" b="1" dirty="0" err="1"/>
              <a:t>korea</a:t>
            </a:r>
            <a:r>
              <a:rPr lang="en-US" altLang="ko-KR" b="1" dirty="0"/>
              <a:t>"</a:t>
            </a:r>
          </a:p>
          <a:p>
            <a:pPr algn="l"/>
            <a:r>
              <a:rPr lang="en-US" altLang="ko-KR" b="1" dirty="0"/>
              <a:t>#str[0] ='K' - </a:t>
            </a:r>
            <a:r>
              <a:rPr lang="ko-KR" altLang="en-US" b="1" dirty="0"/>
              <a:t>인덱싱으로 값을 바꿀 수 없다</a:t>
            </a:r>
            <a:r>
              <a:rPr lang="en-US" altLang="ko-KR" b="1" dirty="0"/>
              <a:t>. </a:t>
            </a:r>
            <a:endParaRPr lang="ko-KR" altLang="en-US" b="1" dirty="0"/>
          </a:p>
          <a:p>
            <a:pPr algn="l"/>
            <a:r>
              <a:rPr lang="en-US" altLang="ko-KR" b="1" dirty="0"/>
              <a:t>print(str)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str = 'K' + str[1:]</a:t>
            </a:r>
          </a:p>
          <a:p>
            <a:pPr algn="l"/>
            <a:r>
              <a:rPr lang="en-US" altLang="ko-KR" b="1" dirty="0"/>
              <a:t>print(str)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str = "</a:t>
            </a:r>
            <a:r>
              <a:rPr lang="en-US" altLang="ko-KR" b="1" dirty="0" err="1"/>
              <a:t>pyton</a:t>
            </a:r>
            <a:r>
              <a:rPr lang="en-US" altLang="ko-KR" b="1" dirty="0"/>
              <a:t> programing"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s1 = str[0:3] + "h" + str[3:5]</a:t>
            </a:r>
          </a:p>
          <a:p>
            <a:pPr algn="l"/>
            <a:r>
              <a:rPr lang="en-US" altLang="ko-KR" b="1" dirty="0"/>
              <a:t>s2 = str[6:12] +"m" + str[12:]</a:t>
            </a:r>
          </a:p>
          <a:p>
            <a:pPr algn="l"/>
            <a:r>
              <a:rPr lang="en-US" altLang="ko-KR" b="1" dirty="0"/>
              <a:t>print(s1, s2)</a:t>
            </a:r>
          </a:p>
          <a:p>
            <a:pPr algn="l"/>
            <a:r>
              <a:rPr lang="en-US" altLang="ko-KR" b="1" dirty="0"/>
              <a:t>print()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 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18</a:t>
            </a:fld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D360F5D-F49F-41D3-B640-C4BBD4840C13}"/>
              </a:ext>
            </a:extLst>
          </p:cNvPr>
          <p:cNvCxnSpPr>
            <a:cxnSpLocks/>
          </p:cNvCxnSpPr>
          <p:nvPr/>
        </p:nvCxnSpPr>
        <p:spPr>
          <a:xfrm flipH="1">
            <a:off x="2627784" y="1347614"/>
            <a:ext cx="1404156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F23F17-5813-40AE-8857-FEC0D535E4C7}"/>
              </a:ext>
            </a:extLst>
          </p:cNvPr>
          <p:cNvSpPr/>
          <p:nvPr/>
        </p:nvSpPr>
        <p:spPr bwMode="auto">
          <a:xfrm>
            <a:off x="4031940" y="1039296"/>
            <a:ext cx="3816424" cy="451782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ko-KR" altLang="en-US" b="1" dirty="0"/>
              <a:t>문자열 인덱싱은 데이터를 읽기위한 용도로만 사용된다</a:t>
            </a:r>
            <a:r>
              <a:rPr lang="en-US" altLang="ko-KR" b="1" dirty="0"/>
              <a:t>. </a:t>
            </a:r>
            <a:r>
              <a:rPr lang="ko-KR" altLang="en-US" b="1" dirty="0"/>
              <a:t>에러발생</a:t>
            </a:r>
            <a:r>
              <a:rPr lang="en-US" altLang="ko-KR" b="1" dirty="0"/>
              <a:t> </a:t>
            </a:r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C1A31B-659A-4CF4-B45E-6087D64E90FE}"/>
              </a:ext>
            </a:extLst>
          </p:cNvPr>
          <p:cNvSpPr/>
          <p:nvPr/>
        </p:nvSpPr>
        <p:spPr bwMode="auto">
          <a:xfrm>
            <a:off x="2663788" y="2303798"/>
            <a:ext cx="3816424" cy="451782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ko-KR" altLang="en-US" b="1" dirty="0"/>
              <a:t>문자열 추출과 </a:t>
            </a:r>
            <a:r>
              <a:rPr lang="en-US" altLang="ko-KR" b="1" dirty="0"/>
              <a:t>+</a:t>
            </a:r>
            <a:r>
              <a:rPr lang="ko-KR" altLang="en-US" b="1" dirty="0"/>
              <a:t>연산을 통해 새로운 문자열을 만들어야 한다</a:t>
            </a:r>
            <a:r>
              <a:rPr lang="en-US" altLang="ko-KR" b="1" dirty="0"/>
              <a:t> </a:t>
            </a:r>
            <a:endParaRPr lang="ko-KR" altLang="en-US" b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35E8BE0-0B7F-41D8-BE19-789F1DFB486B}"/>
              </a:ext>
            </a:extLst>
          </p:cNvPr>
          <p:cNvCxnSpPr>
            <a:cxnSpLocks/>
          </p:cNvCxnSpPr>
          <p:nvPr/>
        </p:nvCxnSpPr>
        <p:spPr>
          <a:xfrm flipH="1">
            <a:off x="1925706" y="2529689"/>
            <a:ext cx="593511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9A909DF-79AD-4DA7-827D-E59115BB0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6" y="3032207"/>
            <a:ext cx="1828800" cy="847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638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269303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서식문자열 처리하기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 err="1"/>
              <a:t>출력값이</a:t>
            </a:r>
            <a:r>
              <a:rPr lang="ko-KR" altLang="en-US" sz="1200" dirty="0"/>
              <a:t> 문자와 숫자</a:t>
            </a:r>
            <a:r>
              <a:rPr lang="en-US" altLang="ko-KR" sz="1200" dirty="0"/>
              <a:t>(</a:t>
            </a:r>
            <a:r>
              <a:rPr lang="ko-KR" altLang="en-US" sz="1200" dirty="0"/>
              <a:t>정수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실수등</a:t>
            </a:r>
            <a:r>
              <a:rPr lang="en-US" altLang="ko-KR" sz="1200" dirty="0"/>
              <a:t>) </a:t>
            </a:r>
            <a:r>
              <a:rPr lang="ko-KR" altLang="en-US" sz="1200" dirty="0"/>
              <a:t>그리고 </a:t>
            </a:r>
            <a:r>
              <a:rPr lang="ko-KR" altLang="en-US" sz="1200" dirty="0" err="1"/>
              <a:t>여러개의</a:t>
            </a:r>
            <a:r>
              <a:rPr lang="ko-KR" altLang="en-US" sz="1200" dirty="0"/>
              <a:t> 문자열로 구성되었을 경우 정해진 형태로 출력하고자 </a:t>
            </a:r>
            <a:r>
              <a:rPr lang="ko-KR" altLang="en-US" sz="1200" dirty="0" err="1"/>
              <a:t>하는것을</a:t>
            </a:r>
            <a:r>
              <a:rPr lang="ko-KR" altLang="en-US" sz="1200" dirty="0"/>
              <a:t> 문자열 </a:t>
            </a:r>
            <a:r>
              <a:rPr lang="ko-KR" altLang="en-US" sz="1200" dirty="0" err="1"/>
              <a:t>포매팅이라고</a:t>
            </a:r>
            <a:r>
              <a:rPr lang="ko-KR" altLang="en-US" sz="1200" dirty="0"/>
              <a:t> 합니다</a:t>
            </a:r>
            <a:r>
              <a:rPr lang="en-US" altLang="ko-KR" sz="1200" dirty="0"/>
              <a:t>.  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다음처럼 두가지 방식을 지원하고 있습니다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478036-9FB3-457A-8A7E-D05C851F234B}"/>
              </a:ext>
            </a:extLst>
          </p:cNvPr>
          <p:cNvSpPr/>
          <p:nvPr/>
        </p:nvSpPr>
        <p:spPr bwMode="auto">
          <a:xfrm>
            <a:off x="482278" y="1635646"/>
            <a:ext cx="7416824" cy="2376264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r>
              <a:rPr lang="ko-KR" altLang="en-US" sz="1200" dirty="0">
                <a:solidFill>
                  <a:sysClr val="windowText" lastClr="000000"/>
                </a:solidFill>
              </a:rPr>
              <a:t>방법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1)  s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=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“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가로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%d 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세로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% d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인 사각형의 면적은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%d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입니다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” % ( width, height, width*height)</a:t>
            </a: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%d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서식문자열입니다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중간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삽입할 데이터가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있을때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위치에 놓은 값들의 형태에 따라 다른 문자를 씁니다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%d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정수를 그 자리에 놓겠다는 의미입니다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% (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튜플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형태로 값을 전달하면 문자열에 있는 기호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%d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들에 괄호안의 값들이 차례로 전달됩니다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%d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말고도 사용되는 서식문자열은 다음 페이지에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방법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  s = “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{}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{}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사각형의 면적은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{}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.”.format</a:t>
            </a:r>
            <a:r>
              <a:rPr lang="en-US" altLang="ko-KR" sz="1200" b="1" dirty="0">
                <a:solidFill>
                  <a:sysClr val="windowText" lastClr="000000"/>
                </a:solidFill>
              </a:rPr>
              <a:t>( width, height, width*height)  </a:t>
            </a: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ysClr val="windowText" lastClr="000000"/>
                </a:solidFill>
              </a:rPr>
              <a:t>{}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위치에 값들이 투입됩니다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 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839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224675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포매팅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아래 표는 문자열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포매팅에서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자주 사용하는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형시입니다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20</a:t>
            </a:fld>
            <a:endParaRPr lang="ko-KR" altLang="en-US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0B8DBD40-9F26-43FD-8B1C-A4C882567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419892"/>
              </p:ext>
            </p:extLst>
          </p:nvPr>
        </p:nvGraphicFramePr>
        <p:xfrm>
          <a:off x="467544" y="1275606"/>
          <a:ext cx="46085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991">
                  <a:extLst>
                    <a:ext uri="{9D8B030D-6E8A-4147-A177-3AD203B41FA5}">
                      <a16:colId xmlns:a16="http://schemas.microsoft.com/office/drawing/2014/main" val="1908787356"/>
                    </a:ext>
                  </a:extLst>
                </a:gridCol>
                <a:gridCol w="3646521">
                  <a:extLst>
                    <a:ext uri="{9D8B030D-6E8A-4147-A177-3AD203B41FA5}">
                      <a16:colId xmlns:a16="http://schemas.microsoft.com/office/drawing/2014/main" val="2640164554"/>
                    </a:ext>
                  </a:extLst>
                </a:gridCol>
              </a:tblGrid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81470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33943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%f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실수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603008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문자열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464254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%c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한문자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961243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진수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150156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16</a:t>
                      </a:r>
                      <a:r>
                        <a:rPr lang="ko-KR" altLang="en-US" sz="1200" dirty="0"/>
                        <a:t>진수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182961"/>
                  </a:ext>
                </a:extLst>
              </a:tr>
              <a:tr h="27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%</a:t>
                      </a:r>
                      <a:r>
                        <a:rPr lang="ko-KR" altLang="en-US" sz="1200" dirty="0"/>
                        <a:t>기호 자체를 출력하고자 </a:t>
                      </a:r>
                      <a:r>
                        <a:rPr lang="ko-KR" altLang="en-US" sz="1200" dirty="0" err="1"/>
                        <a:t>할때</a:t>
                      </a:r>
                      <a:r>
                        <a:rPr lang="ko-KR" altLang="en-US" sz="12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70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119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5257694" cy="363175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b="1" dirty="0"/>
              <a:t>문자열 </a:t>
            </a:r>
            <a:r>
              <a:rPr lang="ko-KR" altLang="en-US" sz="1400" b="1" dirty="0" err="1"/>
              <a:t>포매팅</a:t>
            </a:r>
            <a:endParaRPr lang="ko-KR" altLang="en-US" b="1" dirty="0"/>
          </a:p>
          <a:p>
            <a:pPr algn="l"/>
            <a:br>
              <a:rPr lang="ko-KR" altLang="en-US" b="1" dirty="0"/>
            </a:br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정수는 </a:t>
            </a:r>
            <a:r>
              <a:rPr lang="en-US" altLang="ko-KR" b="1" dirty="0"/>
              <a:t>d </a:t>
            </a:r>
          </a:p>
          <a:p>
            <a:pPr algn="l"/>
            <a:r>
              <a:rPr lang="en-US" altLang="ko-KR" b="1" dirty="0"/>
              <a:t>s = "</a:t>
            </a:r>
            <a:r>
              <a:rPr lang="ko-KR" altLang="en-US" b="1" dirty="0"/>
              <a:t>결과는 </a:t>
            </a:r>
            <a:r>
              <a:rPr lang="en-US" altLang="ko-KR" b="1" dirty="0"/>
              <a:t>%d </a:t>
            </a:r>
            <a:r>
              <a:rPr lang="ko-KR" altLang="en-US" b="1" dirty="0"/>
              <a:t>입니다</a:t>
            </a:r>
            <a:r>
              <a:rPr lang="en-US" altLang="ko-KR" b="1" dirty="0"/>
              <a:t>."</a:t>
            </a:r>
            <a:r>
              <a:rPr lang="ko-KR" altLang="en-US" b="1" dirty="0"/>
              <a:t> </a:t>
            </a:r>
            <a:r>
              <a:rPr lang="en-US" altLang="ko-KR" b="1" dirty="0"/>
              <a:t>% 10</a:t>
            </a:r>
            <a:endParaRPr lang="ko-KR" altLang="en-US" b="1" dirty="0"/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 = "</a:t>
            </a:r>
            <a:r>
              <a:rPr lang="ko-KR" altLang="en-US" b="1" dirty="0"/>
              <a:t>안녕하세요 </a:t>
            </a:r>
            <a:r>
              <a:rPr lang="en-US" altLang="ko-KR" b="1" dirty="0"/>
              <a:t>%s</a:t>
            </a:r>
            <a:r>
              <a:rPr lang="ko-KR" altLang="en-US" b="1" dirty="0"/>
              <a:t>님</a:t>
            </a:r>
            <a:r>
              <a:rPr lang="en-US" altLang="ko-KR" b="1" dirty="0"/>
              <a:t>"</a:t>
            </a:r>
            <a:r>
              <a:rPr lang="ko-KR" altLang="en-US" b="1" dirty="0"/>
              <a:t> </a:t>
            </a:r>
            <a:r>
              <a:rPr lang="en-US" altLang="ko-KR" b="1" dirty="0"/>
              <a:t>% "</a:t>
            </a:r>
            <a:r>
              <a:rPr lang="ko-KR" altLang="en-US" b="1" dirty="0"/>
              <a:t>홍길동</a:t>
            </a:r>
            <a:r>
              <a:rPr lang="en-US" altLang="ko-KR" b="1" dirty="0"/>
              <a:t>"</a:t>
            </a:r>
            <a:endParaRPr lang="ko-KR" altLang="en-US" b="1" dirty="0"/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 err="1"/>
              <a:t>여러개</a:t>
            </a:r>
            <a:r>
              <a:rPr lang="ko-KR" altLang="en-US" b="1" dirty="0"/>
              <a:t> </a:t>
            </a:r>
          </a:p>
          <a:p>
            <a:pPr algn="l"/>
            <a:r>
              <a:rPr lang="en-US" altLang="ko-KR" b="1" dirty="0"/>
              <a:t>s = "%s </a:t>
            </a:r>
            <a:r>
              <a:rPr lang="ko-KR" altLang="en-US" b="1" dirty="0"/>
              <a:t>님의 주급은 </a:t>
            </a:r>
            <a:r>
              <a:rPr lang="en-US" altLang="ko-KR" b="1" dirty="0"/>
              <a:t>%d </a:t>
            </a:r>
            <a:r>
              <a:rPr lang="ko-KR" altLang="en-US" b="1" dirty="0"/>
              <a:t>입니다</a:t>
            </a:r>
            <a:r>
              <a:rPr lang="en-US" altLang="ko-KR" b="1" dirty="0"/>
              <a:t>."</a:t>
            </a:r>
            <a:r>
              <a:rPr lang="ko-KR" altLang="en-US" b="1" dirty="0"/>
              <a:t> </a:t>
            </a:r>
            <a:r>
              <a:rPr lang="en-US" altLang="ko-KR" b="1" dirty="0"/>
              <a:t>% ("</a:t>
            </a:r>
            <a:r>
              <a:rPr lang="ko-KR" altLang="en-US" b="1" dirty="0"/>
              <a:t>홍길동</a:t>
            </a:r>
            <a:r>
              <a:rPr lang="en-US" altLang="ko-KR" b="1" dirty="0"/>
              <a:t>", 500000)</a:t>
            </a:r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실수는 </a:t>
            </a:r>
            <a:r>
              <a:rPr lang="en-US" altLang="ko-KR" b="1" dirty="0"/>
              <a:t>f</a:t>
            </a:r>
            <a:r>
              <a:rPr lang="ko-KR" altLang="en-US" b="1" dirty="0"/>
              <a:t>를 사용한다 </a:t>
            </a:r>
          </a:p>
          <a:p>
            <a:pPr algn="l"/>
            <a:r>
              <a:rPr lang="en-US" altLang="ko-KR" b="1" dirty="0"/>
              <a:t>print( "%f  X %f = %f" % (2.4, 3.5, 2.4*3.5))</a:t>
            </a:r>
          </a:p>
          <a:p>
            <a:pPr algn="l"/>
            <a:r>
              <a:rPr lang="en-US" altLang="ko-KR" b="1" dirty="0"/>
              <a:t>print( "%7.2f  X %7.2f = %7.2f" % (2.4, 3.5, 2.4*3.5))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현재 목표달성율은 </a:t>
            </a:r>
            <a:r>
              <a:rPr lang="en-US" altLang="ko-KR" b="1" dirty="0"/>
              <a:t>%d%% </a:t>
            </a:r>
            <a:r>
              <a:rPr lang="ko-KR" altLang="en-US" b="1" dirty="0"/>
              <a:t>입니다</a:t>
            </a:r>
            <a:r>
              <a:rPr lang="en-US" altLang="ko-KR" b="1" dirty="0"/>
              <a:t>."</a:t>
            </a:r>
            <a:r>
              <a:rPr lang="ko-KR" altLang="en-US" b="1" dirty="0"/>
              <a:t> </a:t>
            </a:r>
            <a:r>
              <a:rPr lang="en-US" altLang="ko-KR" b="1" dirty="0"/>
              <a:t>% 50)</a:t>
            </a:r>
          </a:p>
          <a:p>
            <a:pPr algn="l"/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정렬 </a:t>
            </a:r>
          </a:p>
          <a:p>
            <a:pPr algn="l"/>
            <a:r>
              <a:rPr lang="en-US" altLang="ko-KR" b="1" dirty="0"/>
              <a:t>print("%5d*"</a:t>
            </a:r>
            <a:r>
              <a:rPr lang="ko-KR" altLang="en-US" b="1" dirty="0"/>
              <a:t>  </a:t>
            </a:r>
            <a:r>
              <a:rPr lang="en-US" altLang="ko-KR" b="1" dirty="0"/>
              <a:t>% 12)  #5</a:t>
            </a:r>
            <a:r>
              <a:rPr lang="ko-KR" altLang="en-US" b="1" dirty="0"/>
              <a:t>자리 확보 후 숫자를 오른쪽부터 채워서 출력한다 </a:t>
            </a:r>
          </a:p>
          <a:p>
            <a:pPr algn="l"/>
            <a:r>
              <a:rPr lang="en-US" altLang="ko-KR" b="1" dirty="0"/>
              <a:t>print("%-5d*"</a:t>
            </a:r>
            <a:r>
              <a:rPr lang="ko-KR" altLang="en-US" b="1" dirty="0"/>
              <a:t> </a:t>
            </a:r>
            <a:r>
              <a:rPr lang="en-US" altLang="ko-KR" b="1" dirty="0"/>
              <a:t>% 12)  #5</a:t>
            </a:r>
            <a:r>
              <a:rPr lang="ko-KR" altLang="en-US" b="1" dirty="0"/>
              <a:t>자리 확보 후 숫자를 왼쪽부터 채워서 출력한다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727176" y="2571750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21</a:t>
            </a:fld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D360F5D-F49F-41D3-B640-C4BBD4840C13}"/>
              </a:ext>
            </a:extLst>
          </p:cNvPr>
          <p:cNvCxnSpPr/>
          <p:nvPr/>
        </p:nvCxnSpPr>
        <p:spPr>
          <a:xfrm flipH="1">
            <a:off x="2051720" y="1275606"/>
            <a:ext cx="11521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F23F17-5813-40AE-8857-FEC0D535E4C7}"/>
              </a:ext>
            </a:extLst>
          </p:cNvPr>
          <p:cNvSpPr/>
          <p:nvPr/>
        </p:nvSpPr>
        <p:spPr bwMode="auto">
          <a:xfrm>
            <a:off x="3347864" y="1014003"/>
            <a:ext cx="3816424" cy="523205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문자열 중간에 값을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끼워넣을</a:t>
            </a:r>
            <a:r>
              <a:rPr lang="ko-KR" altLang="en-US" dirty="0">
                <a:solidFill>
                  <a:sysClr val="windowText" lastClr="000000"/>
                </a:solidFill>
              </a:rPr>
              <a:t> 위치에 </a:t>
            </a:r>
            <a:r>
              <a:rPr lang="en-US" altLang="ko-KR" dirty="0">
                <a:solidFill>
                  <a:sysClr val="windowText" lastClr="000000"/>
                </a:solidFill>
              </a:rPr>
              <a:t>%d</a:t>
            </a:r>
            <a:r>
              <a:rPr lang="ko-KR" altLang="en-US" dirty="0">
                <a:solidFill>
                  <a:sysClr val="windowText" lastClr="000000"/>
                </a:solidFill>
              </a:rPr>
              <a:t>를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넣어놓고</a:t>
            </a:r>
            <a:r>
              <a:rPr lang="ko-KR" altLang="en-US" dirty="0">
                <a:solidFill>
                  <a:sysClr val="windowText" lastClr="000000"/>
                </a:solidFill>
              </a:rPr>
              <a:t> 문자열 뒤에 </a:t>
            </a:r>
            <a:r>
              <a:rPr lang="en-US" altLang="ko-KR" dirty="0">
                <a:solidFill>
                  <a:sysClr val="windowText" lastClr="000000"/>
                </a:solidFill>
              </a:rPr>
              <a:t>%</a:t>
            </a:r>
            <a:r>
              <a:rPr lang="ko-KR" altLang="en-US" dirty="0">
                <a:solidFill>
                  <a:sysClr val="windowText" lastClr="000000"/>
                </a:solidFill>
              </a:rPr>
              <a:t>기호 그리고 데이터를 주면 </a:t>
            </a:r>
            <a:r>
              <a:rPr lang="en-US" altLang="ko-KR" dirty="0">
                <a:solidFill>
                  <a:sysClr val="windowText" lastClr="000000"/>
                </a:solidFill>
              </a:rPr>
              <a:t>%d </a:t>
            </a:r>
            <a:r>
              <a:rPr lang="ko-KR" altLang="en-US" dirty="0">
                <a:solidFill>
                  <a:sysClr val="windowText" lastClr="000000"/>
                </a:solidFill>
              </a:rPr>
              <a:t>대신에 데이터가 그 위치에 들어갑니다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%s</a:t>
            </a:r>
            <a:r>
              <a:rPr lang="ko-KR" altLang="en-US" dirty="0">
                <a:solidFill>
                  <a:sysClr val="windowText" lastClr="000000"/>
                </a:solidFill>
              </a:rPr>
              <a:t>는 데이터가 문자열의 경우입니다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B09058-08E5-4194-BD80-5AC1F02CC4CC}"/>
              </a:ext>
            </a:extLst>
          </p:cNvPr>
          <p:cNvSpPr/>
          <p:nvPr/>
        </p:nvSpPr>
        <p:spPr bwMode="auto">
          <a:xfrm>
            <a:off x="3851920" y="2016059"/>
            <a:ext cx="3816424" cy="523205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 err="1">
                <a:solidFill>
                  <a:sysClr val="windowText" lastClr="000000"/>
                </a:solidFill>
              </a:rPr>
              <a:t>여러개의</a:t>
            </a:r>
            <a:r>
              <a:rPr lang="ko-KR" altLang="en-US" dirty="0">
                <a:solidFill>
                  <a:sysClr val="windowText" lastClr="000000"/>
                </a:solidFill>
              </a:rPr>
              <a:t> 데이터를 문자열 중간에 넣으려면 </a:t>
            </a:r>
            <a:r>
              <a:rPr lang="en-US" altLang="ko-KR" dirty="0">
                <a:solidFill>
                  <a:sysClr val="windowText" lastClr="000000"/>
                </a:solidFill>
              </a:rPr>
              <a:t>%</a:t>
            </a:r>
            <a:r>
              <a:rPr lang="ko-KR" altLang="en-US" dirty="0">
                <a:solidFill>
                  <a:sysClr val="windowText" lastClr="000000"/>
                </a:solidFill>
              </a:rPr>
              <a:t>뒤에 데이터를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튜플</a:t>
            </a:r>
            <a:r>
              <a:rPr lang="ko-KR" altLang="en-US" dirty="0">
                <a:solidFill>
                  <a:sysClr val="windowText" lastClr="000000"/>
                </a:solidFill>
              </a:rPr>
              <a:t> 형식으로 전달하면 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튜플은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여러개의</a:t>
            </a:r>
            <a:r>
              <a:rPr lang="ko-KR" altLang="en-US" dirty="0">
                <a:solidFill>
                  <a:sysClr val="windowText" lastClr="000000"/>
                </a:solidFill>
              </a:rPr>
              <a:t> 데이터를 하나로 묶어주는 타입인데 반드시 괄호를 해야 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95E737D-C6FB-4F51-8C7C-B793BBB26772}"/>
              </a:ext>
            </a:extLst>
          </p:cNvPr>
          <p:cNvCxnSpPr/>
          <p:nvPr/>
        </p:nvCxnSpPr>
        <p:spPr>
          <a:xfrm flipH="1">
            <a:off x="3203848" y="2283718"/>
            <a:ext cx="504056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2FC8E5D-E545-4AA0-9497-46073060BA2F}"/>
              </a:ext>
            </a:extLst>
          </p:cNvPr>
          <p:cNvCxnSpPr/>
          <p:nvPr/>
        </p:nvCxnSpPr>
        <p:spPr>
          <a:xfrm flipH="1">
            <a:off x="3203848" y="3075806"/>
            <a:ext cx="504056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33EDD35-4E05-4D8A-B3B9-6B50B4A2E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744867"/>
            <a:ext cx="2088232" cy="1123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6384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601510" cy="315470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b="1" dirty="0"/>
              <a:t>문자열  </a:t>
            </a:r>
            <a:r>
              <a:rPr lang="ko-KR" altLang="en-US" sz="1400" b="1" dirty="0" err="1"/>
              <a:t>포매팅</a:t>
            </a:r>
            <a:r>
              <a:rPr lang="ko-KR" altLang="en-US" sz="1400" b="1" dirty="0"/>
              <a:t>  </a:t>
            </a:r>
          </a:p>
          <a:p>
            <a:pPr algn="l"/>
            <a:r>
              <a:rPr lang="en-US" altLang="ko-KR" b="1" dirty="0"/>
              <a:t>#exam12_8.py</a:t>
            </a:r>
          </a:p>
          <a:p>
            <a:pPr algn="l"/>
            <a:endParaRPr lang="ko-KR" altLang="en-US" b="1" dirty="0"/>
          </a:p>
          <a:p>
            <a:pPr algn="l"/>
            <a:r>
              <a:rPr lang="en-US" altLang="ko-KR" b="1" dirty="0"/>
              <a:t>print("{} + {} = {}".format(3,4,3+4))</a:t>
            </a:r>
          </a:p>
          <a:p>
            <a:pPr algn="l"/>
            <a:r>
              <a:rPr lang="en-US" altLang="ko-KR" b="1" dirty="0"/>
              <a:t>print("{1} + {0} = {2}".format(3,4,3+4))</a:t>
            </a:r>
          </a:p>
          <a:p>
            <a:pPr algn="l"/>
            <a:r>
              <a:rPr lang="en-US" altLang="ko-KR" b="1" dirty="0"/>
              <a:t>print("{:.2f} X {:.2f} = {:.2f}".format(2.4, 3.5, 2.4*3.5))</a:t>
            </a:r>
          </a:p>
          <a:p>
            <a:pPr algn="l"/>
            <a:r>
              <a:rPr lang="en-US" altLang="ko-KR" b="1" dirty="0"/>
              <a:t>print("{} is {}".format("flower", "beautiful"))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print("{:&lt;5d}*".format(12))</a:t>
            </a:r>
          </a:p>
          <a:p>
            <a:pPr algn="l"/>
            <a:r>
              <a:rPr lang="en-US" altLang="ko-KR" b="1" dirty="0"/>
              <a:t>print("{:&gt;5d}*".format(12))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for </a:t>
            </a:r>
            <a:r>
              <a:rPr lang="en-US" altLang="ko-KR" b="1" dirty="0" err="1"/>
              <a:t>i</a:t>
            </a:r>
            <a:r>
              <a:rPr lang="en-US" altLang="ko-KR" b="1" dirty="0"/>
              <a:t> in range(1,6):</a:t>
            </a:r>
          </a:p>
          <a:p>
            <a:pPr algn="l"/>
            <a:r>
              <a:rPr lang="en-US" altLang="ko-KR" b="1" dirty="0"/>
              <a:t>    print("{:04d}".format(</a:t>
            </a:r>
            <a:r>
              <a:rPr lang="en-US" altLang="ko-KR" b="1" dirty="0" err="1"/>
              <a:t>i</a:t>
            </a:r>
            <a:r>
              <a:rPr lang="en-US" altLang="ko-KR" b="1" dirty="0"/>
              <a:t>))</a:t>
            </a:r>
          </a:p>
          <a:p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727176" y="2571750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F23F17-5813-40AE-8857-FEC0D535E4C7}"/>
              </a:ext>
            </a:extLst>
          </p:cNvPr>
          <p:cNvSpPr/>
          <p:nvPr/>
        </p:nvSpPr>
        <p:spPr bwMode="auto">
          <a:xfrm>
            <a:off x="3420474" y="391776"/>
            <a:ext cx="3816424" cy="2487475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“ “.format()</a:t>
            </a:r>
            <a:r>
              <a:rPr lang="ko-KR" altLang="en-US" dirty="0">
                <a:solidFill>
                  <a:sysClr val="windowText" lastClr="000000"/>
                </a:solidFill>
              </a:rPr>
              <a:t> 함수는 문자열에 여러가지 형태의 데이터를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끼워넣어</a:t>
            </a:r>
            <a:r>
              <a:rPr lang="ko-KR" altLang="en-US" dirty="0">
                <a:solidFill>
                  <a:sysClr val="windowText" lastClr="000000"/>
                </a:solidFill>
              </a:rPr>
              <a:t> 하나의 문자열을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만들때</a:t>
            </a:r>
            <a:r>
              <a:rPr lang="ko-KR" altLang="en-US" dirty="0">
                <a:solidFill>
                  <a:sysClr val="windowText" lastClr="000000"/>
                </a:solidFill>
              </a:rPr>
              <a:t> 사용합니다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“ {0} {1} {2}”.format(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3,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4,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5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)  </a:t>
            </a:r>
            <a:r>
              <a:rPr lang="ko-KR" altLang="en-US" dirty="0">
                <a:solidFill>
                  <a:sysClr val="windowText" lastClr="000000"/>
                </a:solidFill>
              </a:rPr>
              <a:t>형태로 기술한다</a:t>
            </a:r>
            <a:r>
              <a:rPr lang="en-US" altLang="ko-KR" dirty="0">
                <a:solidFill>
                  <a:sysClr val="windowText" lastClr="000000"/>
                </a:solidFill>
              </a:rPr>
              <a:t>. {} </a:t>
            </a:r>
            <a:r>
              <a:rPr lang="ko-KR" altLang="en-US" dirty="0">
                <a:solidFill>
                  <a:sysClr val="windowText" lastClr="000000"/>
                </a:solidFill>
              </a:rPr>
              <a:t>기호안에 값이 들어갑니다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{} </a:t>
            </a:r>
            <a:r>
              <a:rPr lang="ko-KR" altLang="en-US" dirty="0">
                <a:solidFill>
                  <a:sysClr val="windowText" lastClr="000000"/>
                </a:solidFill>
              </a:rPr>
              <a:t>개수만큼 </a:t>
            </a:r>
            <a:r>
              <a:rPr lang="en-US" altLang="ko-KR" dirty="0">
                <a:solidFill>
                  <a:sysClr val="windowText" lastClr="000000"/>
                </a:solidFill>
              </a:rPr>
              <a:t>format</a:t>
            </a:r>
            <a:r>
              <a:rPr lang="ko-KR" altLang="en-US" dirty="0">
                <a:solidFill>
                  <a:sysClr val="windowText" lastClr="000000"/>
                </a:solidFill>
              </a:rPr>
              <a:t>함수에 값을 전달해야 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{0} {2} {1} </a:t>
            </a:r>
            <a:r>
              <a:rPr lang="ko-KR" altLang="en-US" dirty="0">
                <a:solidFill>
                  <a:sysClr val="windowText" lastClr="000000"/>
                </a:solidFill>
              </a:rPr>
              <a:t>식으로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숫자을</a:t>
            </a:r>
            <a:r>
              <a:rPr lang="ko-KR" altLang="en-US" dirty="0">
                <a:solidFill>
                  <a:sysClr val="windowText" lastClr="000000"/>
                </a:solidFill>
              </a:rPr>
              <a:t> 지정해주면 전달해주는 값의 순서가 맞추어서 차례대로 전달됩니다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>
                <a:solidFill>
                  <a:sysClr val="windowText" lastClr="000000"/>
                </a:solidFill>
              </a:rPr>
              <a:t>  </a:t>
            </a:r>
            <a:r>
              <a:rPr lang="en-US" altLang="ko-KR" dirty="0">
                <a:solidFill>
                  <a:sysClr val="windowText" lastClr="000000"/>
                </a:solidFill>
              </a:rPr>
              <a:t>0</a:t>
            </a:r>
            <a:r>
              <a:rPr lang="ko-KR" altLang="en-US" dirty="0">
                <a:solidFill>
                  <a:sysClr val="windowText" lastClr="000000"/>
                </a:solidFill>
              </a:rPr>
              <a:t>의 자리에는 첫번째로 전달된 </a:t>
            </a:r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r>
              <a:rPr lang="ko-KR" altLang="en-US" dirty="0">
                <a:solidFill>
                  <a:sysClr val="windowText" lastClr="000000"/>
                </a:solidFill>
              </a:rPr>
              <a:t>이 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에는 세번째 로 전달된 인자 </a:t>
            </a:r>
            <a:r>
              <a:rPr lang="en-US" altLang="ko-KR" dirty="0">
                <a:solidFill>
                  <a:sysClr val="windowText" lastClr="000000"/>
                </a:solidFill>
              </a:rPr>
              <a:t>5</a:t>
            </a:r>
            <a:r>
              <a:rPr lang="ko-KR" altLang="en-US" dirty="0">
                <a:solidFill>
                  <a:sysClr val="windowText" lastClr="000000"/>
                </a:solidFill>
              </a:rPr>
              <a:t>가 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r>
              <a:rPr lang="ko-KR" altLang="en-US" dirty="0">
                <a:solidFill>
                  <a:sysClr val="windowText" lastClr="000000"/>
                </a:solidFill>
              </a:rPr>
              <a:t>의 자리에는 두번째로 전달된 값 </a:t>
            </a:r>
            <a:r>
              <a:rPr lang="en-US" altLang="ko-KR" dirty="0">
                <a:solidFill>
                  <a:sysClr val="windowText" lastClr="000000"/>
                </a:solidFill>
              </a:rPr>
              <a:t>4</a:t>
            </a:r>
            <a:r>
              <a:rPr lang="ko-KR" altLang="en-US" dirty="0">
                <a:solidFill>
                  <a:sysClr val="windowText" lastClr="000000"/>
                </a:solidFill>
              </a:rPr>
              <a:t>가 출력됩니다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순서대로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전달될때는</a:t>
            </a:r>
            <a:r>
              <a:rPr lang="ko-KR" altLang="en-US" dirty="0">
                <a:solidFill>
                  <a:sysClr val="windowText" lastClr="000000"/>
                </a:solidFill>
              </a:rPr>
              <a:t> 굳이 숫자를 써주지 않으면 차례대로 전달됩니다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endParaRPr lang="en-US" altLang="ko-KR" dirty="0">
              <a:solidFill>
                <a:sysClr val="windowText" lastClr="000000"/>
              </a:solidFill>
            </a:endParaRPr>
          </a:p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자릿수 지정은 </a:t>
            </a:r>
            <a:r>
              <a:rPr lang="en-US" altLang="ko-KR" dirty="0">
                <a:solidFill>
                  <a:sysClr val="windowText" lastClr="000000"/>
                </a:solidFill>
              </a:rPr>
              <a:t>{ :4d } </a:t>
            </a:r>
            <a:r>
              <a:rPr lang="ko-KR" altLang="en-US" dirty="0">
                <a:solidFill>
                  <a:sysClr val="windowText" lastClr="000000"/>
                </a:solidFill>
              </a:rPr>
              <a:t>형태로 기술해줍니다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:</a:t>
            </a:r>
            <a:r>
              <a:rPr lang="ko-KR" altLang="en-US" dirty="0">
                <a:solidFill>
                  <a:sysClr val="windowText" lastClr="000000"/>
                </a:solidFill>
              </a:rPr>
              <a:t>뒤에 </a:t>
            </a:r>
            <a:r>
              <a:rPr lang="en-US" altLang="ko-KR" dirty="0">
                <a:solidFill>
                  <a:sysClr val="windowText" lastClr="000000"/>
                </a:solidFill>
              </a:rPr>
              <a:t>4d</a:t>
            </a:r>
            <a:r>
              <a:rPr lang="ko-KR" altLang="en-US" dirty="0">
                <a:solidFill>
                  <a:sysClr val="windowText" lastClr="000000"/>
                </a:solidFill>
              </a:rPr>
              <a:t>라고 쓰면 정수 들어갈 자리 </a:t>
            </a:r>
            <a:r>
              <a:rPr lang="en-US" altLang="ko-KR" dirty="0">
                <a:solidFill>
                  <a:sysClr val="windowText" lastClr="000000"/>
                </a:solidFill>
              </a:rPr>
              <a:t>4</a:t>
            </a:r>
            <a:r>
              <a:rPr lang="ko-KR" altLang="en-US" dirty="0">
                <a:solidFill>
                  <a:sysClr val="windowText" lastClr="000000"/>
                </a:solidFill>
              </a:rPr>
              <a:t>자리를 확보하고 오른쪽 끝에서부터 채워옵니다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en-US" dirty="0">
                <a:solidFill>
                  <a:sysClr val="windowText" lastClr="000000"/>
                </a:solidFill>
              </a:rPr>
              <a:t>만일 왼쪽 정렬을 하려면 </a:t>
            </a:r>
            <a:r>
              <a:rPr lang="en-US" altLang="ko-KR" dirty="0">
                <a:solidFill>
                  <a:sysClr val="windowText" lastClr="000000"/>
                </a:solidFill>
              </a:rPr>
              <a:t>{:&gt;4d} </a:t>
            </a:r>
            <a:r>
              <a:rPr lang="ko-KR" altLang="en-US" dirty="0">
                <a:solidFill>
                  <a:sysClr val="windowText" lastClr="000000"/>
                </a:solidFill>
              </a:rPr>
              <a:t>형태로 기술하면 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endParaRPr lang="en-US" altLang="ko-KR" dirty="0">
              <a:solidFill>
                <a:sysClr val="windowText" lastClr="000000"/>
              </a:solidFill>
            </a:endParaRPr>
          </a:p>
          <a:p>
            <a:pPr marL="0" algn="l"/>
            <a:endParaRPr lang="en-US" altLang="ko-KR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{:04d}   </a:t>
            </a:r>
            <a:r>
              <a:rPr lang="ko-KR" altLang="en-US" dirty="0">
                <a:solidFill>
                  <a:sysClr val="windowText" lastClr="000000"/>
                </a:solidFill>
              </a:rPr>
              <a:t> 는 자릿수를 </a:t>
            </a:r>
            <a:r>
              <a:rPr lang="en-US" altLang="ko-KR" dirty="0">
                <a:solidFill>
                  <a:sysClr val="windowText" lastClr="000000"/>
                </a:solidFill>
              </a:rPr>
              <a:t>4</a:t>
            </a:r>
            <a:r>
              <a:rPr lang="ko-KR" altLang="en-US" dirty="0">
                <a:solidFill>
                  <a:sysClr val="windowText" lastClr="000000"/>
                </a:solidFill>
              </a:rPr>
              <a:t>자리로 맞추고 오른쪽부터 숫자를 채우는데 빈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공간으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0</a:t>
            </a:r>
            <a:r>
              <a:rPr lang="ko-KR" altLang="en-US" dirty="0">
                <a:solidFill>
                  <a:sysClr val="windowText" lastClr="000000"/>
                </a:solidFill>
              </a:rPr>
              <a:t>으로 채우라는 의미입니다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210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503294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46224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함수들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4126430" cy="37778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문자열의 결합과 분리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 찾기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대소문자변경하기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2106649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714078" cy="353942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위치 찾기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문자열에서 특정 문자열이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몇번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존재하는지 찾기 위해서는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count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사용합니다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count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찾는 문자열이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몇번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등장했는지를 반환합니다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문자열에서 특정 문자열이 어디에 존재하지는 찾기 위해서는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index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index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문자열의 위치를 반환하는데 만일 찾는 문자열이 없을 경우에는 예외를 반환하므로 보통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count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연산자를 활용해서 먼저 데이터가 있는지 확인하고 나서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index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사용해야 합니다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3B2DA6-8B0B-462C-8510-6E6A7594A9FA}"/>
              </a:ext>
            </a:extLst>
          </p:cNvPr>
          <p:cNvSpPr/>
          <p:nvPr/>
        </p:nvSpPr>
        <p:spPr bwMode="auto">
          <a:xfrm>
            <a:off x="539552" y="2139702"/>
            <a:ext cx="4393598" cy="144016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s="I like star, red star </a:t>
            </a:r>
            <a:r>
              <a:rPr lang="en-US" altLang="ko-KR" sz="1200" b="1" dirty="0" err="1"/>
              <a:t>yello</a:t>
            </a:r>
            <a:r>
              <a:rPr lang="en-US" altLang="ko-KR" sz="1200" b="1" dirty="0"/>
              <a:t> star, blue star“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print( "star </a:t>
            </a:r>
            <a:r>
              <a:rPr lang="ko-KR" altLang="en-US" sz="1200" b="1" dirty="0"/>
              <a:t>개수 </a:t>
            </a:r>
            <a:r>
              <a:rPr lang="en-US" altLang="ko-KR" sz="1200" b="1" dirty="0"/>
              <a:t>: ", </a:t>
            </a:r>
            <a:r>
              <a:rPr lang="en-US" altLang="ko-KR" sz="1200" b="1" dirty="0" err="1"/>
              <a:t>s.count</a:t>
            </a:r>
            <a:r>
              <a:rPr lang="en-US" altLang="ko-KR" sz="1200" b="1" dirty="0"/>
              <a:t>("star"))</a:t>
            </a:r>
          </a:p>
          <a:p>
            <a:pPr algn="l"/>
            <a:r>
              <a:rPr lang="en-US" altLang="ko-KR" sz="1200" b="1" dirty="0"/>
              <a:t>print( "star </a:t>
            </a:r>
            <a:r>
              <a:rPr lang="ko-KR" altLang="en-US" sz="1200" b="1" dirty="0"/>
              <a:t>단어 존재 여부 </a:t>
            </a:r>
            <a:r>
              <a:rPr lang="en-US" altLang="ko-KR" sz="1200" b="1" dirty="0"/>
              <a:t>: ", "star" in s)</a:t>
            </a:r>
          </a:p>
          <a:p>
            <a:pPr algn="l"/>
            <a:r>
              <a:rPr lang="en-US" altLang="ko-KR" sz="1200" b="1" dirty="0"/>
              <a:t>print( "star </a:t>
            </a:r>
            <a:r>
              <a:rPr lang="ko-KR" altLang="en-US" sz="1200" b="1" dirty="0"/>
              <a:t>첫번째 위치 </a:t>
            </a:r>
            <a:r>
              <a:rPr lang="en-US" altLang="ko-KR" sz="1200" b="1" dirty="0"/>
              <a:t>: ", </a:t>
            </a:r>
            <a:r>
              <a:rPr lang="en-US" altLang="ko-KR" sz="1200" b="1" dirty="0" err="1"/>
              <a:t>s.index</a:t>
            </a:r>
            <a:r>
              <a:rPr lang="en-US" altLang="ko-KR" sz="1200" b="1" dirty="0"/>
              <a:t>("star"))</a:t>
            </a:r>
          </a:p>
          <a:p>
            <a:pPr algn="l"/>
            <a:r>
              <a:rPr lang="en-US" altLang="ko-KR" sz="1200" b="1" dirty="0"/>
              <a:t>print( "star </a:t>
            </a:r>
            <a:r>
              <a:rPr lang="ko-KR" altLang="en-US" sz="1200" b="1" dirty="0"/>
              <a:t>두번째 위치 </a:t>
            </a:r>
            <a:r>
              <a:rPr lang="en-US" altLang="ko-KR" sz="1200" b="1" dirty="0"/>
              <a:t>: ", </a:t>
            </a:r>
            <a:r>
              <a:rPr lang="en-US" altLang="ko-KR" sz="1200" b="1" dirty="0" err="1"/>
              <a:t>s.index</a:t>
            </a:r>
            <a:r>
              <a:rPr lang="en-US" altLang="ko-KR" sz="1200" b="1" dirty="0"/>
              <a:t>("star", 12))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F8794D-798D-4EFD-BE5D-038BE19A9DCE}"/>
              </a:ext>
            </a:extLst>
          </p:cNvPr>
          <p:cNvSpPr/>
          <p:nvPr/>
        </p:nvSpPr>
        <p:spPr bwMode="auto">
          <a:xfrm>
            <a:off x="5292080" y="2136889"/>
            <a:ext cx="3168352" cy="1418376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CC6BB0-205B-4268-B51E-3A09166D6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14" y="2372607"/>
            <a:ext cx="2520280" cy="61985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4E3B74D-E52B-4B6D-A7BE-0DB040AECCED}"/>
              </a:ext>
            </a:extLst>
          </p:cNvPr>
          <p:cNvSpPr/>
          <p:nvPr/>
        </p:nvSpPr>
        <p:spPr bwMode="auto">
          <a:xfrm>
            <a:off x="5364088" y="3075806"/>
            <a:ext cx="2952328" cy="288032"/>
          </a:xfrm>
          <a:prstGeom prst="rect">
            <a:avLst/>
          </a:prstGeom>
          <a:noFill/>
          <a:ln w="28575">
            <a:solidFill>
              <a:schemeClr val="bg1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index</a:t>
            </a:r>
            <a:r>
              <a:rPr lang="ko-KR" altLang="en-US" dirty="0">
                <a:solidFill>
                  <a:sysClr val="windowText" lastClr="000000"/>
                </a:solidFill>
              </a:rPr>
              <a:t>함수에 존재하지 않는 값을 전달할 때 에러메시지</a:t>
            </a:r>
          </a:p>
        </p:txBody>
      </p:sp>
    </p:spTree>
    <p:extLst>
      <p:ext uri="{BB962C8B-B14F-4D97-AF65-F5344CB8AC3E}">
        <p14:creationId xmlns:p14="http://schemas.microsoft.com/office/powerpoint/2010/main" val="2779521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714078" cy="267764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위치 찾기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count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index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이용해서 문자열내의 특정 문자열을 모두 찾아보는 코드를 작성해보겠습니다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3B2DA6-8B0B-462C-8510-6E6A7594A9FA}"/>
              </a:ext>
            </a:extLst>
          </p:cNvPr>
          <p:cNvSpPr/>
          <p:nvPr/>
        </p:nvSpPr>
        <p:spPr bwMode="auto">
          <a:xfrm>
            <a:off x="323528" y="1222752"/>
            <a:ext cx="5328592" cy="2092659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s="I like star, red star </a:t>
            </a:r>
            <a:r>
              <a:rPr lang="en-US" altLang="ko-KR" sz="1200" b="1" dirty="0" err="1"/>
              <a:t>yello</a:t>
            </a:r>
            <a:r>
              <a:rPr lang="en-US" altLang="ko-KR" sz="1200" b="1" dirty="0"/>
              <a:t> star, blue star“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print("star </a:t>
            </a:r>
            <a:r>
              <a:rPr lang="ko-KR" altLang="en-US" sz="1200" b="1" dirty="0"/>
              <a:t>위치</a:t>
            </a:r>
            <a:r>
              <a:rPr lang="en-US" altLang="ko-KR" sz="1200" b="1" dirty="0"/>
              <a:t>")</a:t>
            </a:r>
          </a:p>
          <a:p>
            <a:pPr algn="l"/>
            <a:r>
              <a:rPr lang="en-US" altLang="ko-KR" sz="1200" b="1" dirty="0"/>
              <a:t>key = "star"</a:t>
            </a:r>
          </a:p>
          <a:p>
            <a:pPr algn="l"/>
            <a:r>
              <a:rPr lang="en-US" altLang="ko-KR" sz="1200" b="1" dirty="0"/>
              <a:t>pos=0</a:t>
            </a:r>
          </a:p>
          <a:p>
            <a:pPr algn="l"/>
            <a:r>
              <a:rPr lang="en-US" altLang="ko-KR" sz="1200" b="1" dirty="0"/>
              <a:t>while  </a:t>
            </a:r>
            <a:r>
              <a:rPr lang="en-US" altLang="ko-KR" sz="1200" b="1" dirty="0" err="1"/>
              <a:t>s.count</a:t>
            </a:r>
            <a:r>
              <a:rPr lang="en-US" altLang="ko-KR" sz="1200" b="1" dirty="0"/>
              <a:t>(key, pos)!=0:</a:t>
            </a:r>
          </a:p>
          <a:p>
            <a:pPr algn="l"/>
            <a:r>
              <a:rPr lang="en-US" altLang="ko-KR" sz="1200" b="1" dirty="0"/>
              <a:t>    pos = </a:t>
            </a:r>
            <a:r>
              <a:rPr lang="en-US" altLang="ko-KR" sz="1200" b="1" dirty="0" err="1"/>
              <a:t>s.index</a:t>
            </a:r>
            <a:r>
              <a:rPr lang="en-US" altLang="ko-KR" sz="1200" b="1" dirty="0"/>
              <a:t>(key, pos)</a:t>
            </a:r>
          </a:p>
          <a:p>
            <a:pPr algn="l"/>
            <a:r>
              <a:rPr lang="en-US" altLang="ko-KR" sz="1200" b="1" dirty="0"/>
              <a:t>    pos = pos + </a:t>
            </a:r>
            <a:r>
              <a:rPr lang="en-US" altLang="ko-KR" sz="1200" b="1" dirty="0" err="1"/>
              <a:t>len</a:t>
            </a:r>
            <a:r>
              <a:rPr lang="en-US" altLang="ko-KR" sz="1200" b="1" dirty="0"/>
              <a:t>(key) #</a:t>
            </a:r>
            <a:r>
              <a:rPr lang="ko-KR" altLang="en-US" sz="1200" b="1" dirty="0"/>
              <a:t>단어길이만큼 다음 위치로 이동한다</a:t>
            </a:r>
          </a:p>
          <a:p>
            <a:pPr algn="l"/>
            <a:r>
              <a:rPr lang="ko-KR" altLang="en-US" sz="1200" b="1" dirty="0"/>
              <a:t>    </a:t>
            </a:r>
            <a:r>
              <a:rPr lang="en-US" altLang="ko-KR" sz="1200" b="1" dirty="0"/>
              <a:t>print(pos)</a:t>
            </a:r>
            <a:br>
              <a:rPr lang="en-US" altLang="ko-KR" sz="1200" b="1" dirty="0"/>
            </a:b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808441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714078" cy="138498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분리하기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split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문자열을 특정 문자를 기준으로 분리하여 문자열의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list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형태로 반환합니다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split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함수의 매개변수에 특정 문자를 지정하지 않으면 공백으로 토큰을 나눕니다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3B2DA6-8B0B-462C-8510-6E6A7594A9FA}"/>
              </a:ext>
            </a:extLst>
          </p:cNvPr>
          <p:cNvSpPr/>
          <p:nvPr/>
        </p:nvSpPr>
        <p:spPr bwMode="auto">
          <a:xfrm>
            <a:off x="453996" y="1707654"/>
            <a:ext cx="5328592" cy="1568271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s="I like star red star </a:t>
            </a:r>
            <a:r>
              <a:rPr lang="en-US" altLang="ko-KR" sz="1200" b="1" dirty="0" err="1"/>
              <a:t>yello</a:t>
            </a:r>
            <a:r>
              <a:rPr lang="en-US" altLang="ko-KR" sz="1200" b="1" dirty="0"/>
              <a:t> star blue star“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words = </a:t>
            </a:r>
            <a:r>
              <a:rPr lang="en-US" altLang="ko-KR" sz="1200" b="1" dirty="0" err="1"/>
              <a:t>s.split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/>
              <a:t>print( words )   </a:t>
            </a:r>
            <a:r>
              <a:rPr lang="ko-KR" altLang="en-US" sz="1200" b="1" dirty="0"/>
              <a:t>리스트 형태입니다</a:t>
            </a:r>
            <a:r>
              <a:rPr lang="en-US" altLang="ko-KR" sz="1200" b="1" dirty="0"/>
              <a:t>. 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s = "</a:t>
            </a:r>
            <a:r>
              <a:rPr lang="ko-KR" altLang="en-US" sz="1200" b="1" dirty="0"/>
              <a:t>소나무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전나무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오동나무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사시나무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향나무</a:t>
            </a:r>
            <a:r>
              <a:rPr lang="en-US" altLang="ko-KR" sz="1200" b="1" dirty="0"/>
              <a:t>"</a:t>
            </a:r>
            <a:endParaRPr lang="ko-KR" altLang="en-US" sz="1200" b="1" dirty="0"/>
          </a:p>
          <a:p>
            <a:pPr algn="l"/>
            <a:r>
              <a:rPr lang="en-US" altLang="ko-KR" sz="1200" b="1" dirty="0"/>
              <a:t>s2 = </a:t>
            </a:r>
            <a:r>
              <a:rPr lang="en-US" altLang="ko-KR" sz="1200" b="1" dirty="0" err="1"/>
              <a:t>s.split</a:t>
            </a:r>
            <a:r>
              <a:rPr lang="en-US" altLang="ko-KR" sz="1200" b="1" dirty="0"/>
              <a:t>(",") </a:t>
            </a:r>
          </a:p>
          <a:p>
            <a:pPr algn="l"/>
            <a:r>
              <a:rPr lang="en-US" altLang="ko-KR" sz="1200" b="1" dirty="0"/>
              <a:t>print(s2)</a:t>
            </a:r>
          </a:p>
        </p:txBody>
      </p:sp>
    </p:spTree>
    <p:extLst>
      <p:ext uri="{BB962C8B-B14F-4D97-AF65-F5344CB8AC3E}">
        <p14:creationId xmlns:p14="http://schemas.microsoft.com/office/powerpoint/2010/main" val="2581845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714078" cy="310853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변환하기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upper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문자열을 대문자로 변환하는 함수입니다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lower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문자열을 소문자로 변환하는 함수입니다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replace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문자열을 특정 문자열로 전환합니다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3B2DA6-8B0B-462C-8510-6E6A7594A9FA}"/>
              </a:ext>
            </a:extLst>
          </p:cNvPr>
          <p:cNvSpPr/>
          <p:nvPr/>
        </p:nvSpPr>
        <p:spPr bwMode="auto">
          <a:xfrm>
            <a:off x="395536" y="1635868"/>
            <a:ext cx="5328592" cy="2376042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s="I like star, red star </a:t>
            </a:r>
            <a:r>
              <a:rPr lang="en-US" altLang="ko-KR" sz="1200" b="1" dirty="0" err="1"/>
              <a:t>yello</a:t>
            </a:r>
            <a:r>
              <a:rPr lang="en-US" altLang="ko-KR" sz="1200" b="1" dirty="0"/>
              <a:t> star, blue star“</a:t>
            </a:r>
          </a:p>
          <a:p>
            <a:pPr algn="l"/>
            <a:r>
              <a:rPr lang="en-US" altLang="ko-KR" sz="1200" b="1" dirty="0"/>
              <a:t>s = </a:t>
            </a:r>
            <a:r>
              <a:rPr lang="en-US" altLang="ko-KR" sz="1200" b="1" dirty="0" err="1"/>
              <a:t>s.upper</a:t>
            </a:r>
            <a:r>
              <a:rPr lang="en-US" altLang="ko-KR" sz="1200" b="1" dirty="0"/>
              <a:t>() </a:t>
            </a:r>
          </a:p>
          <a:p>
            <a:pPr algn="l"/>
            <a:r>
              <a:rPr lang="en-US" altLang="ko-KR" sz="1200" b="1" dirty="0"/>
              <a:t>print(s) </a:t>
            </a:r>
          </a:p>
          <a:p>
            <a:pPr algn="l"/>
            <a:r>
              <a:rPr lang="ko-KR" altLang="en-US" sz="1200" b="1" dirty="0"/>
              <a:t>결과 </a:t>
            </a:r>
            <a:r>
              <a:rPr lang="en-US" altLang="ko-KR" sz="1200" b="1" dirty="0"/>
              <a:t>: I LIKE STAR RED STAR YELLO STAR BLUE STAR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s = </a:t>
            </a:r>
            <a:r>
              <a:rPr lang="en-US" altLang="ko-KR" sz="1200" b="1" dirty="0" err="1"/>
              <a:t>s.lower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/>
              <a:t>print(s)</a:t>
            </a:r>
          </a:p>
          <a:p>
            <a:pPr algn="l"/>
            <a:r>
              <a:rPr lang="ko-KR" altLang="en-US" sz="1200" b="1" dirty="0"/>
              <a:t>결과 </a:t>
            </a:r>
            <a:r>
              <a:rPr lang="en-US" altLang="ko-KR" sz="1200" b="1" dirty="0"/>
              <a:t>: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 like star red star </a:t>
            </a:r>
            <a:r>
              <a:rPr lang="en-US" altLang="ko-KR" sz="1200" b="1" dirty="0" err="1"/>
              <a:t>yello</a:t>
            </a:r>
            <a:r>
              <a:rPr lang="en-US" altLang="ko-KR" sz="1200" b="1" dirty="0"/>
              <a:t> star blue star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s=</a:t>
            </a:r>
            <a:r>
              <a:rPr lang="en-US" altLang="ko-KR" sz="1200" b="1" dirty="0" err="1"/>
              <a:t>s.replace</a:t>
            </a:r>
            <a:r>
              <a:rPr lang="en-US" altLang="ko-KR" sz="1200" b="1" dirty="0"/>
              <a:t>(“star’, “moon”)</a:t>
            </a:r>
          </a:p>
          <a:p>
            <a:pPr algn="l"/>
            <a:r>
              <a:rPr lang="en-US" altLang="ko-KR" sz="1200" b="1" dirty="0"/>
              <a:t>print(s) </a:t>
            </a:r>
          </a:p>
          <a:p>
            <a:pPr algn="l"/>
            <a:r>
              <a:rPr lang="ko-KR" altLang="en-US" sz="1200" b="1" dirty="0"/>
              <a:t>결과 </a:t>
            </a:r>
            <a:r>
              <a:rPr lang="en-US" altLang="ko-KR" sz="1200" b="1" dirty="0"/>
              <a:t>: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 like moon red moon </a:t>
            </a:r>
            <a:r>
              <a:rPr lang="en-US" altLang="ko-KR" sz="1200" b="1" dirty="0" err="1"/>
              <a:t>yello</a:t>
            </a:r>
            <a:r>
              <a:rPr lang="en-US" altLang="ko-KR" sz="1200" b="1" dirty="0"/>
              <a:t> moon blue moon</a:t>
            </a:r>
          </a:p>
          <a:p>
            <a:pPr algn="l"/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1009298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714078" cy="332397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앞뒤 공백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제거 함수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문자열의 앞뒤에 있는 공백문자를 제거하기 위해서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strip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양쪽을 다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제거할때는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strip,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왼쪽의 공백만 제거하면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lstrinp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오른쪽 공백만 제거하면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rstrip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3B2DA6-8B0B-462C-8510-6E6A7594A9FA}"/>
              </a:ext>
            </a:extLst>
          </p:cNvPr>
          <p:cNvSpPr/>
          <p:nvPr/>
        </p:nvSpPr>
        <p:spPr bwMode="auto">
          <a:xfrm>
            <a:off x="284020" y="1522688"/>
            <a:ext cx="6016172" cy="2057174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s = "   space remove   "</a:t>
            </a:r>
          </a:p>
          <a:p>
            <a:pPr algn="l"/>
            <a:r>
              <a:rPr lang="en-US" altLang="ko-KR" sz="1200" b="1" dirty="0"/>
              <a:t>print( "*" + s + "*")</a:t>
            </a:r>
          </a:p>
          <a:p>
            <a:pPr algn="l"/>
            <a:r>
              <a:rPr lang="en-US" altLang="ko-KR" sz="1200" b="1" dirty="0"/>
              <a:t>print( "*" + </a:t>
            </a:r>
            <a:r>
              <a:rPr lang="en-US" altLang="ko-KR" sz="1200" b="1" dirty="0" err="1"/>
              <a:t>s.lstrip</a:t>
            </a:r>
            <a:r>
              <a:rPr lang="en-US" altLang="ko-KR" sz="1200" b="1" dirty="0"/>
              <a:t>() + "*")</a:t>
            </a:r>
          </a:p>
          <a:p>
            <a:pPr algn="l"/>
            <a:r>
              <a:rPr lang="en-US" altLang="ko-KR" sz="1200" b="1" dirty="0"/>
              <a:t>print( "*" + </a:t>
            </a:r>
            <a:r>
              <a:rPr lang="en-US" altLang="ko-KR" sz="1200" b="1" dirty="0" err="1"/>
              <a:t>s.rstrip</a:t>
            </a:r>
            <a:r>
              <a:rPr lang="en-US" altLang="ko-KR" sz="1200" b="1" dirty="0"/>
              <a:t>() + "*")</a:t>
            </a:r>
          </a:p>
          <a:p>
            <a:pPr algn="l"/>
            <a:r>
              <a:rPr lang="en-US" altLang="ko-KR" sz="1200" b="1" dirty="0"/>
              <a:t>print( "*" + </a:t>
            </a:r>
            <a:r>
              <a:rPr lang="en-US" altLang="ko-KR" sz="1200" b="1" dirty="0" err="1"/>
              <a:t>s.strip</a:t>
            </a:r>
            <a:r>
              <a:rPr lang="en-US" altLang="ko-KR" sz="1200" b="1" dirty="0"/>
              <a:t>() + "*")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*   space remove   *                         </a:t>
            </a:r>
            <a:r>
              <a:rPr lang="ko-KR" altLang="en-US" sz="1200" b="1" dirty="0"/>
              <a:t>문자열 앞뒤로 공백이 있다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*space remove   *                            </a:t>
            </a:r>
            <a:r>
              <a:rPr lang="ko-KR" altLang="en-US" sz="1200" b="1" dirty="0"/>
              <a:t>문자열 왼쪽의 공백이 제거되었다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*   space remove*                            </a:t>
            </a:r>
            <a:r>
              <a:rPr lang="ko-KR" altLang="en-US" sz="1200" b="1" dirty="0"/>
              <a:t>문자열 오른쪽이 공백이 제거되었다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*space remove*                              </a:t>
            </a:r>
            <a:r>
              <a:rPr lang="ko-KR" altLang="en-US" sz="1200" b="1" dirty="0"/>
              <a:t>문자열 양쪽의 공백이 제거되었다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1139853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714078" cy="332397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문자열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결합하기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(join)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join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문자열 리스트를 전달받아 하나의 문자열을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만들때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3B2DA6-8B0B-462C-8510-6E6A7594A9FA}"/>
              </a:ext>
            </a:extLst>
          </p:cNvPr>
          <p:cNvSpPr/>
          <p:nvPr/>
        </p:nvSpPr>
        <p:spPr bwMode="auto">
          <a:xfrm>
            <a:off x="284020" y="1522688"/>
            <a:ext cx="6016172" cy="2057174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문자열 결합 </a:t>
            </a:r>
          </a:p>
          <a:p>
            <a:pPr algn="l"/>
            <a:r>
              <a:rPr lang="en-US" altLang="ko-KR" sz="1200" b="1" dirty="0"/>
              <a:t>s = ",".join(["apple", "orange", "banana", "mango", "cherry"])</a:t>
            </a:r>
          </a:p>
          <a:p>
            <a:pPr algn="l"/>
            <a:r>
              <a:rPr lang="en-US" altLang="ko-KR" sz="1200" b="1" dirty="0"/>
              <a:t>print(s)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s = " ".join(["apple", "orange", "banana", "mango", "cherry"])</a:t>
            </a:r>
          </a:p>
          <a:p>
            <a:pPr algn="l"/>
            <a:r>
              <a:rPr lang="en-US" altLang="ko-KR" sz="1200" b="1" dirty="0"/>
              <a:t>print(s)</a:t>
            </a:r>
          </a:p>
          <a:p>
            <a:pPr algn="l"/>
            <a:endParaRPr lang="en-US" altLang="ko-KR" sz="1200" b="1" dirty="0"/>
          </a:p>
          <a:p>
            <a:pPr algn="l"/>
            <a:endParaRPr lang="en-US" altLang="ko-KR" sz="1200" b="1" dirty="0"/>
          </a:p>
          <a:p>
            <a:pPr algn="l"/>
            <a:r>
              <a:rPr lang="it-IT" altLang="ko-KR" sz="1200" b="1" dirty="0"/>
              <a:t>apple,orange,banana,mango,cherry</a:t>
            </a:r>
          </a:p>
          <a:p>
            <a:pPr algn="l"/>
            <a:r>
              <a:rPr lang="it-IT" altLang="ko-KR" sz="1200" b="1" dirty="0"/>
              <a:t>apple orange banana mango cherry</a:t>
            </a:r>
            <a:endParaRPr lang="en-US" altLang="ko-KR" sz="1200" b="1" dirty="0"/>
          </a:p>
          <a:p>
            <a:pPr algn="l"/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700318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09622" cy="426269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b="1" dirty="0"/>
              <a:t>문자열 관련 함수들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#exam12_9.py</a:t>
            </a:r>
            <a:endParaRPr lang="ko-KR" altLang="en-US" b="1" dirty="0"/>
          </a:p>
          <a:p>
            <a:pPr algn="l"/>
            <a:r>
              <a:rPr lang="en-US" altLang="ko-KR" b="1" dirty="0"/>
              <a:t>s="I like star, red star </a:t>
            </a:r>
            <a:r>
              <a:rPr lang="en-US" altLang="ko-KR" b="1" dirty="0" err="1"/>
              <a:t>yello</a:t>
            </a:r>
            <a:r>
              <a:rPr lang="en-US" altLang="ko-KR" b="1" dirty="0"/>
              <a:t> star, blue star"</a:t>
            </a:r>
          </a:p>
          <a:p>
            <a:pPr algn="l"/>
            <a:r>
              <a:rPr lang="en-US" altLang="ko-KR" b="1" dirty="0"/>
              <a:t>words = </a:t>
            </a:r>
            <a:r>
              <a:rPr lang="en-US" altLang="ko-KR" b="1" dirty="0" err="1"/>
              <a:t>s.split</a:t>
            </a:r>
            <a:r>
              <a:rPr lang="en-US" altLang="ko-KR" b="1" dirty="0"/>
              <a:t>()</a:t>
            </a:r>
          </a:p>
          <a:p>
            <a:pPr algn="l"/>
            <a:r>
              <a:rPr lang="en-US" altLang="ko-KR" b="1" dirty="0"/>
              <a:t>print( words 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s1 = "</a:t>
            </a:r>
            <a:r>
              <a:rPr lang="ko-KR" altLang="en-US" b="1" dirty="0"/>
              <a:t>소나무</a:t>
            </a:r>
            <a:r>
              <a:rPr lang="en-US" altLang="ko-KR" b="1" dirty="0"/>
              <a:t>,</a:t>
            </a:r>
            <a:r>
              <a:rPr lang="ko-KR" altLang="en-US" b="1" dirty="0"/>
              <a:t>전나무</a:t>
            </a:r>
            <a:r>
              <a:rPr lang="en-US" altLang="ko-KR" b="1" dirty="0"/>
              <a:t>,</a:t>
            </a:r>
            <a:r>
              <a:rPr lang="ko-KR" altLang="en-US" b="1" dirty="0"/>
              <a:t>오동나무</a:t>
            </a:r>
            <a:r>
              <a:rPr lang="en-US" altLang="ko-KR" b="1" dirty="0"/>
              <a:t>,</a:t>
            </a:r>
            <a:r>
              <a:rPr lang="ko-KR" altLang="en-US" b="1" dirty="0"/>
              <a:t>사시나무</a:t>
            </a:r>
            <a:r>
              <a:rPr lang="en-US" altLang="ko-KR" b="1" dirty="0"/>
              <a:t>,</a:t>
            </a:r>
            <a:r>
              <a:rPr lang="ko-KR" altLang="en-US" b="1" dirty="0"/>
              <a:t>향나무</a:t>
            </a:r>
            <a:r>
              <a:rPr lang="en-US" altLang="ko-KR" b="1" dirty="0"/>
              <a:t>"</a:t>
            </a:r>
            <a:endParaRPr lang="ko-KR" altLang="en-US" b="1" dirty="0"/>
          </a:p>
          <a:p>
            <a:pPr algn="l"/>
            <a:r>
              <a:rPr lang="en-US" altLang="ko-KR" b="1" dirty="0"/>
              <a:t>woods = s1.split(",")</a:t>
            </a:r>
          </a:p>
          <a:p>
            <a:pPr algn="l"/>
            <a:r>
              <a:rPr lang="en-US" altLang="ko-KR" b="1" dirty="0"/>
              <a:t>print(woods)</a:t>
            </a:r>
            <a:br>
              <a:rPr lang="en-US" altLang="ko-KR" b="1" dirty="0"/>
            </a:br>
            <a:endParaRPr lang="en-US" altLang="ko-KR" b="1" dirty="0"/>
          </a:p>
          <a:p>
            <a:pPr algn="l"/>
            <a:r>
              <a:rPr lang="en-US" altLang="ko-KR" b="1" dirty="0"/>
              <a:t>print( "</a:t>
            </a:r>
            <a:r>
              <a:rPr lang="ko-KR" altLang="en-US" b="1" dirty="0"/>
              <a:t>문자열 길이 </a:t>
            </a:r>
            <a:r>
              <a:rPr lang="en-US" altLang="ko-KR" b="1" dirty="0"/>
              <a:t>: ", </a:t>
            </a:r>
            <a:r>
              <a:rPr lang="en-US" altLang="ko-KR" b="1" dirty="0" err="1"/>
              <a:t>len</a:t>
            </a:r>
            <a:r>
              <a:rPr lang="en-US" altLang="ko-KR" b="1" dirty="0"/>
              <a:t>(s)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특정 문자의 개수 </a:t>
            </a:r>
          </a:p>
          <a:p>
            <a:pPr algn="l"/>
            <a:r>
              <a:rPr lang="en-US" altLang="ko-KR" b="1" dirty="0"/>
              <a:t>print ("star </a:t>
            </a:r>
            <a:r>
              <a:rPr lang="ko-KR" altLang="en-US" b="1" dirty="0"/>
              <a:t>개수 </a:t>
            </a:r>
            <a:r>
              <a:rPr lang="en-US" altLang="ko-KR" b="1" dirty="0"/>
              <a:t>: ", </a:t>
            </a:r>
            <a:r>
              <a:rPr lang="en-US" altLang="ko-KR" b="1" dirty="0" err="1"/>
              <a:t>s.count</a:t>
            </a:r>
            <a:r>
              <a:rPr lang="en-US" altLang="ko-KR" b="1" dirty="0"/>
              <a:t>("star"))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#star </a:t>
            </a:r>
            <a:r>
              <a:rPr lang="ko-KR" altLang="en-US" b="1" dirty="0"/>
              <a:t>의 위치 </a:t>
            </a:r>
          </a:p>
          <a:p>
            <a:pPr algn="l"/>
            <a:r>
              <a:rPr lang="en-US" altLang="ko-KR" b="1" dirty="0"/>
              <a:t>print("star </a:t>
            </a:r>
            <a:r>
              <a:rPr lang="ko-KR" altLang="en-US" b="1" dirty="0"/>
              <a:t>첫번째 위치 </a:t>
            </a:r>
            <a:r>
              <a:rPr lang="en-US" altLang="ko-KR" b="1" dirty="0"/>
              <a:t>: ", </a:t>
            </a:r>
            <a:r>
              <a:rPr lang="en-US" altLang="ko-KR" b="1" dirty="0" err="1"/>
              <a:t>s.index</a:t>
            </a:r>
            <a:r>
              <a:rPr lang="en-US" altLang="ko-KR" b="1" dirty="0"/>
              <a:t>("star"))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모든 </a:t>
            </a:r>
            <a:r>
              <a:rPr lang="en-US" altLang="ko-KR" b="1" dirty="0"/>
              <a:t>star </a:t>
            </a:r>
            <a:r>
              <a:rPr lang="ko-KR" altLang="en-US" b="1" dirty="0"/>
              <a:t>찾기 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print("star </a:t>
            </a:r>
            <a:r>
              <a:rPr lang="ko-KR" altLang="en-US" b="1" dirty="0"/>
              <a:t>위치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key = "star"</a:t>
            </a:r>
          </a:p>
          <a:p>
            <a:pPr algn="l"/>
            <a:r>
              <a:rPr lang="en-US" altLang="ko-KR" b="1" dirty="0"/>
              <a:t>pos=0</a:t>
            </a:r>
          </a:p>
          <a:p>
            <a:pPr algn="l"/>
            <a:r>
              <a:rPr lang="en-US" altLang="ko-KR" b="1" dirty="0"/>
              <a:t>while  </a:t>
            </a:r>
            <a:r>
              <a:rPr lang="en-US" altLang="ko-KR" b="1" dirty="0" err="1"/>
              <a:t>s.count</a:t>
            </a:r>
            <a:r>
              <a:rPr lang="en-US" altLang="ko-KR" b="1" dirty="0"/>
              <a:t>(key, pos)!=0:</a:t>
            </a:r>
          </a:p>
          <a:p>
            <a:pPr algn="l"/>
            <a:r>
              <a:rPr lang="en-US" altLang="ko-KR" b="1" dirty="0"/>
              <a:t>    pos = </a:t>
            </a:r>
            <a:r>
              <a:rPr lang="en-US" altLang="ko-KR" b="1" dirty="0" err="1"/>
              <a:t>s.index</a:t>
            </a:r>
            <a:r>
              <a:rPr lang="en-US" altLang="ko-KR" b="1" dirty="0"/>
              <a:t>(key, pos)</a:t>
            </a:r>
          </a:p>
          <a:p>
            <a:pPr algn="l"/>
            <a:r>
              <a:rPr lang="en-US" altLang="ko-KR" b="1" dirty="0"/>
              <a:t>    pos = pos + </a:t>
            </a:r>
            <a:r>
              <a:rPr lang="en-US" altLang="ko-KR" b="1" dirty="0" err="1"/>
              <a:t>len</a:t>
            </a:r>
            <a:r>
              <a:rPr lang="en-US" altLang="ko-KR" b="1" dirty="0"/>
              <a:t>(key) #</a:t>
            </a:r>
            <a:r>
              <a:rPr lang="ko-KR" altLang="en-US" b="1" dirty="0"/>
              <a:t>단어길이만큼 다음 위치로 이동한다</a:t>
            </a:r>
          </a:p>
          <a:p>
            <a:pPr algn="l"/>
            <a:r>
              <a:rPr lang="ko-KR" altLang="en-US" b="1" dirty="0"/>
              <a:t>    </a:t>
            </a:r>
            <a:r>
              <a:rPr lang="en-US" altLang="ko-KR" b="1" dirty="0"/>
              <a:t>print(pos)</a:t>
            </a:r>
          </a:p>
          <a:p>
            <a:pPr algn="l"/>
            <a:br>
              <a:rPr lang="en-US" altLang="ko-KR" b="1" dirty="0"/>
            </a:b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09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09622" cy="433963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b="1" dirty="0"/>
              <a:t>문자열 관련 함수들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소문자 대문자 체인지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s2 = </a:t>
            </a:r>
            <a:r>
              <a:rPr lang="en-US" altLang="ko-KR" b="1" dirty="0" err="1"/>
              <a:t>s.upper</a:t>
            </a:r>
            <a:r>
              <a:rPr lang="en-US" altLang="ko-KR" b="1" dirty="0"/>
              <a:t>()</a:t>
            </a:r>
          </a:p>
          <a:p>
            <a:pPr algn="l"/>
            <a:r>
              <a:rPr lang="en-US" altLang="ko-KR" b="1" dirty="0"/>
              <a:t>print(s2)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s1 = s2.lower()</a:t>
            </a:r>
          </a:p>
          <a:p>
            <a:pPr algn="l"/>
            <a:r>
              <a:rPr lang="en-US" altLang="ko-KR" b="1" dirty="0"/>
              <a:t>print(s1)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문자열 대체하기 </a:t>
            </a:r>
          </a:p>
          <a:p>
            <a:pPr algn="l"/>
            <a:r>
              <a:rPr lang="en-US" altLang="ko-KR" b="1" dirty="0"/>
              <a:t>#star </a:t>
            </a:r>
            <a:r>
              <a:rPr lang="ko-KR" altLang="en-US" b="1" dirty="0"/>
              <a:t>을 </a:t>
            </a:r>
            <a:r>
              <a:rPr lang="en-US" altLang="ko-KR" b="1" dirty="0"/>
              <a:t>moon</a:t>
            </a:r>
            <a:r>
              <a:rPr lang="ko-KR" altLang="en-US" b="1" dirty="0"/>
              <a:t>으로 대체 </a:t>
            </a:r>
          </a:p>
          <a:p>
            <a:pPr algn="l"/>
            <a:r>
              <a:rPr lang="en-US" altLang="ko-KR" b="1" dirty="0"/>
              <a:t>s = </a:t>
            </a:r>
            <a:r>
              <a:rPr lang="en-US" altLang="ko-KR" b="1" dirty="0" err="1"/>
              <a:t>s.replace</a:t>
            </a:r>
            <a:r>
              <a:rPr lang="en-US" altLang="ko-KR" b="1" dirty="0"/>
              <a:t>("star", "moon")</a:t>
            </a:r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공백제거</a:t>
            </a:r>
          </a:p>
          <a:p>
            <a:pPr algn="l"/>
            <a:r>
              <a:rPr lang="en-US" altLang="ko-KR" b="1" dirty="0"/>
              <a:t>s = "   space remove   "</a:t>
            </a:r>
          </a:p>
          <a:p>
            <a:pPr algn="l"/>
            <a:r>
              <a:rPr lang="en-US" altLang="ko-KR" b="1" dirty="0"/>
              <a:t>print( "*" + </a:t>
            </a:r>
            <a:r>
              <a:rPr lang="en-US" altLang="ko-KR" b="1" dirty="0" err="1"/>
              <a:t>s.lstrip</a:t>
            </a:r>
            <a:r>
              <a:rPr lang="en-US" altLang="ko-KR" b="1" dirty="0"/>
              <a:t>() + "*")</a:t>
            </a:r>
          </a:p>
          <a:p>
            <a:pPr algn="l"/>
            <a:r>
              <a:rPr lang="en-US" altLang="ko-KR" b="1" dirty="0"/>
              <a:t>print( "*" + </a:t>
            </a:r>
            <a:r>
              <a:rPr lang="en-US" altLang="ko-KR" b="1" dirty="0" err="1"/>
              <a:t>s.rstrip</a:t>
            </a:r>
            <a:r>
              <a:rPr lang="en-US" altLang="ko-KR" b="1" dirty="0"/>
              <a:t>() + "*")</a:t>
            </a:r>
          </a:p>
          <a:p>
            <a:pPr algn="l"/>
            <a:r>
              <a:rPr lang="en-US" altLang="ko-KR" b="1" dirty="0"/>
              <a:t>print( "*" + </a:t>
            </a:r>
            <a:r>
              <a:rPr lang="en-US" altLang="ko-KR" b="1" dirty="0" err="1"/>
              <a:t>s.strip</a:t>
            </a:r>
            <a:r>
              <a:rPr lang="en-US" altLang="ko-KR" b="1" dirty="0"/>
              <a:t>() + "*")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문자열 삽입 </a:t>
            </a:r>
          </a:p>
          <a:p>
            <a:pPr algn="l"/>
            <a:r>
              <a:rPr lang="en-US" altLang="ko-KR" b="1" dirty="0"/>
              <a:t>s = ",".join(["apple", "orange", "banana", "mango", "cherry"])</a:t>
            </a:r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r>
              <a:rPr lang="en-US" altLang="ko-KR" b="1" dirty="0"/>
              <a:t>s = " ".join(["apple", "orange", "banana", "mango", "cherry"])</a:t>
            </a:r>
          </a:p>
          <a:p>
            <a:pPr algn="l"/>
            <a:r>
              <a:rPr lang="en-US" altLang="ko-KR" b="1" dirty="0"/>
              <a:t>print(s)</a:t>
            </a:r>
          </a:p>
          <a:p>
            <a:pPr algn="l"/>
            <a:endParaRPr lang="en-US" altLang="ko-KR" b="1" dirty="0"/>
          </a:p>
          <a:p>
            <a:pPr algn="l"/>
            <a:br>
              <a:rPr lang="en-US" altLang="ko-KR" b="1" dirty="0"/>
            </a:b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31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834493-E576-47E0-87F5-E50B38F05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916" y="771550"/>
            <a:ext cx="4150304" cy="253878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A492EB6-EEC0-404A-82E0-12DF480C56E3}"/>
              </a:ext>
            </a:extLst>
          </p:cNvPr>
          <p:cNvSpPr/>
          <p:nvPr/>
        </p:nvSpPr>
        <p:spPr bwMode="auto">
          <a:xfrm>
            <a:off x="4139952" y="661442"/>
            <a:ext cx="4320480" cy="2774404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843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7481515" cy="3754864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폴더내의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data.txt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읽어서 토큰을 분리하고 토큰의 개수는 몇개인지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Too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Time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단어가 각각 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몇번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 등장했는지 횟수를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FontTx/>
              <a:buAutoNum type="arabicPeriod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who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등장 위치를 리스트에 추가하여 어떤 위치에 등장했는지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위치값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리스트를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FontTx/>
              <a:buAutoNum type="arabicPeriod"/>
            </a:pP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buAutoNum type="arabicPeriod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모든 토큰을 대문자로 바꾸어서 토큰의 번호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대문자로 전환한 토큰을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85022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br>
              <a:rPr lang="en-US" altLang="ko-KR" b="1"/>
            </a:br>
            <a:endParaRPr lang="en-US" altLang="ko-KR" b="1"/>
          </a:p>
          <a:p>
            <a:pPr algn="l"/>
            <a:br>
              <a:rPr lang="en-US" altLang="ko-KR" b="1"/>
            </a:br>
            <a:endParaRPr lang="en-US" altLang="ko-KR" b="1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9E0B18-A8C5-43B1-BB15-BF951AE2C40E}"/>
              </a:ext>
            </a:extLst>
          </p:cNvPr>
          <p:cNvSpPr/>
          <p:nvPr/>
        </p:nvSpPr>
        <p:spPr bwMode="auto">
          <a:xfrm>
            <a:off x="611560" y="1131590"/>
            <a:ext cx="4392488" cy="1296144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ko-KR" altLang="en-US" sz="1200" b="1"/>
              <a:t>파일읽기 예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file = open("./data/data.txt", encoding="utf8")</a:t>
            </a:r>
          </a:p>
          <a:p>
            <a:pPr algn="l"/>
            <a:r>
              <a:rPr lang="en-US" altLang="ko-KR" sz="1200" b="1" dirty="0"/>
              <a:t>data = </a:t>
            </a:r>
            <a:r>
              <a:rPr lang="en-US" altLang="ko-KR" sz="1200" b="1" dirty="0" err="1"/>
              <a:t>file.read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/>
              <a:t>print(data)</a:t>
            </a:r>
          </a:p>
          <a:p>
            <a:pPr algn="l"/>
            <a:r>
              <a:rPr lang="en-US" altLang="ko-KR" sz="1200" b="1" dirty="0" err="1"/>
              <a:t>file.close</a:t>
            </a:r>
            <a:r>
              <a:rPr lang="en-US" altLang="ko-KR" sz="12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62944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0" y="330305"/>
            <a:ext cx="4737287" cy="309314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file = open("./data/data.txt", encoding="utf8")</a:t>
            </a:r>
          </a:p>
          <a:p>
            <a:pPr algn="l"/>
            <a:r>
              <a:rPr lang="en-US" altLang="ko-KR" sz="1200" b="1" dirty="0"/>
              <a:t>data = </a:t>
            </a:r>
            <a:r>
              <a:rPr lang="en-US" altLang="ko-KR" sz="1200" b="1" dirty="0" err="1"/>
              <a:t>file.read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/>
              <a:t>print(data)</a:t>
            </a:r>
          </a:p>
          <a:p>
            <a:pPr algn="l"/>
            <a:r>
              <a:rPr lang="en-US" altLang="ko-KR" sz="1200" b="1" dirty="0" err="1"/>
              <a:t>file.close</a:t>
            </a:r>
            <a:r>
              <a:rPr lang="en-US" altLang="ko-KR" sz="1200" b="1" dirty="0"/>
              <a:t>()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#1)</a:t>
            </a:r>
            <a:r>
              <a:rPr lang="ko-KR" altLang="en-US" sz="1200" b="1" dirty="0"/>
              <a:t>토큰분리하기 </a:t>
            </a:r>
          </a:p>
          <a:p>
            <a:pPr algn="l"/>
            <a:r>
              <a:rPr lang="en-US" altLang="ko-KR" sz="1200" b="1" dirty="0"/>
              <a:t>tokens = </a:t>
            </a:r>
            <a:r>
              <a:rPr lang="en-US" altLang="ko-KR" sz="1200" b="1" dirty="0" err="1"/>
              <a:t>data.split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/>
              <a:t>print( </a:t>
            </a:r>
            <a:r>
              <a:rPr lang="en-US" altLang="ko-KR" sz="1200" b="1" dirty="0" err="1"/>
              <a:t>len</a:t>
            </a:r>
            <a:r>
              <a:rPr lang="en-US" altLang="ko-KR" sz="1200" b="1" dirty="0"/>
              <a:t>(tokens))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#2)Too </a:t>
            </a:r>
            <a:r>
              <a:rPr lang="ko-KR" altLang="en-US" sz="1200" b="1" dirty="0"/>
              <a:t>와 </a:t>
            </a:r>
            <a:r>
              <a:rPr lang="en-US" altLang="ko-KR" sz="1200" b="1" dirty="0"/>
              <a:t>Time </a:t>
            </a:r>
            <a:r>
              <a:rPr lang="ko-KR" altLang="en-US" sz="1200" b="1" dirty="0"/>
              <a:t>단어가 각각 </a:t>
            </a:r>
            <a:r>
              <a:rPr lang="ko-KR" altLang="en-US" sz="1200" b="1" dirty="0" err="1"/>
              <a:t>몇번</a:t>
            </a:r>
            <a:r>
              <a:rPr lang="ko-KR" altLang="en-US" sz="1200" b="1" dirty="0"/>
              <a:t> 등장했는지 </a:t>
            </a:r>
          </a:p>
          <a:p>
            <a:pPr algn="l"/>
            <a:r>
              <a:rPr lang="en-US" altLang="ko-KR" sz="1200" b="1" dirty="0"/>
              <a:t>print("Too </a:t>
            </a:r>
            <a:r>
              <a:rPr lang="ko-KR" altLang="en-US" sz="1200" b="1" dirty="0"/>
              <a:t>개수 </a:t>
            </a:r>
            <a:r>
              <a:rPr lang="en-US" altLang="ko-KR" sz="1200" b="1" dirty="0"/>
              <a:t>: ", </a:t>
            </a:r>
            <a:r>
              <a:rPr lang="en-US" altLang="ko-KR" sz="1200" b="1" dirty="0" err="1"/>
              <a:t>data.count</a:t>
            </a:r>
            <a:r>
              <a:rPr lang="en-US" altLang="ko-KR" sz="1200" b="1" dirty="0"/>
              <a:t>("Too"))</a:t>
            </a:r>
          </a:p>
          <a:p>
            <a:pPr algn="l"/>
            <a:r>
              <a:rPr lang="en-US" altLang="ko-KR" sz="1200" b="1" dirty="0"/>
              <a:t>print("Time </a:t>
            </a:r>
            <a:r>
              <a:rPr lang="ko-KR" altLang="en-US" sz="1200" b="1" dirty="0"/>
              <a:t>개수 </a:t>
            </a:r>
            <a:r>
              <a:rPr lang="en-US" altLang="ko-KR" sz="1200" b="1" dirty="0"/>
              <a:t>: ", </a:t>
            </a:r>
            <a:r>
              <a:rPr lang="en-US" altLang="ko-KR" sz="1200" b="1" dirty="0" err="1"/>
              <a:t>data.count</a:t>
            </a:r>
            <a:r>
              <a:rPr lang="en-US" altLang="ko-KR" sz="1200" b="1" dirty="0"/>
              <a:t>("Time"))</a:t>
            </a:r>
          </a:p>
          <a:p>
            <a:br>
              <a:rPr lang="en-US" altLang="ko-KR" b="1" dirty="0"/>
            </a:b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85022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9537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392798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sz="1200" b="1" dirty="0"/>
              <a:t>#3) who </a:t>
            </a:r>
            <a:r>
              <a:rPr lang="ko-KR" altLang="en-US" sz="1200" b="1" dirty="0"/>
              <a:t>등장 위치를 배열로 </a:t>
            </a:r>
          </a:p>
          <a:p>
            <a:pPr algn="l"/>
            <a:r>
              <a:rPr lang="en-US" altLang="ko-KR" sz="1200" b="1" dirty="0"/>
              <a:t>key = "who"</a:t>
            </a:r>
          </a:p>
          <a:p>
            <a:pPr algn="l"/>
            <a:r>
              <a:rPr lang="en-US" altLang="ko-KR" sz="1200" b="1" dirty="0"/>
              <a:t>pos = 0</a:t>
            </a:r>
          </a:p>
          <a:p>
            <a:pPr algn="l"/>
            <a:r>
              <a:rPr lang="en-US" altLang="ko-KR" sz="1200" b="1" dirty="0"/>
              <a:t>positions = list() </a:t>
            </a:r>
          </a:p>
          <a:p>
            <a:pPr algn="l"/>
            <a:r>
              <a:rPr lang="en-US" altLang="ko-KR" sz="1200" b="1" dirty="0"/>
              <a:t>while </a:t>
            </a:r>
            <a:r>
              <a:rPr lang="en-US" altLang="ko-KR" sz="1200" b="1" dirty="0" err="1"/>
              <a:t>data.count</a:t>
            </a:r>
            <a:r>
              <a:rPr lang="en-US" altLang="ko-KR" sz="1200" b="1" dirty="0"/>
              <a:t>(key, pos)!=0:</a:t>
            </a:r>
          </a:p>
          <a:p>
            <a:pPr algn="l"/>
            <a:r>
              <a:rPr lang="en-US" altLang="ko-KR" sz="1200" b="1" dirty="0"/>
              <a:t>    pos = </a:t>
            </a:r>
            <a:r>
              <a:rPr lang="en-US" altLang="ko-KR" sz="1200" b="1" dirty="0" err="1"/>
              <a:t>data.index</a:t>
            </a:r>
            <a:r>
              <a:rPr lang="en-US" altLang="ko-KR" sz="1200" b="1" dirty="0"/>
              <a:t>(key, pos)</a:t>
            </a:r>
          </a:p>
          <a:p>
            <a:pPr algn="l"/>
            <a:r>
              <a:rPr lang="en-US" altLang="ko-KR" sz="1200" b="1" dirty="0"/>
              <a:t>    </a:t>
            </a:r>
            <a:r>
              <a:rPr lang="en-US" altLang="ko-KR" sz="1200" b="1" dirty="0" err="1"/>
              <a:t>positions.append</a:t>
            </a:r>
            <a:r>
              <a:rPr lang="en-US" altLang="ko-KR" sz="1200" b="1" dirty="0"/>
              <a:t>(pos)</a:t>
            </a:r>
          </a:p>
          <a:p>
            <a:pPr algn="l"/>
            <a:r>
              <a:rPr lang="en-US" altLang="ko-KR" sz="1200" b="1" dirty="0"/>
              <a:t>    pos = pos + </a:t>
            </a:r>
            <a:r>
              <a:rPr lang="en-US" altLang="ko-KR" sz="1200" b="1" dirty="0" err="1"/>
              <a:t>len</a:t>
            </a:r>
            <a:r>
              <a:rPr lang="en-US" altLang="ko-KR" sz="1200" b="1" dirty="0"/>
              <a:t>(key)</a:t>
            </a:r>
          </a:p>
          <a:p>
            <a:pPr algn="l"/>
            <a:r>
              <a:rPr lang="en-US" altLang="ko-KR" sz="1200" b="1" dirty="0"/>
              <a:t>print(positions)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#4)</a:t>
            </a:r>
            <a:r>
              <a:rPr lang="ko-KR" altLang="en-US" sz="1200" b="1" dirty="0"/>
              <a:t>모든 토큰을 대문자로 바꾸어서 토큰의 번호</a:t>
            </a:r>
            <a:r>
              <a:rPr lang="en-US" altLang="ko-KR" sz="1200" b="1" dirty="0"/>
              <a:t>, </a:t>
            </a:r>
            <a:r>
              <a:rPr lang="ko-KR" altLang="en-US" sz="1200" b="1" dirty="0"/>
              <a:t>대문자로 전환한 토큰 출력하기 </a:t>
            </a:r>
          </a:p>
          <a:p>
            <a:pPr algn="l"/>
            <a:r>
              <a:rPr lang="en-US" altLang="ko-KR" sz="1200" b="1" dirty="0"/>
              <a:t>for 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, token in enumerate(tokens):</a:t>
            </a:r>
          </a:p>
          <a:p>
            <a:pPr algn="l"/>
            <a:r>
              <a:rPr lang="en-US" altLang="ko-KR" sz="1200" b="1" dirty="0"/>
              <a:t>    print(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token.upper</a:t>
            </a:r>
            <a:r>
              <a:rPr lang="en-US" altLang="ko-KR" sz="1200" b="1" dirty="0"/>
              <a:t>() )</a:t>
            </a:r>
          </a:p>
          <a:p>
            <a:pPr algn="l"/>
            <a:endParaRPr lang="en-US" altLang="ko-KR" sz="2000" b="1" dirty="0"/>
          </a:p>
          <a:p>
            <a:pPr algn="l"/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6E57A3-ECE8-48F5-9D73-318903B2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843558"/>
            <a:ext cx="2161803" cy="28286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568EE1-899A-4FC4-AB27-FB2333C25AA4}"/>
              </a:ext>
            </a:extLst>
          </p:cNvPr>
          <p:cNvSpPr txBox="1"/>
          <p:nvPr/>
        </p:nvSpPr>
        <p:spPr bwMode="auto">
          <a:xfrm>
            <a:off x="6228184" y="3813026"/>
            <a:ext cx="1941557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l"/>
            <a:r>
              <a:rPr lang="ko-KR" altLang="en-US" sz="1200" b="1" dirty="0">
                <a:latin typeface="+mn-ea"/>
                <a:ea typeface="+mn-ea"/>
              </a:rPr>
              <a:t>리스트가 너무 많아 생략 </a:t>
            </a:r>
          </a:p>
        </p:txBody>
      </p:sp>
    </p:spTree>
    <p:extLst>
      <p:ext uri="{BB962C8B-B14F-4D97-AF65-F5344CB8AC3E}">
        <p14:creationId xmlns:p14="http://schemas.microsoft.com/office/powerpoint/2010/main" val="740159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547161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문제풀기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920576"/>
            <a:ext cx="8490292" cy="168121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연산의 수행 결과는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x1 = “123”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x2 = “456”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result = x1  + x2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39552" y="1927078"/>
            <a:ext cx="6283696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228600" indent="-228600" algn="l">
              <a:lnSpc>
                <a:spcPct val="150000"/>
              </a:lnSpc>
              <a:buAutoNum type="circleNumDbPlain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123456        </a:t>
            </a:r>
          </a:p>
          <a:p>
            <a:pPr marL="228600" indent="-228600" algn="l">
              <a:lnSpc>
                <a:spcPct val="150000"/>
              </a:lnSpc>
              <a:buAutoNum type="circleNumDbPlain" startAt="2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579 </a:t>
            </a:r>
          </a:p>
          <a:p>
            <a:pPr marL="228600" indent="-228600" algn="l">
              <a:lnSpc>
                <a:spcPct val="150000"/>
              </a:lnSpc>
              <a:buAutoNum type="circleNumDbPlain" startAt="2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예외발생 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   142536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55576" y="2904444"/>
            <a:ext cx="6642614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1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문자열간의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연산은 문자열을 덧붙인다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난이도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5(1: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아주어려움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2: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어려움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쉬움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쉬움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관련페이지번호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8</a:t>
            </a:r>
          </a:p>
        </p:txBody>
      </p:sp>
    </p:spTree>
    <p:extLst>
      <p:ext uri="{BB962C8B-B14F-4D97-AF65-F5344CB8AC3E}">
        <p14:creationId xmlns:p14="http://schemas.microsoft.com/office/powerpoint/2010/main" val="3000450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07634"/>
              </p:ext>
            </p:extLst>
          </p:nvPr>
        </p:nvGraphicFramePr>
        <p:xfrm>
          <a:off x="107504" y="51470"/>
          <a:ext cx="8749636" cy="50882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82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</a:t>
                      </a:r>
                      <a:endParaRPr kumimoji="1" lang="en-US" altLang="ko-KR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7847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디음처럼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문장이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있을때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 결과를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작성하시오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 = “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DeepLearning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”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print(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s[4:] 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Learning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번쩨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데이터부터 슬라이딩이므로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Learning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된다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6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다중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에러가 발생하는 부분은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 = “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machineLearning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”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s[0]=“M”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s2 = “M” + s2[:1]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s2 = s[0] + s[1] + s[2] + s[3[ + s[4]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s2 = “machine”*2 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인덱스를 이용해서 데이터를 수정할 수 없습니다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6012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 프로그램의 수행 결과는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 = “{1} {3} {0} {2}”.format(1,2,3,4)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print(s)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1) 1 2 3 4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2) 3 2 1 4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3) 2 4 1 3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4) 4 3 2 1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{1} {3} {0} {2}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format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함수에 전달되는 인자들의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위치값입니다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1 -0, 2 -1, 3-2, 4-3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 해당됩니다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그래서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2 4 1 3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결과가 나옵니다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7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428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661141"/>
              </p:ext>
            </p:extLst>
          </p:nvPr>
        </p:nvGraphicFramePr>
        <p:xfrm>
          <a:off x="107504" y="51470"/>
          <a:ext cx="8749636" cy="47219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0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419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토큰을 분리하려고 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 중 적당한 함수는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index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isdecimal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strip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split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AutoNum type="arabicParenR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토큰을 분리하기 위해서는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split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함수를 사용합니다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120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다음처럼 토큰 리스트가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있을때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모든 토큰을 결합사여 하나의 문자열로 만들 수 있는 함수는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msg = [“I”, “like”, “star”]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join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append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concatenation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79159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join 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함수를 이용해서 토큰들을 하나로 묶을 수 있습니다 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47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None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 단어를 대문자로 출력하고자 합니다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적절한 함수는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capital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upper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lower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capitalize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79159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대문자로 변환하는 함수는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upper 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입니다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223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60654"/>
              </p:ext>
            </p:extLst>
          </p:nvPr>
        </p:nvGraphicFramePr>
        <p:xfrm>
          <a:off x="107504" y="51471"/>
          <a:ext cx="8749636" cy="421252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06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99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 프로그램의 수행 결과는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 = “    My name is Tom    ”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print ( “*” +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s.lstrip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() + “*” )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AutoNum type="arabicParenR"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*My name is Tom  *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AutoNum type="arabicParenR"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 My name is Tom  *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AutoNum type="arabicParenR"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*My name is Tom*</a:t>
                      </a: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AutoNum type="arabicParenR"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MynameisTom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lstrip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함수는 문자열 왼쪽의 공백을 삭제해줍니다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448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s1 =   “35”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s2 =   “120”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result = (                                         )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일때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연산의 결과가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155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 나오려면 어떻게 해야 하는지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비어있는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공간의 코드를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완성하시오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int(s1)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int(s2)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문자열의 경우 먼저 정수형태로 전환을 해야 한다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정수 전환 연산자는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int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952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처럼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데이터가 출력되길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원할때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올바른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format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방법은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00001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00002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00003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00004     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{                            } 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이부분에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포맷팅을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완성하세요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:05d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{:05d}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 :05d}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정수 출력을 위한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개의 자리를 잡고 나머지 빈자리를 지정한 문자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채우시오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7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204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핵심요약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703720"/>
            <a:ext cx="8562300" cy="260454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문자열은 인덱싱과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접근하거나 추출한다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인덱싱을 이용하거나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 데이터를 추출할 수 있지만 데이터의 수정은 불가능하다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인덱싱과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추출한 문자열과 다른 문자열을 결합하여 새로운 문자열을 만들 수 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index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서브문자열의 위치를 알려주는 함수지만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문자열이 없을 경우 예외를 발생한다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상에서 실제로 적용할 경우에는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count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이용해 단어가 존재하는지 확인하거나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연산자를 이용해서 확인한 후 사용해야 한다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포매팅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(%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forma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다양한 데이터들을 하나의 문자열로 만들어 출력을 아름답게 꾸밀 수 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가급적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format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사용하자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▶문자열 처리 함수들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문자열이 숫자만으로 구성되었는지 확인하는 함수에는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isdigit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isdecimal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isnumeric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함수가 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 양쪽의 쓸데 없는 공백을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제거하가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위해서는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strip(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양쪽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lstrip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왼쪽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rstrip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오른쪽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사용한다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9502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1520" y="476444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학습맺음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74196" y="849859"/>
            <a:ext cx="4610537" cy="296225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이번 회차에서는 문자열과 문자열을 처리하는 함수들에 대해서 살펴보았습니다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51520" y="2259508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참고자료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74196" y="2632923"/>
            <a:ext cx="4950374" cy="987055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https://docs.anaconda.com/anaconda/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hlinkClick r:id="rId2"/>
              </a:rPr>
              <a:t>https://code.visualstudio.com/docs/getstarted/themes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hlinkClick r:id="rId3"/>
              </a:rPr>
              <a:t>https://pandas.pydata.org/pandas-docs/stable/getting_started/tutorials.htm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hlinkClick r:id="rId4"/>
              </a:rPr>
              <a:t>https://wikidocs.net/13#join</a:t>
            </a:r>
            <a:r>
              <a:rPr lang="en-US" altLang="ko-KR" sz="1000" dirty="0">
                <a:hlinkClick r:id="rId3"/>
              </a:rPr>
              <a:t>l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334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회차</a:t>
            </a:r>
            <a:r>
              <a:rPr lang="ko-KR" altLang="en-US" dirty="0"/>
              <a:t> 메타데이터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996887"/>
              </p:ext>
            </p:extLst>
          </p:nvPr>
        </p:nvGraphicFramePr>
        <p:xfrm>
          <a:off x="363732" y="1071585"/>
          <a:ext cx="8496943" cy="94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8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주요학습내용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검색 키워드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검색 키워드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검색 키워드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검색 키워드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검색 키워드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73">
                <a:tc>
                  <a:txBody>
                    <a:bodyPr/>
                    <a:lstStyle/>
                    <a:p>
                      <a:pPr marL="0" algn="l" defTabSz="779159" rtl="0" eaLnBrk="1" latinLnBrk="1" hangingPunct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ko-KR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문자열 처리와 그룹연산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문자열과 문자열 처리함수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join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>
                          <a:solidFill>
                            <a:schemeClr val="tx1"/>
                          </a:solidFill>
                        </a:rPr>
                        <a:t>splite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strip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72651" y="491469"/>
            <a:ext cx="7430219" cy="553988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주요학습내용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또는 레슨의 주요학습내용을 자세히 기입해 주세요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 키워드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학습자가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검색창에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어떤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검색어를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입력하면 본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또는 본 레슨이 검색될 수 있을지 검색 키워드를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 기입해 주세요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55025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rgbClr val="FF0000"/>
          </a:solidFill>
          <a:headEnd type="none" w="med" len="med"/>
          <a:tailEnd type="triangle" w="med" len="med"/>
        </a:ln>
        <a:effectLst/>
      </a:spPr>
      <a:bodyPr rtlCol="0" anchor="ctr"/>
      <a:lstStyle>
        <a:defPPr marL="0" algn="l">
          <a:defRPr dirty="0" smtClean="0">
            <a:solidFill>
              <a:sysClr val="windowText" lastClr="000000"/>
            </a:solidFill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>
        <a:ln>
          <a:solidFill>
            <a:schemeClr val="tx1">
              <a:lumMod val="85000"/>
              <a:lumOff val="15000"/>
            </a:schemeClr>
          </a:solidFill>
          <a:headEnd type="none" w="med" len="med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</a:spPr>
      <a:bodyPr wrap="square" rtlCol="0" anchor="t">
        <a:spAutoFit/>
      </a:bodyPr>
      <a:lstStyle>
        <a:defPPr algn="l">
          <a:defRPr sz="1800" b="1" dirty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86647</TotalTime>
  <Words>2768</Words>
  <Application>Microsoft Office PowerPoint</Application>
  <PresentationFormat>화면 슬라이드 쇼(16:9)</PresentationFormat>
  <Paragraphs>907</Paragraphs>
  <Slides>41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나눔고딕</vt:lpstr>
      <vt:lpstr>돋움</vt:lpstr>
      <vt:lpstr>맑은 고딕</vt:lpstr>
      <vt:lpstr>Arial</vt:lpstr>
      <vt:lpstr>Calibri</vt:lpstr>
      <vt:lpstr>Cambria</vt:lpstr>
      <vt:lpstr>디자인 사용자 지정</vt:lpstr>
      <vt:lpstr>PowerPoint 프레젠테이션</vt:lpstr>
      <vt:lpstr>학습 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회차 메타데이터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user</cp:lastModifiedBy>
  <cp:revision>4925</cp:revision>
  <cp:lastPrinted>2015-05-26T08:39:57Z</cp:lastPrinted>
  <dcterms:created xsi:type="dcterms:W3CDTF">2004-07-08T01:15:15Z</dcterms:created>
  <dcterms:modified xsi:type="dcterms:W3CDTF">2019-09-24T08:35:28Z</dcterms:modified>
</cp:coreProperties>
</file>