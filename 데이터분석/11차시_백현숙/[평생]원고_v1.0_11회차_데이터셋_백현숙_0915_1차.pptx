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handoutMasterIdLst>
    <p:handoutMasterId r:id="rId43"/>
  </p:handoutMasterIdLst>
  <p:sldIdLst>
    <p:sldId id="1127" r:id="rId2"/>
    <p:sldId id="1131" r:id="rId3"/>
    <p:sldId id="1141" r:id="rId4"/>
    <p:sldId id="1195" r:id="rId5"/>
    <p:sldId id="1439" r:id="rId6"/>
    <p:sldId id="1412" r:id="rId7"/>
    <p:sldId id="1440" r:id="rId8"/>
    <p:sldId id="1441" r:id="rId9"/>
    <p:sldId id="1415" r:id="rId10"/>
    <p:sldId id="1416" r:id="rId11"/>
    <p:sldId id="1429" r:id="rId12"/>
    <p:sldId id="1417" r:id="rId13"/>
    <p:sldId id="1418" r:id="rId14"/>
    <p:sldId id="1430" r:id="rId15"/>
    <p:sldId id="1419" r:id="rId16"/>
    <p:sldId id="1423" r:id="rId17"/>
    <p:sldId id="1436" r:id="rId18"/>
    <p:sldId id="1438" r:id="rId19"/>
    <p:sldId id="1431" r:id="rId20"/>
    <p:sldId id="1424" r:id="rId21"/>
    <p:sldId id="1432" r:id="rId22"/>
    <p:sldId id="1425" r:id="rId23"/>
    <p:sldId id="1426" r:id="rId24"/>
    <p:sldId id="1435" r:id="rId25"/>
    <p:sldId id="1433" r:id="rId26"/>
    <p:sldId id="1427" r:id="rId27"/>
    <p:sldId id="1420" r:id="rId28"/>
    <p:sldId id="1421" r:id="rId29"/>
    <p:sldId id="1344" r:id="rId30"/>
    <p:sldId id="1442" r:id="rId31"/>
    <p:sldId id="1443" r:id="rId32"/>
    <p:sldId id="1406" r:id="rId33"/>
    <p:sldId id="1444" r:id="rId34"/>
    <p:sldId id="1445" r:id="rId35"/>
    <p:sldId id="1132" r:id="rId36"/>
    <p:sldId id="1410" r:id="rId37"/>
    <p:sldId id="1394" r:id="rId38"/>
    <p:sldId id="1411" r:id="rId39"/>
    <p:sldId id="1135" r:id="rId40"/>
    <p:sldId id="1134" r:id="rId41"/>
  </p:sldIdLst>
  <p:sldSz cx="9144000" cy="5143500" type="screen16x9"/>
  <p:notesSz cx="6735763" cy="9866313"/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305">
          <p15:clr>
            <a:srgbClr val="A4A3A4"/>
          </p15:clr>
        </p15:guide>
        <p15:guide id="4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ung" initials="S" lastIdx="13" clrIdx="0">
    <p:extLst>
      <p:ext uri="{19B8F6BF-5375-455C-9EA6-DF929625EA0E}">
        <p15:presenceInfo xmlns:p15="http://schemas.microsoft.com/office/powerpoint/2012/main" userId="Sams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8000"/>
    <a:srgbClr val="180DFB"/>
    <a:srgbClr val="FFCCCC"/>
    <a:srgbClr val="FFFFFF"/>
    <a:srgbClr val="E46C0A"/>
    <a:srgbClr val="215968"/>
    <a:srgbClr val="BFBFBF"/>
    <a:srgbClr val="FF3300"/>
    <a:srgbClr val="B3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40" autoAdjust="0"/>
    <p:restoredTop sz="86151" autoAdjust="0"/>
  </p:normalViewPr>
  <p:slideViewPr>
    <p:cSldViewPr>
      <p:cViewPr varScale="1">
        <p:scale>
          <a:sx n="114" d="100"/>
          <a:sy n="114" d="100"/>
        </p:scale>
        <p:origin x="115" y="67"/>
      </p:cViewPr>
      <p:guideLst>
        <p:guide orient="horz"/>
        <p:guide/>
        <p:guide orient="horz" pos="305"/>
        <p:guide pos="34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954" y="-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2020-11-25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39552" y="54900"/>
            <a:ext cx="8340531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>
              <a:defRPr sz="2400" b="1" i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92265" y="5147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◈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5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9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155120" cy="579120"/>
          </a:xfrm>
          <a:prstGeom prst="rect">
            <a:avLst/>
          </a:prstGeom>
          <a:pattFill prst="wdUpDiag">
            <a:fgClr>
              <a:schemeClr val="accent4">
                <a:lumMod val="75000"/>
              </a:schemeClr>
            </a:fgClr>
            <a:bgClr>
              <a:schemeClr val="accent4">
                <a:lumMod val="50000"/>
              </a:schemeClr>
            </a:bgClr>
          </a:patt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 bwMode="auto">
          <a:xfrm>
            <a:off x="0" y="579120"/>
            <a:ext cx="9155120" cy="4565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755576" y="67964"/>
            <a:ext cx="8159824" cy="428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ko-KR" altLang="en-US" sz="24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251520" y="7433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800" dirty="0">
                <a:solidFill>
                  <a:schemeClr val="bg1"/>
                </a:solidFill>
              </a:rPr>
              <a:t>◈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9"/>
          <p:cNvSpPr>
            <a:spLocks noChangeArrowheads="1"/>
          </p:cNvSpPr>
          <p:nvPr userDrawn="1"/>
        </p:nvSpPr>
        <p:spPr bwMode="auto">
          <a:xfrm>
            <a:off x="25257" y="253583"/>
            <a:ext cx="9083247" cy="39023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19"/>
          <p:cNvSpPr>
            <a:spLocks noChangeArrowheads="1"/>
          </p:cNvSpPr>
          <p:nvPr userDrawn="1"/>
        </p:nvSpPr>
        <p:spPr bwMode="auto">
          <a:xfrm>
            <a:off x="219938" y="4155926"/>
            <a:ext cx="8901538" cy="9570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Rectangle 19"/>
          <p:cNvSpPr>
            <a:spLocks noChangeArrowheads="1"/>
          </p:cNvSpPr>
          <p:nvPr userDrawn="1"/>
        </p:nvSpPr>
        <p:spPr bwMode="auto">
          <a:xfrm>
            <a:off x="25259" y="4155874"/>
            <a:ext cx="290650" cy="957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30" tIns="45715" rIns="72000" bIns="45715" anchor="ctr"/>
          <a:lstStyle/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션</a:t>
            </a:r>
            <a:endParaRPr kumimoji="0" lang="ko-KR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Rectangle 22"/>
          <p:cNvSpPr>
            <a:spLocks noChangeArrowheads="1"/>
          </p:cNvSpPr>
          <p:nvPr userDrawn="1"/>
        </p:nvSpPr>
        <p:spPr bwMode="auto">
          <a:xfrm>
            <a:off x="25257" y="19025"/>
            <a:ext cx="386422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과정명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Rectangle 22"/>
          <p:cNvSpPr>
            <a:spLocks noChangeArrowheads="1"/>
          </p:cNvSpPr>
          <p:nvPr userDrawn="1"/>
        </p:nvSpPr>
        <p:spPr bwMode="auto">
          <a:xfrm>
            <a:off x="5917292" y="19025"/>
            <a:ext cx="3204184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22"/>
          <p:cNvSpPr>
            <a:spLocks noChangeArrowheads="1"/>
          </p:cNvSpPr>
          <p:nvPr userDrawn="1"/>
        </p:nvSpPr>
        <p:spPr bwMode="auto">
          <a:xfrm>
            <a:off x="409428" y="19025"/>
            <a:ext cx="2434379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 latinLnBrk="1"/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22"/>
          <p:cNvSpPr>
            <a:spLocks noChangeArrowheads="1"/>
          </p:cNvSpPr>
          <p:nvPr userDrawn="1"/>
        </p:nvSpPr>
        <p:spPr bwMode="auto">
          <a:xfrm>
            <a:off x="3226326" y="19025"/>
            <a:ext cx="2308448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latinLnBrk="1"/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Rectangle 22"/>
          <p:cNvSpPr>
            <a:spLocks noChangeArrowheads="1"/>
          </p:cNvSpPr>
          <p:nvPr userDrawn="1"/>
        </p:nvSpPr>
        <p:spPr bwMode="auto">
          <a:xfrm>
            <a:off x="2843808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모듈명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22"/>
          <p:cNvSpPr>
            <a:spLocks noChangeArrowheads="1"/>
          </p:cNvSpPr>
          <p:nvPr userDrawn="1"/>
        </p:nvSpPr>
        <p:spPr bwMode="auto">
          <a:xfrm>
            <a:off x="5534774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2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389580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9159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8738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8317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92184" indent="-29218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067" indent="-24348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394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52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107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686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265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1844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423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58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59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738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31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789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476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05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63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getting_started/tutorials.html" TargetMode="External"/><Relationship Id="rId2" Type="http://schemas.openxmlformats.org/officeDocument/2006/relationships/hyperlink" Target="https://code.visualstudio.com/docs/getstarted/them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6"/>
          <p:cNvSpPr txBox="1">
            <a:spLocks noChangeArrowheads="1"/>
          </p:cNvSpPr>
          <p:nvPr/>
        </p:nvSpPr>
        <p:spPr bwMode="auto">
          <a:xfrm>
            <a:off x="323528" y="4271830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학습자가 학습 화면에 구성한 내용을 보고 있다고 가정하고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설명으로 함께 들어야 할 음성 내용을 자세하게 기입해 주세요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이건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?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저도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이런건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나래이션하면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좋겠어요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..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ㅜㅜ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endParaRPr lang="ko-KR" altLang="en-US" sz="800" b="1" dirty="0">
              <a:solidFill>
                <a:srgbClr val="008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학습열기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74905" y="771550"/>
            <a:ext cx="8890555" cy="1681219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어떤 방법으로 수집하던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크롤링이던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공공포털에서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가지고 오던지 아니면 실무자들로부터 가져오던지 설문을 통해 가져오던지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응답과정이나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수집과정에서 데이터가 누락되거나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이상치가 발생하곤 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이상치란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수집과정에서 잘못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입려된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 일수도 있고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예를들면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단위로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수집해야 하는데 일부는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일부는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inch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단위라 단위불일치로 인한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오류뿐만아니라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통계에서는 특정 값이 지나치게 크거나 낮을 경우에도 이를 이상치로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취급합니다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예를들어서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집단의 연봉 평균을 보려고 하는데 대부분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5000~6000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사이인데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그중에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연봉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억이 추가되어서 평균값을 계산한다면 집단에 대한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평가가 상당히 왜곡되어서 나타납니다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물론 집단의 구성원이 충분히 많아서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억을 상쇄하고 남을 정도라면 상관없지만 집단에 구성원이 작아서 결과를 왜곡하게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된다면 연봉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억도 이상치가 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 장에서는 누락된 값이나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이상치등을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제거하여 데이터 분석 결과의 오차를 방지하는 방법에 대해서 살펴보도록 하겠습니다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866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6916" y="625122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학습내용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76916" y="212255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학습목표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99592" y="998537"/>
            <a:ext cx="5832648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변환과 정제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99592" y="2495971"/>
            <a:ext cx="4896544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누락치및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이상치를 제거할 수 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타입을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변환할수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있으며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구간나누기등을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문자열 자료형을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범주형자료형으로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변경할 수 있고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할 수 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49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4125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데이터프레임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2744642" cy="37778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누락데이터 처리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이상데이터 처리</a:t>
            </a: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400131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906585" cy="41857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데이터의 누락은 전체 예측결과에 많은 영향을 미칩니다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예측력이 높고 신뢰성 있는 결과를 얻으려면 누락된 데이터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중복된 데이터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이상치 데이터에 대한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바른 처리를 해야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프레임에는 데이터가 누락될 경우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number)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표기됩니다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분석시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보통 데이터의 크기는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수십만건에서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수백만건이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되기도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엑셀등의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프로그램에서 데이터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터를 눈으로 확인해서 오류가 있는 데이터를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검증해내는것은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거의 불가능에 가깝습니다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그래서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다양한 라이브러리와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함수등을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누락되거나 특정 범위를 벗어나는 데이터에 대한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처리방법에 대해서 알아보겠습니다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7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10853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isnull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데이터가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아니면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False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반환한다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122FB8-369A-4291-9BEB-A5410FC6E867}"/>
              </a:ext>
            </a:extLst>
          </p:cNvPr>
          <p:cNvSpPr/>
          <p:nvPr/>
        </p:nvSpPr>
        <p:spPr bwMode="auto">
          <a:xfrm>
            <a:off x="454892" y="1345928"/>
            <a:ext cx="4045099" cy="1153813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br>
              <a:rPr lang="en-US" altLang="ko-KR" b="1" dirty="0"/>
            </a:br>
            <a:r>
              <a:rPr lang="en-US" altLang="ko-KR" sz="1000" b="1" dirty="0"/>
              <a:t>import pandas as pd </a:t>
            </a:r>
          </a:p>
          <a:p>
            <a:pPr algn="l"/>
            <a:r>
              <a:rPr lang="en-US" altLang="ko-KR" sz="1000" b="1" dirty="0"/>
              <a:t>import </a:t>
            </a:r>
            <a:r>
              <a:rPr lang="en-US" altLang="ko-KR" sz="1000" b="1" dirty="0" err="1"/>
              <a:t>numpy</a:t>
            </a:r>
            <a:r>
              <a:rPr lang="en-US" altLang="ko-KR" sz="1000" b="1" dirty="0"/>
              <a:t> as np </a:t>
            </a:r>
          </a:p>
          <a:p>
            <a:pPr algn="l"/>
            <a:br>
              <a:rPr lang="en-US" altLang="ko-KR" sz="1000" b="1" dirty="0"/>
            </a:br>
            <a:r>
              <a:rPr lang="en-US" altLang="ko-KR" sz="1000" b="1" dirty="0"/>
              <a:t>#nan </a:t>
            </a:r>
            <a:r>
              <a:rPr lang="ko-KR" altLang="en-US" sz="1000" b="1" dirty="0"/>
              <a:t>은 </a:t>
            </a:r>
            <a:r>
              <a:rPr lang="en-US" altLang="ko-KR" sz="1000" b="1" dirty="0" err="1"/>
              <a:t>numpy</a:t>
            </a:r>
            <a:r>
              <a:rPr lang="ko-KR" altLang="en-US" sz="1000" b="1" dirty="0"/>
              <a:t>를 사용해 직접 입력 가능하다</a:t>
            </a:r>
          </a:p>
          <a:p>
            <a:pPr algn="l"/>
            <a:r>
              <a:rPr lang="en-US" altLang="ko-KR" sz="1000" b="1" dirty="0"/>
              <a:t>s = </a:t>
            </a:r>
            <a:r>
              <a:rPr lang="en-US" altLang="ko-KR" sz="1000" b="1" dirty="0" err="1"/>
              <a:t>pd.Series</a:t>
            </a:r>
            <a:r>
              <a:rPr lang="en-US" altLang="ko-KR" sz="1000" b="1" dirty="0"/>
              <a:t>([1,2,3,4,np.nan])</a:t>
            </a:r>
          </a:p>
          <a:p>
            <a:pPr algn="l"/>
            <a:r>
              <a:rPr lang="en-US" altLang="ko-KR" sz="1000" b="1" dirty="0"/>
              <a:t>print( </a:t>
            </a:r>
            <a:r>
              <a:rPr lang="en-US" altLang="ko-KR" sz="1000" b="1" dirty="0" err="1"/>
              <a:t>s.isnull</a:t>
            </a:r>
            <a:r>
              <a:rPr lang="en-US" altLang="ko-KR" sz="1000" b="1" dirty="0"/>
              <a:t>() )</a:t>
            </a:r>
          </a:p>
          <a:p>
            <a:pPr algn="l"/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ADC7B2-C064-46FD-A760-B106AEB56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370930"/>
            <a:ext cx="1200150" cy="10568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4733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32397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sum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인자들의 합계를 반환하는데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isnull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결과값에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sum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사용하면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True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개수를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반환한다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122FB8-369A-4291-9BEB-A5410FC6E867}"/>
              </a:ext>
            </a:extLst>
          </p:cNvPr>
          <p:cNvSpPr/>
          <p:nvPr/>
        </p:nvSpPr>
        <p:spPr bwMode="auto">
          <a:xfrm>
            <a:off x="526901" y="1779662"/>
            <a:ext cx="4045099" cy="15841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br>
              <a:rPr lang="en-US" altLang="ko-KR" b="1" dirty="0"/>
            </a:br>
            <a:r>
              <a:rPr lang="en-US" altLang="ko-KR" sz="1200" b="1" dirty="0"/>
              <a:t>import pandas as pd </a:t>
            </a:r>
          </a:p>
          <a:p>
            <a:pPr algn="l"/>
            <a:r>
              <a:rPr lang="en-US" altLang="ko-KR" sz="1200" b="1" dirty="0"/>
              <a:t>import </a:t>
            </a:r>
            <a:r>
              <a:rPr lang="en-US" altLang="ko-KR" sz="1200" b="1" dirty="0" err="1"/>
              <a:t>numpy</a:t>
            </a:r>
            <a:r>
              <a:rPr lang="en-US" altLang="ko-KR" sz="1200" b="1" dirty="0"/>
              <a:t> as np 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#nan </a:t>
            </a:r>
            <a:r>
              <a:rPr lang="ko-KR" altLang="en-US" sz="1200" b="1" dirty="0"/>
              <a:t>은 </a:t>
            </a:r>
            <a:r>
              <a:rPr lang="en-US" altLang="ko-KR" sz="1200" b="1" dirty="0" err="1"/>
              <a:t>numpy</a:t>
            </a:r>
            <a:r>
              <a:rPr lang="ko-KR" altLang="en-US" sz="1200" b="1" dirty="0"/>
              <a:t>를 사용해 직접 입력 가능하다</a:t>
            </a:r>
          </a:p>
          <a:p>
            <a:pPr algn="l"/>
            <a:r>
              <a:rPr lang="en-US" altLang="ko-KR" sz="1200" b="1" dirty="0"/>
              <a:t>s = </a:t>
            </a:r>
            <a:r>
              <a:rPr lang="en-US" altLang="ko-KR" sz="1200" b="1" dirty="0" err="1"/>
              <a:t>pd.Series</a:t>
            </a:r>
            <a:r>
              <a:rPr lang="en-US" altLang="ko-KR" sz="1200" b="1" dirty="0"/>
              <a:t>([1,2,3,4,np.nan])</a:t>
            </a:r>
          </a:p>
          <a:p>
            <a:pPr algn="l"/>
            <a:r>
              <a:rPr lang="en-US" altLang="ko-KR" sz="1200" b="1" dirty="0"/>
              <a:t>print( </a:t>
            </a:r>
            <a:r>
              <a:rPr lang="en-US" altLang="ko-KR" sz="1200" b="1" dirty="0" err="1"/>
              <a:t>s.isnull</a:t>
            </a:r>
            <a:r>
              <a:rPr lang="en-US" altLang="ko-KR" sz="1200" b="1" dirty="0"/>
              <a:t>() )</a:t>
            </a:r>
          </a:p>
          <a:p>
            <a:pPr algn="l"/>
            <a:r>
              <a:rPr lang="en-US" altLang="ko-KR" sz="1200" b="1" dirty="0"/>
              <a:t>print( "</a:t>
            </a:r>
            <a:r>
              <a:rPr lang="en-US" altLang="ko-KR" sz="1200" b="1" dirty="0" err="1"/>
              <a:t>NaN</a:t>
            </a:r>
            <a:r>
              <a:rPr lang="en-US" altLang="ko-KR" sz="1200" b="1" dirty="0"/>
              <a:t> </a:t>
            </a:r>
            <a:r>
              <a:rPr lang="ko-KR" altLang="en-US" sz="1200" b="1" dirty="0"/>
              <a:t>값 개수 </a:t>
            </a:r>
            <a:r>
              <a:rPr lang="en-US" altLang="ko-KR" sz="1200" b="1" dirty="0"/>
              <a:t>",  </a:t>
            </a:r>
            <a:r>
              <a:rPr lang="en-US" altLang="ko-KR" sz="1200" b="1" dirty="0" err="1"/>
              <a:t>s.isnull</a:t>
            </a:r>
            <a:r>
              <a:rPr lang="en-US" altLang="ko-KR" sz="1200" b="1" dirty="0"/>
              <a:t>().sum() )</a:t>
            </a:r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1B2A7C-16BA-4CB6-A812-3D655768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003798"/>
            <a:ext cx="1371600" cy="219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771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504752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dropna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DataFrame.dropna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(self, axis=0, how='any', thresh=None, subset=None,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inplace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=False)[source]</a:t>
            </a: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subset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지정한 필드들에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값이 있는 행을 삭제한다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inplace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=True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지정하면 자신의 데이터가 수정된다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 지정방법은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list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형태이다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subset=[‘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1’, 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2’]</a:t>
            </a: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thresh : int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 이 필드에서 부여한 개수만큼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이 없는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행이나 열을 삭제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how : any, all any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경우 행이나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컬럼값중에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하나라도 있으면 행이나 열을 삭제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all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경우 행이나 컬럼의 값들이 모두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있을때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행이나 컬럼을 삭제합니다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axis : 0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행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열을 지칭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삭제할 방향을 지시한다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98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849982" cy="332397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b="1" dirty="0" err="1"/>
              <a:t>reset_index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인덱스를 재지정합니다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 필드를 추가하도록 되어 있으므로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drop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옵션을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지정해야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D4BE6-38DE-4F64-B16F-D8D948B0BE51}"/>
              </a:ext>
            </a:extLst>
          </p:cNvPr>
          <p:cNvSpPr/>
          <p:nvPr/>
        </p:nvSpPr>
        <p:spPr bwMode="auto">
          <a:xfrm>
            <a:off x="2339752" y="1491630"/>
            <a:ext cx="4392488" cy="1800200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br>
              <a:rPr lang="en-US" altLang="ko-KR" b="1"/>
            </a:br>
            <a:r>
              <a:rPr lang="en-US" altLang="ko-KR" b="1"/>
              <a:t>import pandas as pd </a:t>
            </a:r>
          </a:p>
          <a:p>
            <a:pPr algn="l"/>
            <a:r>
              <a:rPr lang="en-US" altLang="ko-KR" b="1"/>
              <a:t>import numpy as np </a:t>
            </a:r>
          </a:p>
          <a:p>
            <a:pPr algn="l"/>
            <a:br>
              <a:rPr lang="en-US" altLang="ko-KR" b="1"/>
            </a:br>
            <a:r>
              <a:rPr lang="en-US" altLang="ko-KR" b="1"/>
              <a:t>#nan </a:t>
            </a:r>
            <a:r>
              <a:rPr lang="ko-KR" altLang="en-US" b="1"/>
              <a:t>은 </a:t>
            </a:r>
            <a:r>
              <a:rPr lang="en-US" altLang="ko-KR" b="1"/>
              <a:t>numpy</a:t>
            </a:r>
            <a:r>
              <a:rPr lang="ko-KR" altLang="en-US" b="1"/>
              <a:t>를 사용해 직접 입력 가능하다</a:t>
            </a:r>
          </a:p>
          <a:p>
            <a:pPr algn="l"/>
            <a:r>
              <a:rPr lang="en-US" altLang="ko-KR" b="1"/>
              <a:t>s = pd.Series([1,2,3,4,np.nan])</a:t>
            </a:r>
          </a:p>
          <a:p>
            <a:pPr algn="l"/>
            <a:br>
              <a:rPr lang="en-US" altLang="ko-KR" b="1"/>
            </a:br>
            <a:r>
              <a:rPr lang="en-US" altLang="ko-KR" b="1"/>
              <a:t>data = s.dropna(how='any', axis=0)</a:t>
            </a:r>
          </a:p>
          <a:p>
            <a:pPr algn="l"/>
            <a:r>
              <a:rPr lang="en-US" altLang="ko-KR" b="1"/>
              <a:t>print(data)</a:t>
            </a:r>
          </a:p>
          <a:p>
            <a:pPr algn="l"/>
            <a:br>
              <a:rPr lang="en-US" altLang="ko-KR" b="1"/>
            </a:br>
            <a:r>
              <a:rPr lang="en-US" altLang="ko-KR" b="1"/>
              <a:t>data = data.reset_index(drop=True)</a:t>
            </a:r>
          </a:p>
        </p:txBody>
      </p:sp>
    </p:spTree>
    <p:extLst>
      <p:ext uri="{BB962C8B-B14F-4D97-AF65-F5344CB8AC3E}">
        <p14:creationId xmlns:p14="http://schemas.microsoft.com/office/powerpoint/2010/main" val="209661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464390" cy="3508643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exam11_1.py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import pandas as pd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#header</a:t>
            </a:r>
            <a:r>
              <a:rPr lang="ko-KR" altLang="en-US" b="1" dirty="0"/>
              <a:t>가 </a:t>
            </a:r>
            <a:r>
              <a:rPr lang="en-US" altLang="ko-KR" b="1" dirty="0"/>
              <a:t>3</a:t>
            </a:r>
            <a:r>
              <a:rPr lang="ko-KR" altLang="en-US" b="1" dirty="0"/>
              <a:t>번째 줄에 있음 </a:t>
            </a:r>
          </a:p>
          <a:p>
            <a:pPr algn="l"/>
            <a:r>
              <a:rPr lang="en-US" altLang="ko-KR" b="1" dirty="0"/>
              <a:t>data = 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("./data/data.csv")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 err="1"/>
              <a:t>컬럼명</a:t>
            </a:r>
            <a:r>
              <a:rPr lang="ko-KR" altLang="en-US" b="1" dirty="0"/>
              <a:t> </a:t>
            </a:r>
            <a:r>
              <a:rPr lang="en-US" altLang="ko-KR" b="1" dirty="0"/>
              <a:t>: ", </a:t>
            </a:r>
            <a:r>
              <a:rPr lang="en-US" altLang="ko-KR" b="1" dirty="0" err="1"/>
              <a:t>data.columns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인덱스 </a:t>
            </a:r>
            <a:r>
              <a:rPr lang="en-US" altLang="ko-KR" b="1" dirty="0"/>
              <a:t>: ", </a:t>
            </a:r>
            <a:r>
              <a:rPr lang="en-US" altLang="ko-KR" b="1" dirty="0" err="1"/>
              <a:t>data.index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 </a:t>
            </a:r>
          </a:p>
          <a:p>
            <a:pPr algn="l"/>
            <a:r>
              <a:rPr lang="en-US" altLang="ko-KR" b="1" dirty="0"/>
              <a:t>print( data.info()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 err="1"/>
              <a:t>누란된</a:t>
            </a:r>
            <a:r>
              <a:rPr lang="ko-KR" altLang="en-US" b="1" dirty="0"/>
              <a:t> 데이터가 있는지 확인하자</a:t>
            </a:r>
            <a:r>
              <a:rPr lang="en-US" altLang="ko-KR" b="1" dirty="0"/>
              <a:t>. </a:t>
            </a:r>
            <a:endParaRPr lang="ko-KR" altLang="en-US" b="1" dirty="0"/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value_counts</a:t>
            </a:r>
            <a:r>
              <a:rPr lang="en-US" altLang="ko-KR" b="1" dirty="0"/>
              <a:t>(</a:t>
            </a:r>
            <a:r>
              <a:rPr lang="en-US" altLang="ko-KR" b="1" dirty="0" err="1"/>
              <a:t>dropna</a:t>
            </a:r>
            <a:r>
              <a:rPr lang="en-US" altLang="ko-KR" b="1" dirty="0"/>
              <a:t>=False))</a:t>
            </a:r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()) #</a:t>
            </a:r>
            <a:r>
              <a:rPr lang="en-US" altLang="ko-KR" b="1" dirty="0" err="1"/>
              <a:t>NaN</a:t>
            </a:r>
            <a:r>
              <a:rPr lang="ko-KR" altLang="en-US" b="1" dirty="0"/>
              <a:t>이면 </a:t>
            </a:r>
            <a:r>
              <a:rPr lang="en-US" altLang="ko-KR" b="1" dirty="0"/>
              <a:t>True, </a:t>
            </a:r>
            <a:r>
              <a:rPr lang="ko-KR" altLang="en-US" b="1" dirty="0"/>
              <a:t>아니면 </a:t>
            </a:r>
            <a:r>
              <a:rPr lang="en-US" altLang="ko-KR" b="1" dirty="0"/>
              <a:t>False</a:t>
            </a:r>
            <a:r>
              <a:rPr lang="ko-KR" altLang="en-US" b="1" dirty="0"/>
              <a:t>반환</a:t>
            </a:r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notnull</a:t>
            </a:r>
            <a:r>
              <a:rPr lang="en-US" altLang="ko-KR" b="1" dirty="0"/>
              <a:t>())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#null</a:t>
            </a:r>
            <a:r>
              <a:rPr lang="ko-KR" altLang="en-US" b="1" dirty="0" err="1"/>
              <a:t>값인것에</a:t>
            </a:r>
            <a:r>
              <a:rPr lang="ko-KR" altLang="en-US" b="1" dirty="0"/>
              <a:t> 대한 개수 확인 </a:t>
            </a:r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().sum(axis=0))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257603" cy="3908752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 nan</a:t>
            </a:r>
            <a:r>
              <a:rPr lang="ko-KR" altLang="en-US" b="1" dirty="0"/>
              <a:t>값을 </a:t>
            </a:r>
            <a:r>
              <a:rPr lang="en-US" altLang="ko-KR" b="1" dirty="0"/>
              <a:t>thresh</a:t>
            </a:r>
            <a:r>
              <a:rPr lang="ko-KR" altLang="en-US" b="1" dirty="0"/>
              <a:t>개 가진 열 모두 삭제 </a:t>
            </a:r>
          </a:p>
          <a:p>
            <a:pPr algn="l"/>
            <a:r>
              <a:rPr lang="en-US" altLang="ko-KR" b="1" dirty="0" err="1"/>
              <a:t>data_thresh</a:t>
            </a:r>
            <a:r>
              <a:rPr lang="en-US" altLang="ko-KR" b="1" dirty="0"/>
              <a:t> = </a:t>
            </a:r>
            <a:r>
              <a:rPr lang="en-US" altLang="ko-KR" b="1" dirty="0" err="1"/>
              <a:t>data.dropna</a:t>
            </a:r>
            <a:r>
              <a:rPr lang="en-US" altLang="ko-KR" b="1" dirty="0"/>
              <a:t>(axis=1, thresh=3)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합계</a:t>
            </a:r>
          </a:p>
          <a:p>
            <a:pPr algn="l"/>
            <a:r>
              <a:rPr lang="en-US" altLang="ko-KR" b="1" dirty="0"/>
              <a:t>print ( data['height'].sum()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데이터 개수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data.shape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data = </a:t>
            </a:r>
            <a:r>
              <a:rPr lang="en-US" altLang="ko-KR" b="1" dirty="0" err="1"/>
              <a:t>data.dropna</a:t>
            </a:r>
            <a:r>
              <a:rPr lang="en-US" altLang="ko-KR" b="1" dirty="0"/>
              <a:t>(subset=['height'], how='any', axis=0)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 err="1"/>
              <a:t>삭제후</a:t>
            </a:r>
            <a:r>
              <a:rPr lang="ko-KR" altLang="en-US" b="1" dirty="0"/>
              <a:t> 데이터개수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data.shape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 = </a:t>
            </a:r>
            <a:r>
              <a:rPr lang="en-US" altLang="ko-KR" b="1" dirty="0" err="1"/>
              <a:t>data.dropna</a:t>
            </a:r>
            <a:r>
              <a:rPr lang="en-US" altLang="ko-KR" b="1" dirty="0"/>
              <a:t>(subset=['weight'], how='any', axis=0)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 err="1"/>
              <a:t>삭제후</a:t>
            </a:r>
            <a:r>
              <a:rPr lang="ko-KR" altLang="en-US" b="1" dirty="0"/>
              <a:t> 데이터개수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data.shape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인덱스 다시 부여</a:t>
            </a:r>
          </a:p>
          <a:p>
            <a:pPr algn="l"/>
            <a:r>
              <a:rPr lang="en-US" altLang="ko-KR" b="1" dirty="0"/>
              <a:t>data = </a:t>
            </a:r>
            <a:r>
              <a:rPr lang="en-US" altLang="ko-KR" b="1" dirty="0" err="1"/>
              <a:t>data.reset_index</a:t>
            </a:r>
            <a:r>
              <a:rPr lang="en-US" altLang="ko-KR" b="1" dirty="0"/>
              <a:t>(drop=True)</a:t>
            </a:r>
          </a:p>
          <a:p>
            <a:pPr algn="l"/>
            <a:r>
              <a:rPr lang="en-US" altLang="ko-KR" b="1" dirty="0"/>
              <a:t>print(data)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29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850480" cy="3216255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누락데이터를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삭제하는것도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방법이지만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데이터를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수집하다보면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누락이 너무 많이 발행해서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행을 삭제하거나 열을 삭제할 경우 제대로 분석이 어려운 경우가 발생합니다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이럴때는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행이나 컬럼 전체를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삭제하는것보다는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대체값을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바꾸는게 더 나은 방법입니다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대체값은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보통 평균값을 사용하거나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평균값의 경우 최대값과 최소값 편차가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클경우에는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평균값 보다는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중간값이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집단을 대표하는 경우가 더 많습니다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이번엔 삭제가 아니라 값의 대체 예제를 보도록 하겠습니다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52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609622" cy="487824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exam11_2.py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누락데이터 치환하기 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 pandas as pd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#header</a:t>
            </a:r>
            <a:r>
              <a:rPr lang="ko-KR" altLang="en-US" b="1" dirty="0"/>
              <a:t>가 </a:t>
            </a:r>
            <a:r>
              <a:rPr lang="en-US" altLang="ko-KR" b="1" dirty="0"/>
              <a:t>3</a:t>
            </a:r>
            <a:r>
              <a:rPr lang="ko-KR" altLang="en-US" b="1" dirty="0"/>
              <a:t>번째 줄에 있음 </a:t>
            </a:r>
          </a:p>
          <a:p>
            <a:pPr algn="l"/>
            <a:r>
              <a:rPr lang="en-US" altLang="ko-KR" b="1" dirty="0"/>
              <a:t>data = 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("./data/data.csv")</a:t>
            </a: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 err="1"/>
              <a:t>누란된</a:t>
            </a:r>
            <a:r>
              <a:rPr lang="ko-KR" altLang="en-US" b="1" dirty="0"/>
              <a:t> 데이터가 있는지 확인하자</a:t>
            </a:r>
            <a:r>
              <a:rPr lang="en-US" altLang="ko-KR" b="1" dirty="0"/>
              <a:t>. </a:t>
            </a:r>
            <a:endParaRPr lang="ko-KR" altLang="en-US" b="1" dirty="0"/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value_counts</a:t>
            </a:r>
            <a:r>
              <a:rPr lang="en-US" altLang="ko-KR" b="1" dirty="0"/>
              <a:t>(</a:t>
            </a:r>
            <a:r>
              <a:rPr lang="en-US" altLang="ko-KR" b="1" dirty="0" err="1"/>
              <a:t>dropna</a:t>
            </a:r>
            <a:r>
              <a:rPr lang="en-US" altLang="ko-KR" b="1" dirty="0"/>
              <a:t>=False))</a:t>
            </a:r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()) #</a:t>
            </a:r>
            <a:r>
              <a:rPr lang="en-US" altLang="ko-KR" b="1" dirty="0" err="1"/>
              <a:t>NaN</a:t>
            </a:r>
            <a:r>
              <a:rPr lang="ko-KR" altLang="en-US" b="1" dirty="0"/>
              <a:t>이면 </a:t>
            </a:r>
            <a:r>
              <a:rPr lang="en-US" altLang="ko-KR" b="1" dirty="0"/>
              <a:t>True, </a:t>
            </a:r>
            <a:r>
              <a:rPr lang="ko-KR" altLang="en-US" b="1" dirty="0"/>
              <a:t>아니면 </a:t>
            </a:r>
            <a:r>
              <a:rPr lang="en-US" altLang="ko-KR" b="1" dirty="0"/>
              <a:t>False</a:t>
            </a:r>
            <a:r>
              <a:rPr lang="ko-KR" altLang="en-US" b="1" dirty="0"/>
              <a:t>반환</a:t>
            </a:r>
          </a:p>
          <a:p>
            <a:pPr algn="l"/>
            <a:r>
              <a:rPr lang="en-US" altLang="ko-KR" b="1" dirty="0"/>
              <a:t>print( data['height'].</a:t>
            </a:r>
            <a:r>
              <a:rPr lang="en-US" altLang="ko-KR" b="1" dirty="0" err="1"/>
              <a:t>notnull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#null</a:t>
            </a:r>
            <a:r>
              <a:rPr lang="ko-KR" altLang="en-US" b="1" dirty="0" err="1"/>
              <a:t>값인것에</a:t>
            </a:r>
            <a:r>
              <a:rPr lang="ko-KR" altLang="en-US" b="1" dirty="0"/>
              <a:t> 대한 개수 확인 </a:t>
            </a:r>
          </a:p>
          <a:p>
            <a:pPr algn="l"/>
            <a:r>
              <a:rPr lang="en-US" altLang="ko-KR" b="1" dirty="0"/>
              <a:t>print("height </a:t>
            </a:r>
            <a:r>
              <a:rPr lang="ko-KR" altLang="en-US" b="1" dirty="0"/>
              <a:t>필드 </a:t>
            </a:r>
            <a:r>
              <a:rPr lang="en-US" altLang="ko-KR" b="1" dirty="0"/>
              <a:t>Nan </a:t>
            </a:r>
            <a:r>
              <a:rPr lang="ko-KR" altLang="en-US" b="1" dirty="0"/>
              <a:t>개수 </a:t>
            </a:r>
            <a:r>
              <a:rPr lang="en-US" altLang="ko-KR" b="1" dirty="0"/>
              <a:t>: ", data['height'].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().sum(axis=0))  </a:t>
            </a:r>
          </a:p>
          <a:p>
            <a:pPr algn="l"/>
            <a:r>
              <a:rPr lang="en-US" altLang="ko-KR" b="1" dirty="0"/>
              <a:t>print("weight </a:t>
            </a:r>
            <a:r>
              <a:rPr lang="ko-KR" altLang="en-US" b="1" dirty="0"/>
              <a:t>필드 </a:t>
            </a:r>
            <a:r>
              <a:rPr lang="en-US" altLang="ko-KR" b="1" dirty="0"/>
              <a:t>Nan </a:t>
            </a:r>
            <a:r>
              <a:rPr lang="ko-KR" altLang="en-US" b="1" dirty="0"/>
              <a:t>개수 </a:t>
            </a:r>
            <a:r>
              <a:rPr lang="en-US" altLang="ko-KR" b="1" dirty="0"/>
              <a:t>: ", data['weight'].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().sum(axis=0))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 err="1"/>
              <a:t>누락값</a:t>
            </a:r>
            <a:r>
              <a:rPr lang="ko-KR" altLang="en-US" b="1" dirty="0"/>
              <a:t> 대체 후 </a:t>
            </a:r>
            <a:r>
              <a:rPr lang="en-US" altLang="ko-KR" b="1" dirty="0"/>
              <a:t>------------------")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 err="1"/>
              <a:t>누락값</a:t>
            </a:r>
            <a:r>
              <a:rPr lang="ko-KR" altLang="en-US" b="1" dirty="0"/>
              <a:t> 대체하기 </a:t>
            </a:r>
          </a:p>
          <a:p>
            <a:pPr algn="l"/>
            <a:r>
              <a:rPr lang="en-US" altLang="ko-KR" b="1" dirty="0" err="1"/>
              <a:t>mean_height</a:t>
            </a:r>
            <a:r>
              <a:rPr lang="en-US" altLang="ko-KR" b="1" dirty="0"/>
              <a:t> = data['height'].mean()</a:t>
            </a:r>
          </a:p>
          <a:p>
            <a:pPr algn="l"/>
            <a:r>
              <a:rPr lang="en-US" altLang="ko-KR" b="1" dirty="0" err="1"/>
              <a:t>mean_weight</a:t>
            </a:r>
            <a:r>
              <a:rPr lang="en-US" altLang="ko-KR" b="1" dirty="0"/>
              <a:t> = data['weight'].mean()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0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746518" cy="2246759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>
                <a:solidFill>
                  <a:srgbClr val="FF0000"/>
                </a:solidFill>
              </a:rPr>
              <a:t>data['height'].</a:t>
            </a:r>
            <a:r>
              <a:rPr lang="en-US" altLang="ko-KR" b="1" dirty="0" err="1">
                <a:solidFill>
                  <a:srgbClr val="FF0000"/>
                </a:solidFill>
              </a:rPr>
              <a:t>fillna</a:t>
            </a:r>
            <a:r>
              <a:rPr lang="en-US" altLang="ko-KR" b="1" dirty="0">
                <a:solidFill>
                  <a:srgbClr val="FF0000"/>
                </a:solidFill>
              </a:rPr>
              <a:t>( </a:t>
            </a:r>
            <a:r>
              <a:rPr lang="en-US" altLang="ko-KR" b="1" dirty="0" err="1">
                <a:solidFill>
                  <a:srgbClr val="FF0000"/>
                </a:solidFill>
              </a:rPr>
              <a:t>mean_height</a:t>
            </a:r>
            <a:r>
              <a:rPr lang="en-US" altLang="ko-KR" b="1" dirty="0">
                <a:solidFill>
                  <a:srgbClr val="FF0000"/>
                </a:solidFill>
              </a:rPr>
              <a:t>, </a:t>
            </a:r>
            <a:r>
              <a:rPr lang="en-US" altLang="ko-KR" b="1" dirty="0" err="1">
                <a:solidFill>
                  <a:srgbClr val="FF0000"/>
                </a:solidFill>
              </a:rPr>
              <a:t>inplace</a:t>
            </a:r>
            <a:r>
              <a:rPr lang="en-US" altLang="ko-KR" b="1" dirty="0">
                <a:solidFill>
                  <a:srgbClr val="FF0000"/>
                </a:solidFill>
              </a:rPr>
              <a:t>=True)</a:t>
            </a:r>
          </a:p>
          <a:p>
            <a:pPr algn="l"/>
            <a:r>
              <a:rPr lang="en-US" altLang="ko-KR" b="1" dirty="0"/>
              <a:t>data['weight'].</a:t>
            </a:r>
            <a:r>
              <a:rPr lang="en-US" altLang="ko-KR" b="1" dirty="0" err="1"/>
              <a:t>fillna</a:t>
            </a:r>
            <a:r>
              <a:rPr lang="en-US" altLang="ko-KR" b="1" dirty="0"/>
              <a:t>( </a:t>
            </a:r>
            <a:r>
              <a:rPr lang="en-US" altLang="ko-KR" b="1" dirty="0" err="1"/>
              <a:t>mean_weight</a:t>
            </a:r>
            <a:r>
              <a:rPr lang="en-US" altLang="ko-KR" b="1" dirty="0"/>
              <a:t>, </a:t>
            </a:r>
            <a:r>
              <a:rPr lang="en-US" altLang="ko-KR" b="1" dirty="0" err="1"/>
              <a:t>inplace</a:t>
            </a:r>
            <a:r>
              <a:rPr lang="en-US" altLang="ko-KR" b="1" dirty="0"/>
              <a:t>=True)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print("height </a:t>
            </a:r>
            <a:r>
              <a:rPr lang="ko-KR" altLang="en-US" b="1" dirty="0"/>
              <a:t>필드 </a:t>
            </a:r>
            <a:r>
              <a:rPr lang="en-US" altLang="ko-KR" b="1" dirty="0"/>
              <a:t>Nan </a:t>
            </a:r>
            <a:r>
              <a:rPr lang="ko-KR" altLang="en-US" b="1" dirty="0"/>
              <a:t>개수 </a:t>
            </a:r>
            <a:r>
              <a:rPr lang="en-US" altLang="ko-KR" b="1" dirty="0"/>
              <a:t>: ", data['height'].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().sum(axis=0))</a:t>
            </a:r>
          </a:p>
          <a:p>
            <a:pPr algn="l"/>
            <a:r>
              <a:rPr lang="en-US" altLang="ko-KR" b="1" dirty="0"/>
              <a:t>print("weight </a:t>
            </a:r>
            <a:r>
              <a:rPr lang="ko-KR" altLang="en-US" b="1" dirty="0"/>
              <a:t>필드 </a:t>
            </a:r>
            <a:r>
              <a:rPr lang="en-US" altLang="ko-KR" b="1" dirty="0"/>
              <a:t>Nan </a:t>
            </a:r>
            <a:r>
              <a:rPr lang="ko-KR" altLang="en-US" b="1" dirty="0"/>
              <a:t>개수 </a:t>
            </a:r>
            <a:r>
              <a:rPr lang="en-US" altLang="ko-KR" b="1" dirty="0"/>
              <a:t>: ", data['weight'].</a:t>
            </a:r>
            <a:r>
              <a:rPr lang="en-US" altLang="ko-KR" b="1" dirty="0" err="1"/>
              <a:t>isnull</a:t>
            </a:r>
            <a:r>
              <a:rPr lang="en-US" altLang="ko-KR" b="1" dirty="0"/>
              <a:t>().sum(axis=0))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data 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5327AB-6535-4D87-A59B-6C249EB34664}"/>
              </a:ext>
            </a:extLst>
          </p:cNvPr>
          <p:cNvSpPr/>
          <p:nvPr/>
        </p:nvSpPr>
        <p:spPr bwMode="auto">
          <a:xfrm>
            <a:off x="251520" y="2103698"/>
            <a:ext cx="3240360" cy="936104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 err="1">
                <a:solidFill>
                  <a:sysClr val="windowText" lastClr="000000"/>
                </a:solidFill>
              </a:rPr>
              <a:t>fillna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함수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NaN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값을 특정 값으로 대체 합니다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r>
              <a:rPr lang="en-US" altLang="ko-KR" dirty="0" err="1">
                <a:solidFill>
                  <a:sysClr val="windowText" lastClr="000000"/>
                </a:solidFill>
              </a:rPr>
              <a:t>inplace</a:t>
            </a:r>
            <a:r>
              <a:rPr lang="ko-KR" altLang="en-US" dirty="0">
                <a:solidFill>
                  <a:sysClr val="windowText" lastClr="000000"/>
                </a:solidFill>
              </a:rPr>
              <a:t>옵션을 </a:t>
            </a:r>
            <a:r>
              <a:rPr lang="en-US" altLang="ko-KR" dirty="0">
                <a:solidFill>
                  <a:sysClr val="windowText" lastClr="000000"/>
                </a:solidFill>
              </a:rPr>
              <a:t>True</a:t>
            </a:r>
            <a:r>
              <a:rPr lang="ko-KR" altLang="en-US" dirty="0">
                <a:solidFill>
                  <a:sysClr val="windowText" lastClr="000000"/>
                </a:solidFill>
              </a:rPr>
              <a:t>를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해줘야 값이 바뀝니다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0A39E6-A952-4B53-88A1-CE02F9C82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986" y="367975"/>
            <a:ext cx="1728192" cy="3612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1506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900173" cy="41857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중복 데이터 처리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수집중에 중복된 데이터가 있을 경우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라이브러리는 쉽게 중복을 제거할 수 있는 함수를 제공합니다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dataframeobject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[‘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필드명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’]</a:t>
            </a:r>
            <a:r>
              <a:rPr lang="en-US" altLang="ko-KR" sz="1400" b="1" dirty="0"/>
              <a:t>.duplicated()  </a:t>
            </a:r>
            <a:r>
              <a:rPr lang="ko-KR" altLang="en-US" sz="1400" b="1" dirty="0"/>
              <a:t>중복되지 않았을 경우 </a:t>
            </a:r>
            <a:r>
              <a:rPr lang="en-US" altLang="ko-KR" sz="1400" b="1" dirty="0"/>
              <a:t>False </a:t>
            </a:r>
            <a:r>
              <a:rPr lang="ko-KR" altLang="en-US" sz="1400" b="1" dirty="0"/>
              <a:t>중복될 경우 </a:t>
            </a:r>
            <a:r>
              <a:rPr lang="en-US" altLang="ko-KR" sz="1400" b="1" dirty="0"/>
              <a:t>True</a:t>
            </a:r>
            <a:r>
              <a:rPr lang="ko-KR" altLang="en-US" sz="1400" b="1" dirty="0"/>
              <a:t>를 반환합니다</a:t>
            </a:r>
            <a:r>
              <a:rPr lang="en-US" altLang="ko-KR" sz="1400" b="1" dirty="0"/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두개 이상의 데이터가 중복되어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있을때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첫번째 데이터는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False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뒤에 중복되어 나타나는 데이터 항목은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출력됩니다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dataframeobject.drop_duplicates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사용하면 중복된 필드들이 있는 모든 행들이 삭제됩니다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dataframeobject.drop_duplicates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(subset=[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필드명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]) subset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필드를 별도로 지정하면 그 필드내의 데이터가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중복될 경우 모든 행들이 삭제됩니다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83568" y="627533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336423" cy="4093418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exam11_3.py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중복데이터 제거하기 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 pandas as pd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 = {</a:t>
            </a:r>
          </a:p>
          <a:p>
            <a:pPr algn="l"/>
            <a:r>
              <a:rPr lang="en-US" altLang="ko-KR" b="1" dirty="0"/>
              <a:t>    '</a:t>
            </a:r>
            <a:r>
              <a:rPr lang="en-US" altLang="ko-KR" b="1" dirty="0" err="1"/>
              <a:t>passenger_code</a:t>
            </a:r>
            <a:r>
              <a:rPr lang="en-US" altLang="ko-KR" b="1" dirty="0"/>
              <a:t>':['A101', 'A102', 'A103', 'A101', 'A104', 'A101', 'A103'],</a:t>
            </a:r>
          </a:p>
          <a:p>
            <a:pPr algn="l"/>
            <a:r>
              <a:rPr lang="en-US" altLang="ko-KR" b="1" dirty="0"/>
              <a:t>    'target':['</a:t>
            </a:r>
            <a:r>
              <a:rPr lang="ko-KR" altLang="en-US" b="1" dirty="0"/>
              <a:t>광주</a:t>
            </a:r>
            <a:r>
              <a:rPr lang="en-US" altLang="ko-KR" b="1" dirty="0"/>
              <a:t>', '</a:t>
            </a:r>
            <a:r>
              <a:rPr lang="ko-KR" altLang="en-US" b="1" dirty="0"/>
              <a:t>서울</a:t>
            </a:r>
            <a:r>
              <a:rPr lang="en-US" altLang="ko-KR" b="1" dirty="0"/>
              <a:t>', '</a:t>
            </a:r>
            <a:r>
              <a:rPr lang="ko-KR" altLang="en-US" b="1" dirty="0"/>
              <a:t>부산</a:t>
            </a:r>
            <a:r>
              <a:rPr lang="en-US" altLang="ko-KR" b="1" dirty="0"/>
              <a:t>', '</a:t>
            </a:r>
            <a:r>
              <a:rPr lang="ko-KR" altLang="en-US" b="1" dirty="0"/>
              <a:t>광주</a:t>
            </a:r>
            <a:r>
              <a:rPr lang="en-US" altLang="ko-KR" b="1" dirty="0"/>
              <a:t>', '</a:t>
            </a:r>
            <a:r>
              <a:rPr lang="ko-KR" altLang="en-US" b="1" dirty="0"/>
              <a:t>대구</a:t>
            </a:r>
            <a:r>
              <a:rPr lang="en-US" altLang="ko-KR" b="1" dirty="0"/>
              <a:t>', '</a:t>
            </a:r>
            <a:r>
              <a:rPr lang="ko-KR" altLang="en-US" b="1" dirty="0"/>
              <a:t>광주</a:t>
            </a:r>
            <a:r>
              <a:rPr lang="en-US" altLang="ko-KR" b="1" dirty="0"/>
              <a:t>', '</a:t>
            </a:r>
            <a:r>
              <a:rPr lang="ko-KR" altLang="en-US" b="1" dirty="0"/>
              <a:t>부산</a:t>
            </a:r>
            <a:r>
              <a:rPr lang="en-US" altLang="ko-KR" b="1" dirty="0"/>
              <a:t>'],</a:t>
            </a:r>
          </a:p>
          <a:p>
            <a:pPr algn="l"/>
            <a:r>
              <a:rPr lang="ko-KR" altLang="en-US" b="1" dirty="0"/>
              <a:t>    </a:t>
            </a:r>
            <a:r>
              <a:rPr lang="en-US" altLang="ko-KR" b="1" dirty="0"/>
              <a:t>'price':[25000, 27000, 45000, 25000, 35000, 27000, 45000]</a:t>
            </a:r>
          </a:p>
          <a:p>
            <a:pPr algn="l"/>
            <a:r>
              <a:rPr lang="en-US" altLang="ko-KR" b="1" dirty="0"/>
              <a:t>}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df = </a:t>
            </a:r>
            <a:r>
              <a:rPr lang="en-US" altLang="ko-KR" b="1" dirty="0" err="1"/>
              <a:t>pd.DataFrame</a:t>
            </a:r>
            <a:r>
              <a:rPr lang="en-US" altLang="ko-KR" b="1" dirty="0"/>
              <a:t>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df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중복된 데이터 </a:t>
            </a:r>
            <a:r>
              <a:rPr lang="en-US" altLang="ko-KR" b="1" dirty="0"/>
              <a:t>")</a:t>
            </a:r>
          </a:p>
          <a:p>
            <a:pPr algn="l"/>
            <a:r>
              <a:rPr lang="en-US" altLang="ko-KR" b="1" dirty="0"/>
              <a:t>col = df['</a:t>
            </a:r>
            <a:r>
              <a:rPr lang="en-US" altLang="ko-KR" b="1" dirty="0" err="1"/>
              <a:t>passenger_code</a:t>
            </a:r>
            <a:r>
              <a:rPr lang="en-US" altLang="ko-KR" b="1" dirty="0"/>
              <a:t>'].duplicated()  #</a:t>
            </a:r>
            <a:r>
              <a:rPr lang="ko-KR" altLang="en-US" b="1" dirty="0"/>
              <a:t>중복된 데이터 확인하기</a:t>
            </a:r>
            <a:endParaRPr lang="en-US" altLang="ko-KR" b="1" dirty="0"/>
          </a:p>
          <a:p>
            <a:pPr algn="l"/>
            <a:r>
              <a:rPr lang="en-US" altLang="ko-KR" b="1" dirty="0"/>
              <a:t>print( col 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358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485229" cy="326242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누락데이터처리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중복 </a:t>
            </a:r>
            <a:r>
              <a:rPr lang="ko-KR" altLang="en-US" b="1" dirty="0" err="1"/>
              <a:t>제거시</a:t>
            </a:r>
            <a:r>
              <a:rPr lang="ko-KR" altLang="en-US" b="1" dirty="0"/>
              <a:t> 모든 데이터가 </a:t>
            </a:r>
            <a:r>
              <a:rPr lang="ko-KR" altLang="en-US" b="1" dirty="0" err="1"/>
              <a:t>일치된것만</a:t>
            </a:r>
            <a:r>
              <a:rPr lang="ko-KR" altLang="en-US" b="1" dirty="0"/>
              <a:t> 제거한다</a:t>
            </a:r>
            <a:r>
              <a:rPr lang="en-US" altLang="ko-KR" b="1" dirty="0"/>
              <a:t>. </a:t>
            </a:r>
            <a:endParaRPr lang="ko-KR" altLang="en-US" b="1" dirty="0"/>
          </a:p>
          <a:p>
            <a:pPr algn="l"/>
            <a:r>
              <a:rPr lang="en-US" altLang="ko-KR" b="1" dirty="0"/>
              <a:t>df2 = </a:t>
            </a:r>
            <a:r>
              <a:rPr lang="en-US" altLang="ko-KR" b="1" dirty="0" err="1"/>
              <a:t>df.drop_duplicates</a:t>
            </a:r>
            <a:r>
              <a:rPr lang="en-US" altLang="ko-KR" b="1" dirty="0"/>
              <a:t>()</a:t>
            </a:r>
          </a:p>
          <a:p>
            <a:pPr algn="l"/>
            <a:r>
              <a:rPr lang="en-US" altLang="ko-KR" b="1" dirty="0"/>
              <a:t>print( df2 )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특정 </a:t>
            </a:r>
            <a:r>
              <a:rPr lang="ko-KR" altLang="en-US" b="1" dirty="0" err="1"/>
              <a:t>컬럼값이</a:t>
            </a:r>
            <a:r>
              <a:rPr lang="ko-KR" altLang="en-US" b="1" dirty="0"/>
              <a:t> 중복일때 제거하기 </a:t>
            </a:r>
            <a:r>
              <a:rPr lang="en-US" altLang="ko-KR" b="1" dirty="0"/>
              <a:t>-----")</a:t>
            </a:r>
          </a:p>
          <a:p>
            <a:pPr algn="l"/>
            <a:r>
              <a:rPr lang="en-US" altLang="ko-KR" b="1" dirty="0"/>
              <a:t>df3 = </a:t>
            </a:r>
            <a:r>
              <a:rPr lang="en-US" altLang="ko-KR" b="1" dirty="0" err="1"/>
              <a:t>df.drop_duplicates</a:t>
            </a:r>
            <a:r>
              <a:rPr lang="en-US" altLang="ko-KR" b="1" dirty="0"/>
              <a:t>(subset=['</a:t>
            </a:r>
            <a:r>
              <a:rPr lang="en-US" altLang="ko-KR" b="1" dirty="0" err="1"/>
              <a:t>passenger_code</a:t>
            </a:r>
            <a:r>
              <a:rPr lang="en-US" altLang="ko-KR" b="1" dirty="0"/>
              <a:t>'])</a:t>
            </a:r>
          </a:p>
          <a:p>
            <a:pPr algn="l"/>
            <a:r>
              <a:rPr lang="en-US" altLang="ko-KR" b="1" dirty="0"/>
              <a:t>print( df3 )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두개의 </a:t>
            </a:r>
            <a:r>
              <a:rPr lang="ko-KR" altLang="en-US" b="1" dirty="0" err="1"/>
              <a:t>컬럼값이</a:t>
            </a:r>
            <a:r>
              <a:rPr lang="ko-KR" altLang="en-US" b="1" dirty="0"/>
              <a:t> 중복일때 제거하기 </a:t>
            </a:r>
            <a:r>
              <a:rPr lang="en-US" altLang="ko-KR" b="1" dirty="0"/>
              <a:t>-----")</a:t>
            </a:r>
          </a:p>
          <a:p>
            <a:pPr algn="l"/>
            <a:r>
              <a:rPr lang="en-US" altLang="ko-KR" b="1" dirty="0"/>
              <a:t>df3 = </a:t>
            </a:r>
            <a:r>
              <a:rPr lang="en-US" altLang="ko-KR" b="1" dirty="0" err="1"/>
              <a:t>df.drop_duplicates</a:t>
            </a:r>
            <a:r>
              <a:rPr lang="en-US" altLang="ko-KR" b="1" dirty="0"/>
              <a:t>(subset=['</a:t>
            </a:r>
            <a:r>
              <a:rPr lang="en-US" altLang="ko-KR" b="1" dirty="0" err="1"/>
              <a:t>passenger_code</a:t>
            </a:r>
            <a:r>
              <a:rPr lang="en-US" altLang="ko-KR" b="1" dirty="0"/>
              <a:t>', 'target'])</a:t>
            </a:r>
          </a:p>
          <a:p>
            <a:pPr algn="l"/>
            <a:r>
              <a:rPr lang="en-US" altLang="ko-KR" b="1" dirty="0"/>
              <a:t>print( df3 )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4125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데이터프레임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3526907" cy="7009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정규화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구간나누기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컬럼정규화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210664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513849" cy="371716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컬럼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정규화하기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경우에 따라서 데이터의 단위가 너무 다를 경우 전체 예측 평가에 영향을 미칩니다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그래서 일부 알고리즘에서는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데이터값을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평균을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분산을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되도록 만들어 줘야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정규화라고 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다음은 정규화 수식입니다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정규화하고자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 하는 값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 값들 중 최소값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 / 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 값들 중 최대값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 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 값들 중 최소값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물론 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sklearn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사이킷런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 같은 경우 정규화를 지원하는 클래스도 있습니다만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사이킷런은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이 과정이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범위를 벗어나므로 지원 라이브러리가 있다는 정도만 다루도록 하겠습니다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FB41E1-2EA8-492A-9E83-B7932084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1702549"/>
            <a:ext cx="21717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62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839259" cy="2569924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단위 전환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 사용하는 단위와 유럽이나 미국 등 기타 국가들이 사용하는 단위가 달라서 데이터를 보기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어려운 경우가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들면 우리나라의 무게는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kg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단위를 사용하는데 일부 국가들은 파운드를 사용합니다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단위들도 일치 시키는게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분석할 때 편합니다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01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6625846" cy="463202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정규화및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단위환산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exam11_4.py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데이터표준화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 pandas as pd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 = 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('./data/auto-mpg.csv')</a:t>
            </a:r>
          </a:p>
          <a:p>
            <a:pPr algn="l"/>
            <a:r>
              <a:rPr lang="en-US" altLang="ko-KR" b="1" dirty="0"/>
              <a:t>print(data.info())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 err="1"/>
              <a:t>컬럼명</a:t>
            </a:r>
            <a:r>
              <a:rPr lang="ko-KR" altLang="en-US" b="1" dirty="0"/>
              <a:t> 변경하기 </a:t>
            </a:r>
          </a:p>
          <a:p>
            <a:pPr algn="l"/>
            <a:r>
              <a:rPr lang="en-US" altLang="ko-KR" b="1" dirty="0" err="1"/>
              <a:t>data.columns</a:t>
            </a:r>
            <a:r>
              <a:rPr lang="en-US" altLang="ko-KR" b="1" dirty="0"/>
              <a:t>=['mpg', '</a:t>
            </a:r>
            <a:r>
              <a:rPr lang="en-US" altLang="ko-KR" b="1" dirty="0" err="1"/>
              <a:t>cyl</a:t>
            </a:r>
            <a:r>
              <a:rPr lang="en-US" altLang="ko-KR" b="1" dirty="0"/>
              <a:t>', '</a:t>
            </a:r>
            <a:r>
              <a:rPr lang="en-US" altLang="ko-KR" b="1" dirty="0" err="1"/>
              <a:t>disp</a:t>
            </a:r>
            <a:r>
              <a:rPr lang="en-US" altLang="ko-KR" b="1" dirty="0"/>
              <a:t>', 'power', 'weight', '</a:t>
            </a:r>
            <a:r>
              <a:rPr lang="en-US" altLang="ko-KR" b="1" dirty="0" err="1"/>
              <a:t>acce</a:t>
            </a:r>
            <a:r>
              <a:rPr lang="en-US" altLang="ko-KR" b="1" dirty="0"/>
              <a:t>', 'model']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정규화 </a:t>
            </a:r>
          </a:p>
          <a:p>
            <a:pPr algn="l"/>
            <a:r>
              <a:rPr lang="en-US" altLang="ko-KR" b="1" dirty="0"/>
              <a:t>#(</a:t>
            </a:r>
            <a:r>
              <a:rPr lang="ko-KR" altLang="en-US" b="1" dirty="0" err="1"/>
              <a:t>정규화하고자</a:t>
            </a:r>
            <a:r>
              <a:rPr lang="ko-KR" altLang="en-US" b="1" dirty="0"/>
              <a:t> 하는 값 </a:t>
            </a:r>
            <a:r>
              <a:rPr lang="en-US" altLang="ko-KR" b="1" dirty="0"/>
              <a:t>- </a:t>
            </a:r>
            <a:r>
              <a:rPr lang="ko-KR" altLang="en-US" b="1" dirty="0"/>
              <a:t>데이터 값들 중 최소값</a:t>
            </a:r>
            <a:r>
              <a:rPr lang="en-US" altLang="ko-KR" b="1" dirty="0"/>
              <a:t>) / (</a:t>
            </a:r>
            <a:r>
              <a:rPr lang="ko-KR" altLang="en-US" b="1" dirty="0"/>
              <a:t>데이터 값들 중 최대값 </a:t>
            </a:r>
            <a:r>
              <a:rPr lang="en-US" altLang="ko-KR" b="1" dirty="0"/>
              <a:t>- </a:t>
            </a:r>
            <a:r>
              <a:rPr lang="ko-KR" altLang="en-US" b="1" dirty="0"/>
              <a:t>데이터 값들 중 최소값</a:t>
            </a:r>
            <a:r>
              <a:rPr lang="en-US" altLang="ko-KR" b="1" dirty="0"/>
              <a:t>)</a:t>
            </a:r>
            <a:endParaRPr lang="ko-KR" altLang="en-US" b="1" dirty="0"/>
          </a:p>
          <a:p>
            <a:pPr algn="l"/>
            <a:r>
              <a:rPr lang="en-US" altLang="ko-KR" b="1" dirty="0">
                <a:solidFill>
                  <a:srgbClr val="C00000"/>
                </a:solidFill>
              </a:rPr>
              <a:t>data['mpg2'] = (data['mpg'] - data['mpg'].min())/(data['mpg'].max()-data['mpg'].min())</a:t>
            </a:r>
          </a:p>
          <a:p>
            <a:pPr algn="l"/>
            <a:r>
              <a:rPr lang="en-US" altLang="ko-KR" b="1" dirty="0"/>
              <a:t>print(data)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 err="1"/>
              <a:t>단위환산</a:t>
            </a:r>
            <a:r>
              <a:rPr lang="ko-KR" altLang="en-US" b="1" dirty="0"/>
              <a:t> </a:t>
            </a:r>
            <a:r>
              <a:rPr lang="en-US" altLang="ko-KR" b="1" dirty="0"/>
              <a:t>- </a:t>
            </a:r>
            <a:r>
              <a:rPr lang="ko-KR" altLang="en-US" b="1" dirty="0"/>
              <a:t>한국 단위로 환산하기 </a:t>
            </a:r>
          </a:p>
          <a:p>
            <a:pPr algn="l"/>
            <a:r>
              <a:rPr lang="en-US" altLang="ko-KR" b="1" dirty="0" err="1"/>
              <a:t>mpg_unit</a:t>
            </a:r>
            <a:r>
              <a:rPr lang="en-US" altLang="ko-KR" b="1" dirty="0"/>
              <a:t> = 1.60934 / 3.78541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data['</a:t>
            </a:r>
            <a:r>
              <a:rPr lang="en-US" altLang="ko-KR" b="1" dirty="0" err="1"/>
              <a:t>kpl</a:t>
            </a:r>
            <a:r>
              <a:rPr lang="en-US" altLang="ko-KR" b="1" dirty="0"/>
              <a:t>'] = (data['mpg'] * </a:t>
            </a:r>
            <a:r>
              <a:rPr lang="en-US" altLang="ko-KR" b="1" dirty="0" err="1"/>
              <a:t>mpg_unit</a:t>
            </a:r>
            <a:r>
              <a:rPr lang="en-US" altLang="ko-KR" b="1" dirty="0"/>
              <a:t>).round(2)</a:t>
            </a:r>
          </a:p>
          <a:p>
            <a:pPr algn="l"/>
            <a:r>
              <a:rPr lang="en-US" altLang="ko-KR" b="1" dirty="0"/>
              <a:t>print( 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 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319DF-F3C1-4E1E-8249-8374713158FD}"/>
              </a:ext>
            </a:extLst>
          </p:cNvPr>
          <p:cNvSpPr txBox="1"/>
          <p:nvPr/>
        </p:nvSpPr>
        <p:spPr bwMode="auto">
          <a:xfrm>
            <a:off x="5796136" y="2355726"/>
            <a:ext cx="2448272" cy="83099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정규화는 데이터분석에서 아주 중요한 작업입니다</a:t>
            </a:r>
            <a:r>
              <a:rPr lang="en-US" altLang="ko-K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정규화 작업을 해줘야만 하는 </a:t>
            </a:r>
            <a:r>
              <a:rPr lang="ko-KR" alt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머신러닝</a:t>
            </a:r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알고리즘이 많이 있습니다</a:t>
            </a:r>
            <a:r>
              <a:rPr lang="en-US" altLang="ko-K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 </a:t>
            </a:r>
            <a:endParaRPr lang="ko-KR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3686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642070" cy="450891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타입전환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숫자형태의 데이터는 실제 데이터가 어떤 형태로 저장되던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같은경우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숫자를 문자열형태로 저장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하기도 하고 숫자 형태로 저장하기도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숫자자료로 잘 읽어와서 수치 자료는 크게 문제가 되지 않습니다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문제가 되는 경우는 수치자료가 와야 할 열에 수치 자료가 아닌 다른 문자가 가끔씩 끼어 들어올 때 이에 대한 처리를 해줘야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문자를 제거하거나 문자가 들어있는 행의 데이터를 버리거나 하고 유형을 전환해줘야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경우에는 분석시에 문자열 자체로 사용을 못합니다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문자열의 경우에는 범주형 자료 타입으로 전환을 해야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이번에는 타입 전환에 대한 예에 대해서 살펴보도록 하겠습니다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타입전환은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astype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이용해서 합니다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381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003273" cy="3447087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타입전환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exam11_5.py</a:t>
            </a:r>
            <a:endParaRPr lang="ko-KR" altLang="en-US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데이터표준화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</a:t>
            </a:r>
            <a:r>
              <a:rPr lang="ko-KR" altLang="en-US" b="1" dirty="0"/>
              <a:t> </a:t>
            </a:r>
            <a:r>
              <a:rPr lang="en-US" altLang="ko-KR" b="1" dirty="0"/>
              <a:t>pandas as</a:t>
            </a:r>
            <a:r>
              <a:rPr lang="ko-KR" altLang="en-US" b="1" dirty="0"/>
              <a:t> </a:t>
            </a:r>
            <a:r>
              <a:rPr lang="en-US" altLang="ko-KR" b="1" dirty="0"/>
              <a:t>pd </a:t>
            </a:r>
          </a:p>
          <a:p>
            <a:pPr algn="l"/>
            <a:r>
              <a:rPr lang="en-US" altLang="ko-KR" b="1" dirty="0"/>
              <a:t>import</a:t>
            </a:r>
            <a:r>
              <a:rPr lang="ko-KR" altLang="en-US" b="1" dirty="0"/>
              <a:t> </a:t>
            </a:r>
            <a:r>
              <a:rPr lang="en-US" altLang="ko-KR" b="1" dirty="0" err="1"/>
              <a:t>numpy</a:t>
            </a:r>
            <a:r>
              <a:rPr lang="en-US" altLang="ko-KR" b="1" dirty="0"/>
              <a:t> as</a:t>
            </a:r>
            <a:r>
              <a:rPr lang="ko-KR" altLang="en-US" b="1" dirty="0"/>
              <a:t> </a:t>
            </a:r>
            <a:r>
              <a:rPr lang="en-US" altLang="ko-KR" b="1" dirty="0"/>
              <a:t>np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 = 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('./data/auto-mpg.csv')</a:t>
            </a:r>
          </a:p>
          <a:p>
            <a:pPr algn="l"/>
            <a:r>
              <a:rPr lang="en-US" altLang="ko-KR" b="1" dirty="0"/>
              <a:t>print(data.info())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타입이 맞지 않을 경우 전환을 해서 사용해야 한다 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현재 사용하는 파이썬 버전은 문자열 데이터라도 수치 형태면 자동으로 수치자료로 처리한다 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파이썬 버전에 따라 다르게 동작할 수 도 있다 </a:t>
            </a:r>
          </a:p>
          <a:p>
            <a:pPr algn="l"/>
            <a:r>
              <a:rPr lang="en-US" altLang="ko-KR" b="1" dirty="0" err="1"/>
              <a:t>data.columns</a:t>
            </a:r>
            <a:r>
              <a:rPr lang="en-US" altLang="ko-KR" b="1" dirty="0"/>
              <a:t>=['mpg', '</a:t>
            </a:r>
            <a:r>
              <a:rPr lang="en-US" altLang="ko-KR" b="1" dirty="0" err="1"/>
              <a:t>cyl</a:t>
            </a:r>
            <a:r>
              <a:rPr lang="en-US" altLang="ko-KR" b="1" dirty="0"/>
              <a:t>', '</a:t>
            </a:r>
            <a:r>
              <a:rPr lang="en-US" altLang="ko-KR" b="1" dirty="0" err="1"/>
              <a:t>disp</a:t>
            </a:r>
            <a:r>
              <a:rPr lang="en-US" altLang="ko-KR" b="1" dirty="0"/>
              <a:t>', 'power', 'weight', '</a:t>
            </a:r>
            <a:r>
              <a:rPr lang="en-US" altLang="ko-KR" b="1" dirty="0" err="1"/>
              <a:t>acce</a:t>
            </a:r>
            <a:r>
              <a:rPr lang="en-US" altLang="ko-KR" b="1" dirty="0"/>
              <a:t>', 'model']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data.dtypes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 data['</a:t>
            </a:r>
            <a:r>
              <a:rPr lang="en-US" altLang="ko-KR" b="1" dirty="0" err="1"/>
              <a:t>disp</a:t>
            </a:r>
            <a:r>
              <a:rPr lang="en-US" altLang="ko-KR" b="1" dirty="0"/>
              <a:t>'].unique())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744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8906" y="531793"/>
            <a:ext cx="3817050" cy="3631753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타입전환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잘못된 데이터를 </a:t>
            </a:r>
            <a:r>
              <a:rPr lang="en-US" altLang="ko-KR" sz="1200" b="1" dirty="0" err="1"/>
              <a:t>NaN</a:t>
            </a:r>
            <a:r>
              <a:rPr lang="ko-KR" altLang="en-US" sz="1200" b="1" dirty="0"/>
              <a:t>으로 먼저 바꾼다 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disp</a:t>
            </a:r>
            <a:r>
              <a:rPr lang="en-US" altLang="ko-KR" sz="1200" b="1" dirty="0"/>
              <a:t>'].replace('?', </a:t>
            </a:r>
            <a:r>
              <a:rPr lang="en-US" altLang="ko-KR" sz="1200" b="1" dirty="0" err="1"/>
              <a:t>np.nan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en-US" altLang="ko-KR" sz="1200" b="1" dirty="0" err="1"/>
              <a:t>data.head</a:t>
            </a:r>
            <a:r>
              <a:rPr lang="en-US" altLang="ko-KR" sz="1200" b="1" dirty="0"/>
              <a:t>())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 err="1"/>
              <a:t>data.dropna</a:t>
            </a:r>
            <a:r>
              <a:rPr lang="en-US" altLang="ko-KR" sz="1200" b="1" dirty="0"/>
              <a:t>(subset=['</a:t>
            </a:r>
            <a:r>
              <a:rPr lang="en-US" altLang="ko-KR" sz="1200" b="1" dirty="0" err="1"/>
              <a:t>disp</a:t>
            </a:r>
            <a:r>
              <a:rPr lang="en-US" altLang="ko-KR" sz="1200" b="1" dirty="0"/>
              <a:t>'], axis=0,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en-US" altLang="ko-KR" sz="1200" b="1" dirty="0" err="1"/>
              <a:t>data.head</a:t>
            </a:r>
            <a:r>
              <a:rPr lang="en-US" altLang="ko-KR" sz="1200" b="1" dirty="0"/>
              <a:t>())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en-US" altLang="ko-KR" sz="1200" b="1" dirty="0" err="1"/>
              <a:t>data.dtypes</a:t>
            </a:r>
            <a:r>
              <a:rPr lang="en-US" altLang="ko-KR" sz="1200" b="1" dirty="0"/>
              <a:t>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disp</a:t>
            </a:r>
            <a:r>
              <a:rPr lang="en-US" altLang="ko-KR" sz="1200" b="1" dirty="0"/>
              <a:t>'] = data['</a:t>
            </a:r>
            <a:r>
              <a:rPr lang="en-US" altLang="ko-KR" sz="1200" b="1" dirty="0" err="1"/>
              <a:t>disp</a:t>
            </a:r>
            <a:r>
              <a:rPr lang="en-US" altLang="ko-KR" sz="1200" b="1" dirty="0"/>
              <a:t>'].</a:t>
            </a:r>
            <a:r>
              <a:rPr lang="en-US" altLang="ko-KR" sz="1200" b="1" dirty="0" err="1"/>
              <a:t>astype</a:t>
            </a:r>
            <a:r>
              <a:rPr lang="en-US" altLang="ko-KR" sz="1200" b="1" dirty="0"/>
              <a:t>('float')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en-US" altLang="ko-KR" sz="1200" b="1" dirty="0" err="1"/>
              <a:t>data.dtypes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</a:t>
            </a:r>
            <a:r>
              <a:rPr lang="ko-KR" altLang="en-US" sz="1200" b="1" dirty="0"/>
              <a:t>범주형으로 바꾼다 </a:t>
            </a:r>
          </a:p>
          <a:p>
            <a:pPr algn="l"/>
            <a:r>
              <a:rPr lang="en-US" altLang="ko-KR" sz="1200" b="1" dirty="0"/>
              <a:t>data['model'] = data['model'].</a:t>
            </a:r>
            <a:r>
              <a:rPr lang="en-US" altLang="ko-KR" sz="1200" b="1" dirty="0" err="1"/>
              <a:t>astype</a:t>
            </a:r>
            <a:r>
              <a:rPr lang="en-US" altLang="ko-KR" sz="1200" b="1" dirty="0"/>
              <a:t>('category')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en-US" altLang="ko-KR" sz="1200" b="1" dirty="0" err="1"/>
              <a:t>data.dtypes</a:t>
            </a:r>
            <a:r>
              <a:rPr lang="en-US" altLang="ko-KR" sz="1200" b="1" dirty="0"/>
              <a:t>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7A7BC-7EBC-4AE5-8CBF-0503862AE519}"/>
              </a:ext>
            </a:extLst>
          </p:cNvPr>
          <p:cNvSpPr txBox="1"/>
          <p:nvPr/>
        </p:nvSpPr>
        <p:spPr bwMode="auto">
          <a:xfrm>
            <a:off x="4440620" y="1491630"/>
            <a:ext cx="4680520" cy="64633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데이터를 범주형으로 </a:t>
            </a:r>
            <a:r>
              <a:rPr lang="ko-KR" alt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바꿀때</a:t>
            </a:r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astype</a:t>
            </a:r>
            <a:r>
              <a:rPr lang="en-US" altLang="ko-K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(‘category’)</a:t>
            </a:r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를 사용합니다</a:t>
            </a:r>
            <a:r>
              <a:rPr lang="en-US" altLang="ko-K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문자열의 형태로 입력된 데이터는 분석시에 꼭 범주형으로 바꾸어서 처리해야 합니다</a:t>
            </a:r>
            <a:r>
              <a:rPr lang="en-US" altLang="ko-K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 </a:t>
            </a:r>
            <a:endParaRPr lang="ko-KR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4469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282030" cy="450891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구간나누기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연속적 데이터라고 하더라도 경우에 따라서는 불연속 데이터로 전환해야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예를들어서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연비의 경우 국가에서 특정 조건을 만족할 경우 구간을 나누어서 등급을 부여할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연비를 수치자료로 듣는 것 보다 이 자동차의 연비는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등급이야 또는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등급이야 라고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실제 수치를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듣는것보다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정보가 빠르고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연비 등급별로 각 모델들에 대한 평가나 분석을 해야 하는 경우도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이때 구간나누기를 통해 연속 데이터를 불연속 데이터로 변환이 가능합니다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불연속 데이터로 전환 후 실제 분석시에는 특별한 방법을 사용하여 데이터를 저장해야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만일 연비를 등급으로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A,B,C,D 4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개로 나누었다면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딥러닝 분석에서 이를 그대로 사용하지 못합니다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수학입니다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 등급은 다음과 같은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형태로 전환해야 사용이 가능합니다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274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7705966" cy="278536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범주형 데이터들을 행렬의 형태로 전환하고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각의 범주가 갖는 값을 다음처럼  표현되도록 저장하는 방식입니다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4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그룹이 있다고 가정하면 분석시에 그룹의 형태를 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A,B,C,D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등급을 필드의 컬럼으로 만들고 각각 해당하는 요소의 위치는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해당하지 않는 요소의 위치는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해서 행렬구조를 만듭니다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25</a:t>
            </a:fld>
            <a:endParaRPr lang="ko-KR" altLang="en-US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727D384-900A-4391-9C0F-E1956DEEA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70279"/>
              </p:ext>
            </p:extLst>
          </p:nvPr>
        </p:nvGraphicFramePr>
        <p:xfrm>
          <a:off x="971600" y="1923678"/>
          <a:ext cx="28803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5036971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06999172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96811812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723592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77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4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66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0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84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455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003273" cy="386258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구간나누기및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 </a:t>
            </a:r>
            <a:r>
              <a:rPr lang="en-US" altLang="ko-KR" b="1" dirty="0"/>
              <a:t>: exam11_4.py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구간분할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 pandas as pd </a:t>
            </a:r>
          </a:p>
          <a:p>
            <a:pPr algn="l"/>
            <a:r>
              <a:rPr lang="en-US" altLang="ko-KR" b="1" dirty="0"/>
              <a:t>import </a:t>
            </a:r>
            <a:r>
              <a:rPr lang="en-US" altLang="ko-KR" b="1" dirty="0" err="1"/>
              <a:t>numpy</a:t>
            </a:r>
            <a:r>
              <a:rPr lang="en-US" altLang="ko-KR" b="1" dirty="0"/>
              <a:t> as np 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 = 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('./data/auto-mpg.csv')</a:t>
            </a:r>
          </a:p>
          <a:p>
            <a:pPr algn="l"/>
            <a:r>
              <a:rPr lang="en-US" altLang="ko-KR" b="1" dirty="0"/>
              <a:t>print(data.info())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타입이 맞지 않을 경우 전환을 해서 사용해야 한다 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현재 사용하는 파이썬 버전은 문자열 데이터라도 수치 형태면 자동으로 수치자료로 처리한다 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파이썬 버전에 따라 다르게 동작할 수 도 있다 </a:t>
            </a:r>
          </a:p>
          <a:p>
            <a:pPr algn="l"/>
            <a:r>
              <a:rPr lang="en-US" altLang="ko-KR" b="1" dirty="0" err="1"/>
              <a:t>data.columns</a:t>
            </a:r>
            <a:r>
              <a:rPr lang="en-US" altLang="ko-KR" b="1" dirty="0"/>
              <a:t>=['mpg', '</a:t>
            </a:r>
            <a:r>
              <a:rPr lang="en-US" altLang="ko-KR" b="1" dirty="0" err="1"/>
              <a:t>cyl</a:t>
            </a:r>
            <a:r>
              <a:rPr lang="en-US" altLang="ko-KR" b="1" dirty="0"/>
              <a:t>', '</a:t>
            </a:r>
            <a:r>
              <a:rPr lang="en-US" altLang="ko-KR" b="1" dirty="0" err="1"/>
              <a:t>disp</a:t>
            </a:r>
            <a:r>
              <a:rPr lang="en-US" altLang="ko-KR" b="1" dirty="0"/>
              <a:t>', 'power', 'weight', '</a:t>
            </a:r>
            <a:r>
              <a:rPr lang="en-US" altLang="ko-KR" b="1" dirty="0" err="1"/>
              <a:t>acce</a:t>
            </a:r>
            <a:r>
              <a:rPr lang="en-US" altLang="ko-KR" b="1" dirty="0"/>
              <a:t>', 'model']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data.dtypes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잘못된 데이터를 </a:t>
            </a:r>
            <a:r>
              <a:rPr lang="en-US" altLang="ko-KR" b="1" dirty="0" err="1"/>
              <a:t>NaN</a:t>
            </a:r>
            <a:r>
              <a:rPr lang="ko-KR" altLang="en-US" b="1" dirty="0"/>
              <a:t>으로 먼저 바꾼다 </a:t>
            </a:r>
          </a:p>
          <a:p>
            <a:pPr algn="l"/>
            <a:r>
              <a:rPr lang="en-US" altLang="ko-KR" b="1" dirty="0"/>
              <a:t>data['</a:t>
            </a:r>
            <a:r>
              <a:rPr lang="en-US" altLang="ko-KR" b="1" dirty="0" err="1"/>
              <a:t>disp</a:t>
            </a:r>
            <a:r>
              <a:rPr lang="en-US" altLang="ko-KR" b="1" dirty="0"/>
              <a:t>'].replace('?', </a:t>
            </a:r>
            <a:r>
              <a:rPr lang="en-US" altLang="ko-KR" b="1" dirty="0" err="1"/>
              <a:t>np.nan</a:t>
            </a:r>
            <a:r>
              <a:rPr lang="en-US" altLang="ko-KR" b="1" dirty="0"/>
              <a:t>, </a:t>
            </a:r>
            <a:r>
              <a:rPr lang="en-US" altLang="ko-KR" b="1" dirty="0" err="1"/>
              <a:t>inplace</a:t>
            </a:r>
            <a:r>
              <a:rPr lang="en-US" altLang="ko-KR" b="1" dirty="0"/>
              <a:t>=True)</a:t>
            </a:r>
          </a:p>
          <a:p>
            <a:pPr algn="l"/>
            <a:r>
              <a:rPr lang="en-US" altLang="ko-KR" b="1" dirty="0" err="1"/>
              <a:t>data.dropna</a:t>
            </a:r>
            <a:r>
              <a:rPr lang="en-US" altLang="ko-KR" b="1" dirty="0"/>
              <a:t>(subset=['</a:t>
            </a:r>
            <a:r>
              <a:rPr lang="en-US" altLang="ko-KR" b="1" dirty="0" err="1"/>
              <a:t>disp</a:t>
            </a:r>
            <a:r>
              <a:rPr lang="en-US" altLang="ko-KR" b="1" dirty="0"/>
              <a:t>'], axis=0, </a:t>
            </a:r>
            <a:r>
              <a:rPr lang="en-US" altLang="ko-KR" b="1" dirty="0" err="1"/>
              <a:t>inplace</a:t>
            </a:r>
            <a:r>
              <a:rPr lang="en-US" altLang="ko-KR" b="1" dirty="0"/>
              <a:t>=True)</a:t>
            </a:r>
          </a:p>
          <a:p>
            <a:pPr algn="l"/>
            <a:r>
              <a:rPr lang="en-US" altLang="ko-KR" b="1" dirty="0"/>
              <a:t>data['</a:t>
            </a:r>
            <a:r>
              <a:rPr lang="en-US" altLang="ko-KR" b="1" dirty="0" err="1"/>
              <a:t>disp</a:t>
            </a:r>
            <a:r>
              <a:rPr lang="en-US" altLang="ko-KR" b="1" dirty="0"/>
              <a:t>'] = data['</a:t>
            </a:r>
            <a:r>
              <a:rPr lang="en-US" altLang="ko-KR" b="1" dirty="0" err="1"/>
              <a:t>disp</a:t>
            </a:r>
            <a:r>
              <a:rPr lang="en-US" altLang="ko-KR" b="1" dirty="0"/>
              <a:t>'].</a:t>
            </a:r>
            <a:r>
              <a:rPr lang="en-US" altLang="ko-KR" b="1" dirty="0" err="1"/>
              <a:t>astype</a:t>
            </a:r>
            <a:r>
              <a:rPr lang="en-US" altLang="ko-KR" b="1" dirty="0"/>
              <a:t>('float')</a:t>
            </a:r>
          </a:p>
          <a:p>
            <a:pPr algn="l"/>
            <a:br>
              <a:rPr lang="en-US" altLang="ko-KR" b="1" dirty="0"/>
            </a:b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B8267-F5D5-4DFD-8AE7-FCA47A65D131}"/>
              </a:ext>
            </a:extLst>
          </p:cNvPr>
          <p:cNvSpPr txBox="1"/>
          <p:nvPr/>
        </p:nvSpPr>
        <p:spPr bwMode="auto">
          <a:xfrm>
            <a:off x="5023521" y="555526"/>
            <a:ext cx="3168352" cy="64633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b="1" dirty="0">
                <a:latin typeface="+mn-ea"/>
                <a:ea typeface="+mn-ea"/>
              </a:rPr>
              <a:t>데이터에 잘못된 데이터가 있는 경우 </a:t>
            </a:r>
            <a:r>
              <a:rPr lang="en-US" altLang="ko-KR" sz="1200" b="1" dirty="0" err="1">
                <a:latin typeface="+mn-ea"/>
                <a:ea typeface="+mn-ea"/>
              </a:rPr>
              <a:t>NaN</a:t>
            </a:r>
            <a:r>
              <a:rPr lang="ko-KR" altLang="en-US" sz="1200" b="1" dirty="0">
                <a:latin typeface="+mn-ea"/>
                <a:ea typeface="+mn-ea"/>
              </a:rPr>
              <a:t>값으로 먼저 </a:t>
            </a:r>
            <a:r>
              <a:rPr lang="ko-KR" altLang="en-US" sz="1200" b="1" dirty="0" err="1">
                <a:latin typeface="+mn-ea"/>
                <a:ea typeface="+mn-ea"/>
              </a:rPr>
              <a:t>전환후</a:t>
            </a:r>
            <a:r>
              <a:rPr lang="en-US" altLang="ko-KR" sz="1200" b="1" dirty="0">
                <a:latin typeface="+mn-ea"/>
                <a:ea typeface="+mn-ea"/>
              </a:rPr>
              <a:t>, </a:t>
            </a:r>
            <a:r>
              <a:rPr lang="en-US" altLang="ko-KR" sz="1200" b="1" dirty="0" err="1">
                <a:latin typeface="+mn-ea"/>
                <a:ea typeface="+mn-ea"/>
              </a:rPr>
              <a:t>NaN</a:t>
            </a:r>
            <a:r>
              <a:rPr lang="ko-KR" altLang="en-US" sz="1200" b="1" dirty="0">
                <a:latin typeface="+mn-ea"/>
                <a:ea typeface="+mn-ea"/>
              </a:rPr>
              <a:t>을 포함하고 있는 행이나 열을 삭제 하는게 일이 빠르다</a:t>
            </a:r>
          </a:p>
        </p:txBody>
      </p:sp>
    </p:spTree>
    <p:extLst>
      <p:ext uri="{BB962C8B-B14F-4D97-AF65-F5344CB8AC3E}">
        <p14:creationId xmlns:p14="http://schemas.microsoft.com/office/powerpoint/2010/main" val="622215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543485" cy="4508917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구간나누기및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b="1" dirty="0"/>
              <a:t>#</a:t>
            </a:r>
            <a:r>
              <a:rPr lang="ko-KR" altLang="en-US" sz="1400" b="1" dirty="0"/>
              <a:t>범주형으로 바꾼다 </a:t>
            </a:r>
          </a:p>
          <a:p>
            <a:pPr algn="l"/>
            <a:r>
              <a:rPr lang="en-US" altLang="ko-KR" sz="1400" b="1" dirty="0"/>
              <a:t>data['model'] = data['model'].</a:t>
            </a:r>
            <a:r>
              <a:rPr lang="en-US" altLang="ko-KR" sz="1400" b="1" dirty="0" err="1"/>
              <a:t>astype</a:t>
            </a:r>
            <a:r>
              <a:rPr lang="en-US" altLang="ko-KR" sz="1400" b="1" dirty="0"/>
              <a:t>('category')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b="1" dirty="0"/>
              <a:t>#</a:t>
            </a:r>
            <a:r>
              <a:rPr lang="ko-KR" altLang="en-US" sz="1400" b="1" dirty="0"/>
              <a:t>연속적인 값을 구간으로 나누어 </a:t>
            </a:r>
            <a:r>
              <a:rPr lang="ko-KR" altLang="en-US" sz="1400" b="1" dirty="0" err="1"/>
              <a:t>비연속적인값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범주형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으로 나눈다 </a:t>
            </a:r>
          </a:p>
          <a:p>
            <a:pPr algn="l"/>
            <a:r>
              <a:rPr lang="en-US" altLang="ko-KR" sz="1400" b="1" dirty="0"/>
              <a:t>#print(data['power'])</a:t>
            </a:r>
          </a:p>
          <a:p>
            <a:pPr algn="l"/>
            <a:br>
              <a:rPr lang="en-US" altLang="ko-KR" sz="1400" b="1" dirty="0"/>
            </a:br>
            <a:r>
              <a:rPr lang="en-US" altLang="ko-KR" sz="1400" b="1" dirty="0"/>
              <a:t>print(data['power'].</a:t>
            </a:r>
            <a:r>
              <a:rPr lang="en-US" altLang="ko-KR" sz="1400" b="1" dirty="0" err="1"/>
              <a:t>isnull</a:t>
            </a:r>
            <a:r>
              <a:rPr lang="en-US" altLang="ko-KR" sz="1400" b="1" dirty="0"/>
              <a:t>().sum(axis=0))</a:t>
            </a:r>
          </a:p>
          <a:p>
            <a:pPr algn="l"/>
            <a:r>
              <a:rPr lang="en-US" altLang="ko-KR" sz="1400" b="1" dirty="0" err="1"/>
              <a:t>data.dropna</a:t>
            </a:r>
            <a:r>
              <a:rPr lang="en-US" altLang="ko-KR" sz="1400" b="1" dirty="0"/>
              <a:t>(subset=['power'], </a:t>
            </a:r>
            <a:r>
              <a:rPr lang="en-US" altLang="ko-KR" sz="1400" b="1" dirty="0" err="1"/>
              <a:t>inplace</a:t>
            </a:r>
            <a:r>
              <a:rPr lang="en-US" altLang="ko-KR" sz="1400" b="1" dirty="0"/>
              <a:t>=True)</a:t>
            </a:r>
          </a:p>
          <a:p>
            <a:pPr algn="l"/>
            <a:r>
              <a:rPr lang="en-US" altLang="ko-KR" sz="1400" b="1" dirty="0">
                <a:solidFill>
                  <a:srgbClr val="FF0000"/>
                </a:solidFill>
              </a:rPr>
              <a:t>count, </a:t>
            </a:r>
            <a:r>
              <a:rPr lang="en-US" altLang="ko-KR" sz="1400" b="1" dirty="0" err="1">
                <a:solidFill>
                  <a:srgbClr val="FF0000"/>
                </a:solidFill>
              </a:rPr>
              <a:t>bin_dividers</a:t>
            </a:r>
            <a:r>
              <a:rPr lang="en-US" altLang="ko-KR" sz="1400" b="1" dirty="0">
                <a:solidFill>
                  <a:srgbClr val="FF0000"/>
                </a:solidFill>
              </a:rPr>
              <a:t> = </a:t>
            </a:r>
            <a:r>
              <a:rPr lang="en-US" altLang="ko-KR" sz="1400" b="1" dirty="0" err="1">
                <a:solidFill>
                  <a:srgbClr val="FF0000"/>
                </a:solidFill>
              </a:rPr>
              <a:t>np.histogram</a:t>
            </a:r>
            <a:r>
              <a:rPr lang="en-US" altLang="ko-KR" sz="1400" b="1" dirty="0">
                <a:solidFill>
                  <a:srgbClr val="FF0000"/>
                </a:solidFill>
              </a:rPr>
              <a:t>(data['power'], bins=4)</a:t>
            </a:r>
          </a:p>
          <a:p>
            <a:pPr algn="l"/>
            <a:r>
              <a:rPr lang="en-US" altLang="ko-KR" sz="1400" b="1" dirty="0"/>
              <a:t>print( </a:t>
            </a:r>
            <a:r>
              <a:rPr lang="en-US" altLang="ko-KR" sz="1400" b="1" dirty="0" err="1"/>
              <a:t>bin_dividers</a:t>
            </a:r>
            <a:r>
              <a:rPr lang="en-US" altLang="ko-KR" sz="1400" b="1" dirty="0"/>
              <a:t>)</a:t>
            </a:r>
          </a:p>
          <a:p>
            <a:pPr algn="l"/>
            <a:br>
              <a:rPr lang="en-US" altLang="ko-KR" sz="1400" b="1" dirty="0"/>
            </a:br>
            <a:r>
              <a:rPr lang="en-US" altLang="ko-KR" sz="1400" b="1" dirty="0" err="1"/>
              <a:t>bin_names</a:t>
            </a:r>
            <a:r>
              <a:rPr lang="en-US" altLang="ko-KR" sz="1400" b="1" dirty="0"/>
              <a:t> = ["D", "C", "B", "A"]</a:t>
            </a:r>
          </a:p>
          <a:p>
            <a:pPr algn="l"/>
            <a:r>
              <a:rPr lang="en-US" altLang="ko-KR" sz="1400" b="1" dirty="0"/>
              <a:t>data["grade"] = </a:t>
            </a:r>
            <a:r>
              <a:rPr lang="en-US" altLang="ko-KR" sz="1400" b="1" dirty="0" err="1">
                <a:solidFill>
                  <a:srgbClr val="FF0000"/>
                </a:solidFill>
              </a:rPr>
              <a:t>pd.cut</a:t>
            </a:r>
            <a:r>
              <a:rPr lang="en-US" altLang="ko-KR" sz="1400" b="1" dirty="0">
                <a:solidFill>
                  <a:srgbClr val="FF0000"/>
                </a:solidFill>
              </a:rPr>
              <a:t>( x=data['power'], bins=</a:t>
            </a:r>
            <a:r>
              <a:rPr lang="en-US" altLang="ko-KR" sz="1400" b="1" dirty="0" err="1">
                <a:solidFill>
                  <a:srgbClr val="FF0000"/>
                </a:solidFill>
              </a:rPr>
              <a:t>bin_dividers</a:t>
            </a:r>
            <a:r>
              <a:rPr lang="en-US" altLang="ko-KR" sz="1400" b="1" dirty="0">
                <a:solidFill>
                  <a:srgbClr val="FF0000"/>
                </a:solidFill>
              </a:rPr>
              <a:t>, </a:t>
            </a:r>
          </a:p>
          <a:p>
            <a:pPr algn="l"/>
            <a:r>
              <a:rPr lang="en-US" altLang="ko-KR" sz="1400" b="1" dirty="0">
                <a:solidFill>
                  <a:srgbClr val="FF0000"/>
                </a:solidFill>
              </a:rPr>
              <a:t>    labels = </a:t>
            </a:r>
            <a:r>
              <a:rPr lang="en-US" altLang="ko-KR" sz="1400" b="1" dirty="0" err="1">
                <a:solidFill>
                  <a:srgbClr val="FF0000"/>
                </a:solidFill>
              </a:rPr>
              <a:t>bin_names</a:t>
            </a:r>
            <a:r>
              <a:rPr lang="en-US" altLang="ko-KR" sz="1400" b="1" dirty="0">
                <a:solidFill>
                  <a:srgbClr val="FF0000"/>
                </a:solidFill>
              </a:rPr>
              <a:t>, </a:t>
            </a:r>
            <a:r>
              <a:rPr lang="en-US" altLang="ko-KR" sz="1400" b="1" dirty="0" err="1">
                <a:solidFill>
                  <a:srgbClr val="FF0000"/>
                </a:solidFill>
              </a:rPr>
              <a:t>include_lowest</a:t>
            </a:r>
            <a:r>
              <a:rPr lang="en-US" altLang="ko-KR" sz="1400" b="1" dirty="0">
                <a:solidFill>
                  <a:srgbClr val="FF0000"/>
                </a:solidFill>
              </a:rPr>
              <a:t>=True)</a:t>
            </a:r>
          </a:p>
          <a:p>
            <a:pPr algn="l"/>
            <a:br>
              <a:rPr lang="en-US" altLang="ko-KR" sz="1400" b="1" dirty="0"/>
            </a:br>
            <a:r>
              <a:rPr lang="en-US" altLang="ko-KR" sz="1400" b="1" dirty="0"/>
              <a:t>print( data 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C83576-ED9B-432E-9054-FE79A8768DCD}"/>
              </a:ext>
            </a:extLst>
          </p:cNvPr>
          <p:cNvSpPr txBox="1"/>
          <p:nvPr/>
        </p:nvSpPr>
        <p:spPr bwMode="auto">
          <a:xfrm>
            <a:off x="5754283" y="523335"/>
            <a:ext cx="2520835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np.histogram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은 구간을 나누는 함수이다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데이터의 범위를 알아내서 지정된 구간을 나누고 구간의 경계에 대한 값을 가져온다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. 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구간을 나누고자 하는 필드와 구간의 개수를 전달하면 구간의 경계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구간의 데이터개수를 반환한다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algn="l"/>
            <a:endParaRPr lang="ko-KR" altLang="en-US" sz="12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FEF3970-24EB-4B1B-982A-34CADECDFD96}"/>
              </a:ext>
            </a:extLst>
          </p:cNvPr>
          <p:cNvCxnSpPr/>
          <p:nvPr/>
        </p:nvCxnSpPr>
        <p:spPr>
          <a:xfrm flipH="1">
            <a:off x="5220072" y="1563638"/>
            <a:ext cx="432048" cy="7920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B86859-189E-45C0-92F3-DF3B04724143}"/>
              </a:ext>
            </a:extLst>
          </p:cNvPr>
          <p:cNvSpPr txBox="1"/>
          <p:nvPr/>
        </p:nvSpPr>
        <p:spPr bwMode="auto">
          <a:xfrm>
            <a:off x="5855466" y="2409220"/>
            <a:ext cx="2520835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cut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함수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x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인자에 필드를 정해주고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bins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인자에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np.histogram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이 생성한 구간 정보를 전달한다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.  labels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에 각 구간에 붙일 라벨명을 지정하고</a:t>
            </a:r>
            <a:endParaRPr lang="en-US" altLang="ko-KR" sz="12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algn="l"/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include_lowest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=True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는 </a:t>
            </a:r>
            <a:r>
              <a:rPr lang="ko-KR" altLang="en-US" sz="12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경계값을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포함하라는 의미임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431AD05-6EE4-49E7-AADE-77867D9BB43C}"/>
              </a:ext>
            </a:extLst>
          </p:cNvPr>
          <p:cNvCxnSpPr/>
          <p:nvPr/>
        </p:nvCxnSpPr>
        <p:spPr>
          <a:xfrm flipH="1">
            <a:off x="5220072" y="3003798"/>
            <a:ext cx="432048" cy="36004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154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144337" cy="326242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#</a:t>
            </a:r>
            <a:r>
              <a:rPr lang="en-US" altLang="ko-KR" sz="1200" b="1" dirty="0" err="1"/>
              <a:t>onehot</a:t>
            </a:r>
            <a:r>
              <a:rPr lang="en-US" altLang="ko-KR" sz="1200" b="1" dirty="0"/>
              <a:t> encoding </a:t>
            </a:r>
          </a:p>
          <a:p>
            <a:pPr algn="l"/>
            <a:r>
              <a:rPr lang="en-US" altLang="ko-KR" sz="1200" b="1" dirty="0" err="1"/>
              <a:t>Y_class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np.array</a:t>
            </a:r>
            <a:r>
              <a:rPr lang="en-US" altLang="ko-KR" sz="1200" b="1" dirty="0"/>
              <a:t>(data['grade']).reshape(-1,1)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from </a:t>
            </a:r>
            <a:r>
              <a:rPr lang="en-US" altLang="ko-KR" sz="1200" b="1" dirty="0" err="1"/>
              <a:t>sklearn.preprocessing</a:t>
            </a:r>
            <a:r>
              <a:rPr lang="en-US" altLang="ko-KR" sz="1200" b="1" dirty="0"/>
              <a:t> import </a:t>
            </a:r>
            <a:r>
              <a:rPr lang="en-US" altLang="ko-KR" sz="1200" b="1" dirty="0" err="1"/>
              <a:t>OneHotEncoder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enc = </a:t>
            </a:r>
            <a:r>
              <a:rPr lang="en-US" altLang="ko-KR" sz="1200" b="1" dirty="0" err="1"/>
              <a:t>OneHotEncoder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 err="1"/>
              <a:t>enc.fit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enc.transform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</a:t>
            </a:r>
            <a:r>
              <a:rPr lang="en-US" altLang="ko-KR" sz="1200" b="1" dirty="0"/>
              <a:t>).</a:t>
            </a:r>
            <a:r>
              <a:rPr lang="en-US" altLang="ko-KR" sz="1200" b="1" dirty="0" err="1"/>
              <a:t>toarray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 err="1"/>
              <a:t>Y_class_recovery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np.argmax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, axis=1).reshape(-1,1)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</a:t>
            </a: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)</a:t>
            </a: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3B4FC-69AF-4A0C-8861-8F3F9390F300}"/>
              </a:ext>
            </a:extLst>
          </p:cNvPr>
          <p:cNvSpPr txBox="1"/>
          <p:nvPr/>
        </p:nvSpPr>
        <p:spPr bwMode="auto">
          <a:xfrm>
            <a:off x="5589000" y="391776"/>
            <a:ext cx="3231472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b="1" dirty="0" err="1">
                <a:latin typeface="+mn-ea"/>
                <a:ea typeface="+mn-ea"/>
              </a:rPr>
              <a:t>onehot</a:t>
            </a:r>
            <a:r>
              <a:rPr lang="ko-KR" altLang="en-US" sz="1200" b="1" dirty="0">
                <a:latin typeface="+mn-ea"/>
                <a:ea typeface="+mn-ea"/>
              </a:rPr>
              <a:t> 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ko-KR" altLang="en-US" sz="1200" b="1" dirty="0">
                <a:latin typeface="+mn-ea"/>
                <a:ea typeface="+mn-ea"/>
              </a:rPr>
              <a:t>인코딩을 진행라면 데이터 필드가 </a:t>
            </a:r>
            <a:r>
              <a:rPr lang="en-US" altLang="ko-KR" sz="1200" b="1" dirty="0">
                <a:latin typeface="+mn-ea"/>
                <a:ea typeface="+mn-ea"/>
              </a:rPr>
              <a:t>1</a:t>
            </a:r>
            <a:r>
              <a:rPr lang="ko-KR" altLang="en-US" sz="1200" b="1" dirty="0">
                <a:latin typeface="+mn-ea"/>
                <a:ea typeface="+mn-ea"/>
              </a:rPr>
              <a:t>차원인 상태로는 진행이 되지 않습니다</a:t>
            </a:r>
            <a:r>
              <a:rPr lang="en-US" altLang="ko-KR" sz="1200" b="1" dirty="0">
                <a:latin typeface="+mn-ea"/>
                <a:ea typeface="+mn-ea"/>
              </a:rPr>
              <a:t>.  reshape</a:t>
            </a:r>
            <a:r>
              <a:rPr lang="ko-KR" altLang="en-US" sz="1200" b="1" dirty="0">
                <a:latin typeface="+mn-ea"/>
                <a:ea typeface="+mn-ea"/>
              </a:rPr>
              <a:t>함수를 이용해서 차원을 먼저 바꿔주고 </a:t>
            </a:r>
            <a:r>
              <a:rPr lang="en-US" altLang="ko-KR" sz="1200" b="1" dirty="0" err="1">
                <a:latin typeface="+mn-ea"/>
                <a:ea typeface="+mn-ea"/>
              </a:rPr>
              <a:t>sklearn.preprocessing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ko-KR" altLang="en-US" sz="1200" b="1" dirty="0">
                <a:latin typeface="+mn-ea"/>
                <a:ea typeface="+mn-ea"/>
              </a:rPr>
              <a:t>의 </a:t>
            </a:r>
            <a:r>
              <a:rPr lang="en-US" altLang="ko-KR" sz="1200" b="1" dirty="0" err="1">
                <a:latin typeface="+mn-ea"/>
                <a:ea typeface="+mn-ea"/>
              </a:rPr>
              <a:t>OneHotEncoder</a:t>
            </a:r>
            <a:r>
              <a:rPr lang="ko-KR" altLang="en-US" sz="1200" b="1" dirty="0">
                <a:latin typeface="+mn-ea"/>
                <a:ea typeface="+mn-ea"/>
              </a:rPr>
              <a:t>객체를 만든 후  </a:t>
            </a:r>
            <a:r>
              <a:rPr lang="en-US" altLang="ko-KR" sz="1200" b="1" dirty="0">
                <a:latin typeface="+mn-ea"/>
                <a:ea typeface="+mn-ea"/>
              </a:rPr>
              <a:t>transform</a:t>
            </a:r>
            <a:r>
              <a:rPr lang="ko-KR" altLang="en-US" sz="1200" b="1" dirty="0">
                <a:latin typeface="+mn-ea"/>
                <a:ea typeface="+mn-ea"/>
              </a:rPr>
              <a:t>함수를 </a:t>
            </a:r>
            <a:r>
              <a:rPr lang="ko-KR" altLang="en-US" sz="1200" b="1" dirty="0" err="1">
                <a:latin typeface="+mn-ea"/>
                <a:ea typeface="+mn-ea"/>
              </a:rPr>
              <a:t>수행하면됩니다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r>
              <a:rPr lang="en-US" altLang="ko-KR" sz="1200" b="1" dirty="0" err="1">
                <a:latin typeface="+mn-ea"/>
                <a:ea typeface="+mn-ea"/>
              </a:rPr>
              <a:t>onehot</a:t>
            </a:r>
            <a:r>
              <a:rPr lang="en-US" altLang="ko-KR" sz="1200" b="1" dirty="0">
                <a:latin typeface="+mn-ea"/>
                <a:ea typeface="+mn-ea"/>
              </a:rPr>
              <a:t> encoding </a:t>
            </a:r>
            <a:r>
              <a:rPr lang="ko-KR" altLang="en-US" sz="1200" b="1" dirty="0">
                <a:latin typeface="+mn-ea"/>
                <a:ea typeface="+mn-ea"/>
              </a:rPr>
              <a:t>을 복원하려면 </a:t>
            </a:r>
            <a:r>
              <a:rPr lang="en-US" altLang="ko-KR" sz="1200" b="1" dirty="0" err="1">
                <a:latin typeface="+mn-ea"/>
                <a:ea typeface="+mn-ea"/>
              </a:rPr>
              <a:t>np.argmax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ko-KR" altLang="en-US" sz="1200" b="1" dirty="0">
                <a:latin typeface="+mn-ea"/>
                <a:ea typeface="+mn-ea"/>
              </a:rPr>
              <a:t>함수를 사용하면 됩니다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r>
              <a:rPr lang="en-US" altLang="ko-KR" sz="1200" b="1" dirty="0" err="1">
                <a:latin typeface="+mn-ea"/>
                <a:ea typeface="+mn-ea"/>
              </a:rPr>
              <a:t>no.argmax</a:t>
            </a:r>
            <a:r>
              <a:rPr lang="ko-KR" altLang="en-US" sz="1200" b="1" dirty="0">
                <a:latin typeface="+mn-ea"/>
                <a:ea typeface="+mn-ea"/>
              </a:rPr>
              <a:t>함수는 전달 받은 </a:t>
            </a:r>
            <a:r>
              <a:rPr lang="ko-KR" altLang="en-US" sz="1200" b="1" dirty="0" err="1">
                <a:latin typeface="+mn-ea"/>
                <a:ea typeface="+mn-ea"/>
              </a:rPr>
              <a:t>함수중에서</a:t>
            </a:r>
            <a:r>
              <a:rPr lang="ko-KR" altLang="en-US" sz="1200" b="1" dirty="0">
                <a:latin typeface="+mn-ea"/>
                <a:ea typeface="+mn-ea"/>
              </a:rPr>
              <a:t> 가장 </a:t>
            </a:r>
            <a:r>
              <a:rPr lang="ko-KR" altLang="en-US" sz="1200" b="1" dirty="0" err="1">
                <a:latin typeface="+mn-ea"/>
                <a:ea typeface="+mn-ea"/>
              </a:rPr>
              <a:t>큰값을</a:t>
            </a:r>
            <a:r>
              <a:rPr lang="ko-KR" altLang="en-US" sz="1200" b="1" dirty="0">
                <a:latin typeface="+mn-ea"/>
                <a:ea typeface="+mn-ea"/>
              </a:rPr>
              <a:t> 갖는 인자를 반환하는 함수입니다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8282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23528" y="638071"/>
            <a:ext cx="7776864" cy="190307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 아래에 있는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iris.csv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읽어서 다음 동작들을 수행해 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iris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데이터셋에 몇개의 필드가 있고 각 필드의 타입이 무엇인지 확인해 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맨 앞의 데이터를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개만 출력해보세요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 iris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데이터셋의 통계량을 확인해보세요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표준편차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중간값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사분위수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...)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4) variety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데이터의 통계량을 출력하세요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variety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Virginica Versicolor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sepal.length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값의 평균값을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꽃의 종류가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이면서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sepal.length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길이가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5cm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이상인 것의 개수를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 algn="l">
              <a:lnSpc>
                <a:spcPct val="150000"/>
              </a:lnSpc>
              <a:buAutoNum type="arabicParenR" startAt="5"/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617147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7236256" cy="1815872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data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폴더내의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iris.csv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읽어서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누락된 데이터가 어떤 필드에 몇개 있는지 찾아내세요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누락된 데이터들을 평균치고 대체하세요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sepal.length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sepal.width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petal.width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세개의 필드에 정규화를 진행하세요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petal.length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필드를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구간으로 나누어서 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A, B, C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구간 이름을 붙여서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petal_grade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필드를 추가하세요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인코딩으로 전환하세요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85022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944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4515960" cy="3693309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import pandas as pd </a:t>
            </a:r>
          </a:p>
          <a:p>
            <a:pPr algn="l"/>
            <a:r>
              <a:rPr lang="en-US" altLang="ko-KR" sz="1200" b="1" dirty="0"/>
              <a:t>import </a:t>
            </a:r>
            <a:r>
              <a:rPr lang="en-US" altLang="ko-KR" sz="1200" b="1" dirty="0" err="1"/>
              <a:t>numpy</a:t>
            </a:r>
            <a:r>
              <a:rPr lang="en-US" altLang="ko-KR" sz="1200" b="1" dirty="0"/>
              <a:t> as np 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data = </a:t>
            </a:r>
            <a:r>
              <a:rPr lang="en-US" altLang="ko-KR" sz="1200" b="1" dirty="0" err="1"/>
              <a:t>pd.read_csv</a:t>
            </a:r>
            <a:r>
              <a:rPr lang="en-US" altLang="ko-KR" sz="1200" b="1" dirty="0"/>
              <a:t>('./data/iris.csv')</a:t>
            </a:r>
          </a:p>
          <a:p>
            <a:pPr algn="l"/>
            <a:r>
              <a:rPr lang="en-US" altLang="ko-KR" sz="1200" b="1" dirty="0"/>
              <a:t>#</a:t>
            </a:r>
            <a:r>
              <a:rPr lang="en-US" altLang="ko-KR" sz="1200" b="1" dirty="0" err="1"/>
              <a:t>NaN</a:t>
            </a:r>
            <a:r>
              <a:rPr lang="ko-KR" altLang="en-US" sz="1200" b="1" dirty="0"/>
              <a:t>값 있는지 체크하기 </a:t>
            </a:r>
            <a:r>
              <a:rPr lang="en-US" altLang="ko-KR" sz="1200" b="1" dirty="0"/>
              <a:t>- </a:t>
            </a:r>
            <a:r>
              <a:rPr lang="ko-KR" altLang="en-US" sz="1200" b="1" dirty="0"/>
              <a:t>각 필드별로 </a:t>
            </a:r>
            <a:r>
              <a:rPr lang="en-US" altLang="ko-KR" sz="1200" b="1" dirty="0" err="1"/>
              <a:t>NaN</a:t>
            </a:r>
            <a:r>
              <a:rPr lang="ko-KR" altLang="en-US" sz="1200" b="1" dirty="0"/>
              <a:t>값 있는 개수 출력</a:t>
            </a:r>
          </a:p>
          <a:p>
            <a:pPr algn="l"/>
            <a:r>
              <a:rPr lang="en-US" altLang="ko-KR" sz="1200" b="1" dirty="0"/>
              <a:t>print( </a:t>
            </a:r>
            <a:r>
              <a:rPr lang="en-US" altLang="ko-KR" sz="1200" b="1" dirty="0" err="1"/>
              <a:t>data.isnull</a:t>
            </a:r>
            <a:r>
              <a:rPr lang="en-US" altLang="ko-KR" sz="1200" b="1" dirty="0"/>
              <a:t>().sum())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 err="1"/>
              <a:t>sepal_length_mean</a:t>
            </a:r>
            <a:r>
              <a:rPr lang="en-US" altLang="ko-KR" sz="1200" b="1" dirty="0"/>
              <a:t> = data['</a:t>
            </a:r>
            <a:r>
              <a:rPr lang="en-US" altLang="ko-KR" sz="1200" b="1" dirty="0" err="1"/>
              <a:t>sepal.length</a:t>
            </a:r>
            <a:r>
              <a:rPr lang="en-US" altLang="ko-KR" sz="1200" b="1" dirty="0"/>
              <a:t>'].mean() </a:t>
            </a:r>
          </a:p>
          <a:p>
            <a:pPr algn="l"/>
            <a:r>
              <a:rPr lang="en-US" altLang="ko-KR" sz="1200" b="1" dirty="0" err="1"/>
              <a:t>sepal_width_mean</a:t>
            </a:r>
            <a:r>
              <a:rPr lang="en-US" altLang="ko-KR" sz="1200" b="1" dirty="0"/>
              <a:t> = data['</a:t>
            </a:r>
            <a:r>
              <a:rPr lang="en-US" altLang="ko-KR" sz="1200" b="1" dirty="0" err="1"/>
              <a:t>sepal.width</a:t>
            </a:r>
            <a:r>
              <a:rPr lang="en-US" altLang="ko-KR" sz="1200" b="1" dirty="0"/>
              <a:t>'].mean() </a:t>
            </a:r>
          </a:p>
          <a:p>
            <a:pPr algn="l"/>
            <a:r>
              <a:rPr lang="en-US" altLang="ko-KR" sz="1200" b="1" dirty="0" err="1"/>
              <a:t>petal_length_mean</a:t>
            </a:r>
            <a:r>
              <a:rPr lang="en-US" altLang="ko-KR" sz="1200" b="1" dirty="0"/>
              <a:t> = data['</a:t>
            </a:r>
            <a:r>
              <a:rPr lang="en-US" altLang="ko-KR" sz="1200" b="1" dirty="0" err="1"/>
              <a:t>petal.length</a:t>
            </a:r>
            <a:r>
              <a:rPr lang="en-US" altLang="ko-KR" sz="1200" b="1" dirty="0"/>
              <a:t>'].mean() </a:t>
            </a:r>
          </a:p>
          <a:p>
            <a:pPr algn="l"/>
            <a:r>
              <a:rPr lang="en-US" altLang="ko-KR" sz="1200" b="1" dirty="0" err="1"/>
              <a:t>petal_width_mean</a:t>
            </a:r>
            <a:r>
              <a:rPr lang="en-US" altLang="ko-KR" sz="1200" b="1" dirty="0"/>
              <a:t> = data['</a:t>
            </a:r>
            <a:r>
              <a:rPr lang="en-US" altLang="ko-KR" sz="1200" b="1" dirty="0" err="1"/>
              <a:t>petal.width</a:t>
            </a:r>
            <a:r>
              <a:rPr lang="en-US" altLang="ko-KR" sz="1200" b="1" dirty="0"/>
              <a:t>'].mean() 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data['</a:t>
            </a:r>
            <a:r>
              <a:rPr lang="en-US" altLang="ko-KR" sz="1200" b="1" dirty="0" err="1"/>
              <a:t>sepal.length</a:t>
            </a:r>
            <a:r>
              <a:rPr lang="en-US" altLang="ko-KR" sz="1200" b="1" dirty="0"/>
              <a:t>'].</a:t>
            </a:r>
            <a:r>
              <a:rPr lang="en-US" altLang="ko-KR" sz="1200" b="1" dirty="0" err="1"/>
              <a:t>fillna</a:t>
            </a:r>
            <a:r>
              <a:rPr lang="en-US" altLang="ko-KR" sz="1200" b="1" dirty="0"/>
              <a:t>( </a:t>
            </a:r>
            <a:r>
              <a:rPr lang="en-US" altLang="ko-KR" sz="1200" b="1" dirty="0" err="1"/>
              <a:t>sepal_length_mean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sepal.width</a:t>
            </a:r>
            <a:r>
              <a:rPr lang="en-US" altLang="ko-KR" sz="1200" b="1" dirty="0"/>
              <a:t>'].</a:t>
            </a:r>
            <a:r>
              <a:rPr lang="en-US" altLang="ko-KR" sz="1200" b="1" dirty="0" err="1"/>
              <a:t>fillna</a:t>
            </a:r>
            <a:r>
              <a:rPr lang="en-US" altLang="ko-KR" sz="1200" b="1" dirty="0"/>
              <a:t>( </a:t>
            </a:r>
            <a:r>
              <a:rPr lang="en-US" altLang="ko-KR" sz="1200" b="1" dirty="0" err="1"/>
              <a:t>sepal_width_mean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petal.length</a:t>
            </a:r>
            <a:r>
              <a:rPr lang="en-US" altLang="ko-KR" sz="1200" b="1" dirty="0"/>
              <a:t>'].</a:t>
            </a:r>
            <a:r>
              <a:rPr lang="en-US" altLang="ko-KR" sz="1200" b="1" dirty="0" err="1"/>
              <a:t>fillna</a:t>
            </a:r>
            <a:r>
              <a:rPr lang="en-US" altLang="ko-KR" sz="1200" b="1" dirty="0"/>
              <a:t>( </a:t>
            </a:r>
            <a:r>
              <a:rPr lang="en-US" altLang="ko-KR" sz="1200" b="1" dirty="0" err="1"/>
              <a:t>petal_length_mean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petal.width</a:t>
            </a:r>
            <a:r>
              <a:rPr lang="en-US" altLang="ko-KR" sz="1200" b="1" dirty="0"/>
              <a:t>'].</a:t>
            </a:r>
            <a:r>
              <a:rPr lang="en-US" altLang="ko-KR" sz="1200" b="1" dirty="0" err="1"/>
              <a:t>fillna</a:t>
            </a:r>
            <a:r>
              <a:rPr lang="en-US" altLang="ko-KR" sz="1200" b="1" dirty="0"/>
              <a:t>( </a:t>
            </a:r>
            <a:r>
              <a:rPr lang="en-US" altLang="ko-KR" sz="1200" b="1" dirty="0" err="1"/>
              <a:t>petal_width_mean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inplace</a:t>
            </a:r>
            <a:r>
              <a:rPr lang="en-US" altLang="ko-KR" sz="1200" b="1" dirty="0"/>
              <a:t>=True)</a:t>
            </a: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85022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537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288154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정규화를 함수로 만들었음</a:t>
            </a:r>
          </a:p>
          <a:p>
            <a:pPr algn="l"/>
            <a:r>
              <a:rPr lang="en-US" altLang="ko-KR" sz="1200" b="1" dirty="0"/>
              <a:t>def normalize(</a:t>
            </a:r>
            <a:r>
              <a:rPr lang="en-US" altLang="ko-KR" sz="1200" b="1" dirty="0" err="1"/>
              <a:t>columnname</a:t>
            </a:r>
            <a:r>
              <a:rPr lang="en-US" altLang="ko-KR" sz="1200" b="1" dirty="0"/>
              <a:t>):</a:t>
            </a:r>
          </a:p>
          <a:p>
            <a:pPr algn="l"/>
            <a:r>
              <a:rPr lang="en-US" altLang="ko-KR" sz="1200" b="1" dirty="0"/>
              <a:t>    max = data[</a:t>
            </a:r>
            <a:r>
              <a:rPr lang="en-US" altLang="ko-KR" sz="1200" b="1" dirty="0" err="1"/>
              <a:t>columnname</a:t>
            </a:r>
            <a:r>
              <a:rPr lang="en-US" altLang="ko-KR" sz="1200" b="1" dirty="0"/>
              <a:t>].max()</a:t>
            </a:r>
          </a:p>
          <a:p>
            <a:pPr algn="l"/>
            <a:r>
              <a:rPr lang="en-US" altLang="ko-KR" sz="1200" b="1" dirty="0"/>
              <a:t>    min = data[</a:t>
            </a:r>
            <a:r>
              <a:rPr lang="en-US" altLang="ko-KR" sz="1200" b="1" dirty="0" err="1"/>
              <a:t>columnname</a:t>
            </a:r>
            <a:r>
              <a:rPr lang="en-US" altLang="ko-KR" sz="1200" b="1" dirty="0"/>
              <a:t>].min()</a:t>
            </a:r>
          </a:p>
          <a:p>
            <a:pPr algn="l"/>
            <a:r>
              <a:rPr lang="en-US" altLang="ko-KR" sz="1200" b="1" dirty="0"/>
              <a:t>    return (data[</a:t>
            </a:r>
            <a:r>
              <a:rPr lang="en-US" altLang="ko-KR" sz="1200" b="1" dirty="0" err="1"/>
              <a:t>columnname</a:t>
            </a:r>
            <a:r>
              <a:rPr lang="en-US" altLang="ko-KR" sz="1200" b="1" dirty="0"/>
              <a:t>]-min)/(max-min)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data['</a:t>
            </a:r>
            <a:r>
              <a:rPr lang="en-US" altLang="ko-KR" sz="1200" b="1" dirty="0" err="1"/>
              <a:t>sepal.length</a:t>
            </a:r>
            <a:r>
              <a:rPr lang="en-US" altLang="ko-KR" sz="1200" b="1" dirty="0"/>
              <a:t>'] = normalize('</a:t>
            </a:r>
            <a:r>
              <a:rPr lang="en-US" altLang="ko-KR" sz="1200" b="1" dirty="0" err="1"/>
              <a:t>sepal.length</a:t>
            </a:r>
            <a:r>
              <a:rPr lang="en-US" altLang="ko-KR" sz="1200" b="1" dirty="0"/>
              <a:t>')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sepal.width</a:t>
            </a:r>
            <a:r>
              <a:rPr lang="en-US" altLang="ko-KR" sz="1200" b="1" dirty="0"/>
              <a:t>'] = normalize('</a:t>
            </a:r>
            <a:r>
              <a:rPr lang="en-US" altLang="ko-KR" sz="1200" b="1" dirty="0" err="1"/>
              <a:t>sepal.width</a:t>
            </a:r>
            <a:r>
              <a:rPr lang="en-US" altLang="ko-KR" sz="1200" b="1" dirty="0"/>
              <a:t>')</a:t>
            </a:r>
          </a:p>
          <a:p>
            <a:pPr algn="l"/>
            <a:r>
              <a:rPr lang="en-US" altLang="ko-KR" sz="1200" b="1" dirty="0"/>
              <a:t>data['</a:t>
            </a:r>
            <a:r>
              <a:rPr lang="en-US" altLang="ko-KR" sz="1200" b="1" dirty="0" err="1"/>
              <a:t>petal.width</a:t>
            </a:r>
            <a:r>
              <a:rPr lang="en-US" altLang="ko-KR" sz="1200" b="1" dirty="0"/>
              <a:t>'] = normalize('</a:t>
            </a:r>
            <a:r>
              <a:rPr lang="en-US" altLang="ko-KR" sz="1200" b="1" dirty="0" err="1"/>
              <a:t>petal.width</a:t>
            </a:r>
            <a:r>
              <a:rPr lang="en-US" altLang="ko-KR" sz="1200" b="1" dirty="0"/>
              <a:t>')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print(data)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159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292232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ko-KR" altLang="en-US" sz="1200" b="1" dirty="0"/>
            </a:br>
            <a:r>
              <a:rPr lang="en-US" altLang="ko-KR" sz="1200" b="1" dirty="0"/>
              <a:t>#</a:t>
            </a:r>
            <a:r>
              <a:rPr lang="ko-KR" altLang="en-US" sz="1200" b="1" dirty="0"/>
              <a:t>구간 나누기 </a:t>
            </a:r>
          </a:p>
          <a:p>
            <a:pPr algn="l"/>
            <a:r>
              <a:rPr lang="en-US" altLang="ko-KR" sz="1200" b="1" dirty="0"/>
              <a:t>count, </a:t>
            </a:r>
            <a:r>
              <a:rPr lang="en-US" altLang="ko-KR" sz="1200" b="1" dirty="0" err="1"/>
              <a:t>bin_dividers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np.histogram</a:t>
            </a:r>
            <a:r>
              <a:rPr lang="en-US" altLang="ko-KR" sz="1200" b="1" dirty="0"/>
              <a:t>(data['</a:t>
            </a:r>
            <a:r>
              <a:rPr lang="en-US" altLang="ko-KR" sz="1200" b="1" dirty="0" err="1"/>
              <a:t>petal.length</a:t>
            </a:r>
            <a:r>
              <a:rPr lang="en-US" altLang="ko-KR" sz="1200" b="1" dirty="0"/>
              <a:t>'], bins=3)</a:t>
            </a:r>
          </a:p>
          <a:p>
            <a:pPr algn="l"/>
            <a:r>
              <a:rPr lang="en-US" altLang="ko-KR" sz="1200" b="1" dirty="0"/>
              <a:t>print( </a:t>
            </a:r>
            <a:r>
              <a:rPr lang="en-US" altLang="ko-KR" sz="1200" b="1" dirty="0" err="1"/>
              <a:t>bin_dividers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 err="1"/>
              <a:t>bin_names</a:t>
            </a:r>
            <a:r>
              <a:rPr lang="en-US" altLang="ko-KR" sz="1200" b="1" dirty="0"/>
              <a:t> = ["A", "B", "C"]</a:t>
            </a:r>
          </a:p>
          <a:p>
            <a:pPr algn="l"/>
            <a:r>
              <a:rPr lang="en-US" altLang="ko-KR" sz="1200" b="1" dirty="0"/>
              <a:t>data["</a:t>
            </a:r>
            <a:r>
              <a:rPr lang="en-US" altLang="ko-KR" sz="1200" b="1" dirty="0" err="1"/>
              <a:t>petal_grade</a:t>
            </a:r>
            <a:r>
              <a:rPr lang="en-US" altLang="ko-KR" sz="1200" b="1" dirty="0"/>
              <a:t>"] = </a:t>
            </a:r>
            <a:r>
              <a:rPr lang="en-US" altLang="ko-KR" sz="1200" b="1" dirty="0" err="1"/>
              <a:t>pd.cut</a:t>
            </a:r>
            <a:r>
              <a:rPr lang="en-US" altLang="ko-KR" sz="1200" b="1" dirty="0"/>
              <a:t>( x=data['</a:t>
            </a:r>
            <a:r>
              <a:rPr lang="en-US" altLang="ko-KR" sz="1200" b="1" dirty="0" err="1"/>
              <a:t>petal.length</a:t>
            </a:r>
            <a:r>
              <a:rPr lang="en-US" altLang="ko-KR" sz="1200" b="1" dirty="0"/>
              <a:t>'], bins=</a:t>
            </a:r>
            <a:r>
              <a:rPr lang="en-US" altLang="ko-KR" sz="1200" b="1" dirty="0" err="1"/>
              <a:t>bin_dividers</a:t>
            </a:r>
            <a:r>
              <a:rPr lang="en-US" altLang="ko-KR" sz="1200" b="1" dirty="0"/>
              <a:t>, </a:t>
            </a:r>
          </a:p>
          <a:p>
            <a:pPr algn="l"/>
            <a:r>
              <a:rPr lang="en-US" altLang="ko-KR" sz="1200" b="1" dirty="0"/>
              <a:t>     labels = </a:t>
            </a:r>
            <a:r>
              <a:rPr lang="en-US" altLang="ko-KR" sz="1200" b="1" dirty="0" err="1"/>
              <a:t>bin_names</a:t>
            </a:r>
            <a:r>
              <a:rPr lang="en-US" altLang="ko-KR" sz="1200" b="1" dirty="0"/>
              <a:t>, </a:t>
            </a:r>
            <a:r>
              <a:rPr lang="en-US" altLang="ko-KR" sz="1200" b="1" dirty="0" err="1"/>
              <a:t>include_lowest</a:t>
            </a:r>
            <a:r>
              <a:rPr lang="en-US" altLang="ko-KR" sz="1200" b="1" dirty="0"/>
              <a:t>=True)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print(data)</a:t>
            </a:r>
          </a:p>
          <a:p>
            <a:pPr algn="l"/>
            <a:br>
              <a:rPr lang="en-US" altLang="ko-KR" sz="1200" b="1" dirty="0"/>
            </a:br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endParaRPr lang="en-US" altLang="ko-KR" sz="1200" b="1" dirty="0"/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68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347632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br>
              <a:rPr lang="ko-KR" altLang="en-US" sz="1200" b="1" dirty="0"/>
            </a:br>
            <a:r>
              <a:rPr lang="en-US" altLang="ko-KR" sz="1200" b="1" dirty="0"/>
              <a:t>#</a:t>
            </a:r>
            <a:r>
              <a:rPr lang="en-US" altLang="ko-KR" sz="1200" b="1" dirty="0" err="1"/>
              <a:t>onehot</a:t>
            </a:r>
            <a:r>
              <a:rPr lang="ko-KR" altLang="en-US" sz="1200" b="1" dirty="0"/>
              <a:t> 인코딩</a:t>
            </a:r>
            <a:br>
              <a:rPr lang="en-US" altLang="ko-KR" sz="1200" b="1" dirty="0"/>
            </a:br>
            <a:r>
              <a:rPr lang="en-US" altLang="ko-KR" sz="1200" b="1" dirty="0" err="1"/>
              <a:t>Y_class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np.array</a:t>
            </a:r>
            <a:r>
              <a:rPr lang="en-US" altLang="ko-KR" sz="1200" b="1" dirty="0"/>
              <a:t>(data['</a:t>
            </a:r>
            <a:r>
              <a:rPr lang="en-US" altLang="ko-KR" sz="1200" b="1" dirty="0" err="1"/>
              <a:t>petal_grade</a:t>
            </a:r>
            <a:r>
              <a:rPr lang="en-US" altLang="ko-KR" sz="1200" b="1" dirty="0"/>
              <a:t>']).reshape(-1,1)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from </a:t>
            </a:r>
            <a:r>
              <a:rPr lang="en-US" altLang="ko-KR" sz="1200" b="1" dirty="0" err="1"/>
              <a:t>sklearn.preprocessing</a:t>
            </a:r>
            <a:r>
              <a:rPr lang="en-US" altLang="ko-KR" sz="1200" b="1" dirty="0"/>
              <a:t> import </a:t>
            </a:r>
            <a:r>
              <a:rPr lang="en-US" altLang="ko-KR" sz="1200" b="1" dirty="0" err="1"/>
              <a:t>OneHotEncoder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enc = </a:t>
            </a:r>
            <a:r>
              <a:rPr lang="en-US" altLang="ko-KR" sz="1200" b="1" dirty="0" err="1"/>
              <a:t>OneHotEncoder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 err="1"/>
              <a:t>enc.fit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enc.transform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</a:t>
            </a:r>
            <a:r>
              <a:rPr lang="en-US" altLang="ko-KR" sz="1200" b="1" dirty="0"/>
              <a:t>).</a:t>
            </a:r>
            <a:r>
              <a:rPr lang="en-US" altLang="ko-KR" sz="1200" b="1" dirty="0" err="1"/>
              <a:t>toarray</a:t>
            </a:r>
            <a:r>
              <a:rPr lang="en-US" altLang="ko-KR" sz="1200" b="1" dirty="0"/>
              <a:t>()</a:t>
            </a:r>
          </a:p>
          <a:p>
            <a:pPr algn="l"/>
            <a:r>
              <a:rPr lang="en-US" altLang="ko-KR" sz="1200" b="1" dirty="0" err="1"/>
              <a:t>Y_class_recovery</a:t>
            </a:r>
            <a:r>
              <a:rPr lang="en-US" altLang="ko-KR" sz="1200" b="1" dirty="0"/>
              <a:t> = </a:t>
            </a:r>
            <a:r>
              <a:rPr lang="en-US" altLang="ko-KR" sz="1200" b="1" dirty="0" err="1"/>
              <a:t>np.argmax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, axis=1).reshape(-1,1)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</a:t>
            </a:r>
            <a:r>
              <a:rPr lang="en-US" altLang="ko-KR" sz="1200" b="1" dirty="0" err="1"/>
              <a:t>Y_class_onehot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br>
              <a:rPr lang="en-US" altLang="ko-KR" sz="1200" b="1" dirty="0"/>
            </a:br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endParaRPr lang="en-US" altLang="ko-KR" sz="1200" b="1" dirty="0"/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9329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547161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문제풀기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920576"/>
            <a:ext cx="8490292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설명중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잘못 된 것은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45461" y="1462585"/>
            <a:ext cx="6283696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  데이터의 누락치는 데이터 분석에 지대한 영향을 미치므로 모두 삭제해야 한다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누락치는 데이터 분석에 지대한 영향을 미치므로 평균값이나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중간값등으로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대체해야 한다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정규화는 분석의 정확도를 위해 필요한 경우가 많다 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데이터의 타입이 문자열일 경우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범주형자료로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전환해야 한다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71896" y="2567166"/>
            <a:ext cx="6642614" cy="121955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5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누락된 데이터가 너무 많을 경우 모두 삭제는 오히려 분석 결과에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안좋은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영향을 미칠 수 있으므로 평균치나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중간값으로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대체 하는 방법을 취하는게 좋습니다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난이도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1(1: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아주어려움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2: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어려움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쉬움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쉬움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관련페이지번호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9</a:t>
            </a:r>
          </a:p>
        </p:txBody>
      </p:sp>
    </p:spTree>
    <p:extLst>
      <p:ext uri="{BB962C8B-B14F-4D97-AF65-F5344CB8AC3E}">
        <p14:creationId xmlns:p14="http://schemas.microsoft.com/office/powerpoint/2010/main" val="3000450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907897"/>
              </p:ext>
            </p:extLst>
          </p:nvPr>
        </p:nvGraphicFramePr>
        <p:xfrm>
          <a:off x="107504" y="51470"/>
          <a:ext cx="8749636" cy="47744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02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419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 데이터에서 누락 데이터를 찾고자 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함수를 바르게 적용한 경우는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data[‘height’].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isnull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().sum()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data[‘height’].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NaNsum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data[‘height’].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CountNan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data[‘height’].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CntNa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</a:t>
                      </a:r>
                    </a:p>
                    <a:p>
                      <a:pPr marL="228600" lvl="0" indent="-228600" algn="l">
                        <a:lnSpc>
                          <a:spcPct val="100000"/>
                        </a:lnSpc>
                        <a:buAutoNum type="arabicParenR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isnull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()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함수와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sum()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함수를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호출하다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120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데이터중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누락된 데이터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NaN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을 삭제하려고 할 경우 적당한 함수는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isnull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dropna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deleterow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removena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79159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dropna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함수를 사용한다 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47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데이터를 삭제하면 인덱스 번호가 뒤죽박죽이 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삭제후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인덱스를 재부여 하려면 어떤 함수를 써야 하나요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set_index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refresh_index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reset_index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79159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800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reset_index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함수를 사용하면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index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 새로 부여된다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223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74031"/>
              </p:ext>
            </p:extLst>
          </p:nvPr>
        </p:nvGraphicFramePr>
        <p:xfrm>
          <a:off x="107504" y="51470"/>
          <a:ext cx="8749636" cy="49191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82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</a:t>
                      </a:r>
                      <a:endParaRPr kumimoji="1" lang="en-US" altLang="ko-KR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7847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잘못된 데이터가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들어온경우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처리법으로 가장 적절한 것은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데이터를 메모장에서 직접 수정한다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예외처리를 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데이터를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NaN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값으로 모두 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전환후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대체값으로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대신하던가 삭제한다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오류데이터를 엑셀 기능을 이용해 모두 삭제한다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 건수가 많을 경우에는 일일이 메모장이나 엑셀에서 작업이 어렵습니다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 데이터를 읽어서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NaN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값으로 모두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변환후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한번에 처리하는게 편합니다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6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다음중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정규화 수식으로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올바른것은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정규화하고자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하는 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/ 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최대값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정규화하고자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하는 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/ 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데이터평균값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정규화하고자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하는 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/ 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분산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정규화하고자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하는 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/ 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표준편차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circleNumDbPlain"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정규화하고자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하는 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/ (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최대값 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 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 값들 중 최소값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6012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등급을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원핫인코딩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방식으로 변환하려고 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올바른 변환을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기술하십시요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원핫인코딩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한 상태의 값을 기술하세요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등급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좋음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보통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나쁨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해설참조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좋음 보통 나쁨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lain"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0        0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0       1       0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0       0       1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428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80925"/>
              </p:ext>
            </p:extLst>
          </p:nvPr>
        </p:nvGraphicFramePr>
        <p:xfrm>
          <a:off x="107504" y="51470"/>
          <a:ext cx="8749636" cy="44369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534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87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다음 중 구간 나누기를 하는 바른 사유는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연속형 값을 비연속형 값의 형태로 전환하려고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구간별 평균값을 구하려고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히스토그램 차트를 그리기 위해서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lvl="0" indent="-228600" algn="l" defTabSz="779159" rtl="0" eaLnBrk="1" latinLnBrk="1" hangingPunct="1">
                        <a:lnSpc>
                          <a:spcPct val="100000"/>
                        </a:lnSpc>
                        <a:buFont typeface="+mj-ea"/>
                        <a:buAutoNum type="circleNumDbPlain"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비연속형 값을 연속형 값으로 전환하려고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연속형값을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비연속형으로 전환할 필요가 있어서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33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/>
                        <a:t>dropna</a:t>
                      </a:r>
                      <a:r>
                        <a:rPr lang="ko-KR" altLang="en-US" sz="800" b="0" dirty="0"/>
                        <a:t> 함수를 사용해 데이터를 삭제하고자 </a:t>
                      </a:r>
                      <a:r>
                        <a:rPr lang="ko-KR" altLang="en-US" sz="800" b="0" dirty="0" err="1"/>
                        <a:t>할때</a:t>
                      </a:r>
                      <a:r>
                        <a:rPr lang="ko-KR" altLang="en-US" sz="800" b="0" dirty="0"/>
                        <a:t> </a:t>
                      </a:r>
                      <a:r>
                        <a:rPr lang="en-US" altLang="ko-KR" sz="800" b="0" dirty="0" err="1"/>
                        <a:t>inplace</a:t>
                      </a:r>
                      <a:r>
                        <a:rPr lang="en-US" altLang="ko-KR" sz="800" b="0" dirty="0"/>
                        <a:t>=True </a:t>
                      </a:r>
                      <a:r>
                        <a:rPr lang="ko-KR" altLang="en-US" sz="800" b="0" dirty="0"/>
                        <a:t>옵션이 </a:t>
                      </a:r>
                      <a:r>
                        <a:rPr lang="ko-KR" altLang="en-US" sz="800" b="0" dirty="0" err="1"/>
                        <a:t>하는일은</a:t>
                      </a:r>
                      <a:r>
                        <a:rPr lang="ko-KR" altLang="en-US" sz="800" b="0" dirty="0"/>
                        <a:t> </a:t>
                      </a:r>
                      <a:r>
                        <a:rPr lang="en-US" altLang="ko-KR" sz="800" b="0" dirty="0"/>
                        <a:t>?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예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0" dirty="0" err="1"/>
                        <a:t>data.dropna</a:t>
                      </a:r>
                      <a:r>
                        <a:rPr lang="en-US" altLang="ko-KR" sz="800" b="0" dirty="0"/>
                        <a:t>(subset=['</a:t>
                      </a:r>
                      <a:r>
                        <a:rPr lang="en-US" altLang="ko-KR" sz="800" b="0" dirty="0" err="1"/>
                        <a:t>disp</a:t>
                      </a:r>
                      <a:r>
                        <a:rPr lang="en-US" altLang="ko-KR" sz="800" b="0" dirty="0"/>
                        <a:t>'], axis=0, </a:t>
                      </a:r>
                      <a:r>
                        <a:rPr lang="en-US" altLang="ko-KR" sz="800" b="0" dirty="0" err="1"/>
                        <a:t>inplace</a:t>
                      </a:r>
                      <a:r>
                        <a:rPr lang="en-US" altLang="ko-KR" sz="800" b="0" dirty="0"/>
                        <a:t>=True)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자신의 데이터를 수장한다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inplace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속성을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True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해야 삭제된 데이터가 자신의 데이터로 적용됩니다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9627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데이터셋중에서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필드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mpg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cylinders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두 개의 필드에서 데이터가 </a:t>
                      </a: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NaN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값이 있으면 삭제하려고 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 코드의 나머지 부분을 완성하세요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/>
                        <a:t>data.dropna</a:t>
                      </a:r>
                      <a:r>
                        <a:rPr lang="en-US" altLang="ko-KR" sz="800" b="0" dirty="0"/>
                        <a:t>(                                                            , axis=0, </a:t>
                      </a:r>
                      <a:r>
                        <a:rPr lang="en-US" altLang="ko-KR" sz="800" b="0" dirty="0" err="1"/>
                        <a:t>inplace</a:t>
                      </a:r>
                      <a:r>
                        <a:rPr lang="en-US" altLang="ko-KR" sz="800" b="0" dirty="0"/>
                        <a:t>=True)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subset=[‘mpg’, ‘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cylienders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subset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지정해주면 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subset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리스트 형태로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전돨됩니다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204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핵심요약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703720"/>
            <a:ext cx="8562300" cy="283538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▶데이터의 누락치 제거 절차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isnull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함수등을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데이터의 누락치가 있는지 먼저 체크한다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isnull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True, False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값만 반환하므로 전체적인 누락여부 확인이 어렵다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isnull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sum()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함수를 호출하면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NaN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데이터가 존재 하는지 여부를 쉽게 알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누락치 데이터 건수가 작아서 전체 분석에 영향을 미치지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않을거라고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판단되었을 경우에는 삭제를 진행하고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누락 건수가 많아서 전체 영향을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미친거라고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판단되면 평균값이나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중간값등으로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대체 해서 사용합니다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구간나누기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분석시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사용하는 데이터는 크게 두개의 범주로 나뉩니다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하나는 연속형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불연속형입니다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불연속형은 비연속형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범주형이라고도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하는데   연속형이 평균값을 중요하게 여기는데 반해 불연속형은 개수를 중요하게 여깁니다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연속형이 아닌 데이터 타입들은 불연속형으로 다뤄야 하기 대문에 문자열 형은  불연속형으로 전환하야 사용해야 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연속형 데이터이더라도 불연속형으로 전환해서 분석해야 할 경우에는 구간나누기를 사용합니다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구간나누기후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실제 분석에서는 데이터를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원핫인코딩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방식으로 전환하여 처리합니다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19502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51520" y="476444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학습맺음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74196" y="849859"/>
            <a:ext cx="8254162" cy="527057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이번 회차에서는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구조와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제공하는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이용하셔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외부파일을 일고 쓰는 방법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등을 살펴보았습니다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수고 많으셨습니다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51520" y="2259508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참고자료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74196" y="2632923"/>
            <a:ext cx="4979228" cy="756223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https://docs.anaconda.com/anaconda/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hlinkClick r:id="rId2"/>
              </a:rPr>
              <a:t>https://code.visualstudio.com/docs/getstarted/themes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hlinkClick r:id="rId3"/>
              </a:rPr>
              <a:t>https://pandas.pydata.org/pandas-docs/stable/getting_started/tutorials.html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33436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FF0000"/>
          </a:solidFill>
          <a:headEnd type="none" w="med" len="med"/>
          <a:tailEnd type="triangle" w="med" len="med"/>
        </a:ln>
        <a:effectLst/>
      </a:spPr>
      <a:bodyPr rtlCol="0" anchor="ctr"/>
      <a:lstStyle>
        <a:defPPr marL="0" algn="l">
          <a:defRPr dirty="0" smtClean="0">
            <a:solidFill>
              <a:sysClr val="windowText" lastClr="000000"/>
            </a:solidFill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>
        <a:ln>
          <a:solidFill>
            <a:schemeClr val="tx1">
              <a:lumMod val="85000"/>
              <a:lumOff val="15000"/>
            </a:schemeClr>
          </a:solidFill>
          <a:headEnd type="none" w="med" len="me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square" rtlCol="0" anchor="t">
        <a:spAutoFit/>
      </a:bodyPr>
      <a:lstStyle>
        <a:defPPr algn="l">
          <a:defRPr sz="1800" b="1" dirty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78409</TotalTime>
  <Words>4388</Words>
  <Application>Microsoft Office PowerPoint</Application>
  <PresentationFormat>화면 슬라이드 쇼(16:9)</PresentationFormat>
  <Paragraphs>694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나눔고딕</vt:lpstr>
      <vt:lpstr>돋움</vt:lpstr>
      <vt:lpstr>맑은 고딕</vt:lpstr>
      <vt:lpstr>Arial</vt:lpstr>
      <vt:lpstr>Calibri</vt:lpstr>
      <vt:lpstr>Cambria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백 현숙</cp:lastModifiedBy>
  <cp:revision>4833</cp:revision>
  <cp:lastPrinted>2015-05-26T08:39:57Z</cp:lastPrinted>
  <dcterms:created xsi:type="dcterms:W3CDTF">2004-07-08T01:15:15Z</dcterms:created>
  <dcterms:modified xsi:type="dcterms:W3CDTF">2020-11-25T12:25:17Z</dcterms:modified>
</cp:coreProperties>
</file>