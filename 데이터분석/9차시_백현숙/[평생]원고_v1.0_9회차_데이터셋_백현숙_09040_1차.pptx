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handoutMasterIdLst>
    <p:handoutMasterId r:id="rId41"/>
  </p:handoutMasterIdLst>
  <p:sldIdLst>
    <p:sldId id="1131" r:id="rId2"/>
    <p:sldId id="1141" r:id="rId3"/>
    <p:sldId id="1195" r:id="rId4"/>
    <p:sldId id="1173" r:id="rId5"/>
    <p:sldId id="1208" r:id="rId6"/>
    <p:sldId id="1196" r:id="rId7"/>
    <p:sldId id="1174" r:id="rId8"/>
    <p:sldId id="1175" r:id="rId9"/>
    <p:sldId id="1200" r:id="rId10"/>
    <p:sldId id="1199" r:id="rId11"/>
    <p:sldId id="1176" r:id="rId12"/>
    <p:sldId id="1177" r:id="rId13"/>
    <p:sldId id="1178" r:id="rId14"/>
    <p:sldId id="1179" r:id="rId15"/>
    <p:sldId id="1202" r:id="rId16"/>
    <p:sldId id="1180" r:id="rId17"/>
    <p:sldId id="1203" r:id="rId18"/>
    <p:sldId id="1197" r:id="rId19"/>
    <p:sldId id="1204" r:id="rId20"/>
    <p:sldId id="1209" r:id="rId21"/>
    <p:sldId id="1210" r:id="rId22"/>
    <p:sldId id="1182" r:id="rId23"/>
    <p:sldId id="1215" r:id="rId24"/>
    <p:sldId id="1212" r:id="rId25"/>
    <p:sldId id="1184" r:id="rId26"/>
    <p:sldId id="1206" r:id="rId27"/>
    <p:sldId id="1207" r:id="rId28"/>
    <p:sldId id="1214" r:id="rId29"/>
    <p:sldId id="1185" r:id="rId30"/>
    <p:sldId id="1181" r:id="rId31"/>
    <p:sldId id="1198" r:id="rId32"/>
    <p:sldId id="1183" r:id="rId33"/>
    <p:sldId id="1344" r:id="rId34"/>
    <p:sldId id="1242" r:id="rId35"/>
    <p:sldId id="1132" r:id="rId36"/>
    <p:sldId id="1394" r:id="rId37"/>
    <p:sldId id="1395" r:id="rId38"/>
    <p:sldId id="1135" r:id="rId39"/>
  </p:sldIdLst>
  <p:sldSz cx="9144000" cy="5143500" type="screen16x9"/>
  <p:notesSz cx="6735763" cy="9866313"/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305">
          <p15:clr>
            <a:srgbClr val="A4A3A4"/>
          </p15:clr>
        </p15:guide>
        <p15:guide id="4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sung" initials="S" lastIdx="13" clrIdx="0">
    <p:extLst>
      <p:ext uri="{19B8F6BF-5375-455C-9EA6-DF929625EA0E}">
        <p15:presenceInfo xmlns:p15="http://schemas.microsoft.com/office/powerpoint/2012/main" userId="Sams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180DFB"/>
    <a:srgbClr val="0070C0"/>
    <a:srgbClr val="FFCCCC"/>
    <a:srgbClr val="FFFFFF"/>
    <a:srgbClr val="E46C0A"/>
    <a:srgbClr val="215968"/>
    <a:srgbClr val="BFBFBF"/>
    <a:srgbClr val="FF3300"/>
    <a:srgbClr val="B3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40" autoAdjust="0"/>
    <p:restoredTop sz="86151" autoAdjust="0"/>
  </p:normalViewPr>
  <p:slideViewPr>
    <p:cSldViewPr>
      <p:cViewPr varScale="1">
        <p:scale>
          <a:sx n="114" d="100"/>
          <a:sy n="114" d="100"/>
        </p:scale>
        <p:origin x="115" y="77"/>
      </p:cViewPr>
      <p:guideLst>
        <p:guide orient="horz"/>
        <p:guide/>
        <p:guide orient="horz" pos="305"/>
        <p:guide pos="34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954" y="-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2020-11-24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39552" y="54900"/>
            <a:ext cx="8340531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>
              <a:defRPr sz="2400" b="1" i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92265" y="5147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◈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5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9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155120" cy="579120"/>
          </a:xfrm>
          <a:prstGeom prst="rect">
            <a:avLst/>
          </a:prstGeom>
          <a:pattFill prst="wdUpDiag">
            <a:fgClr>
              <a:schemeClr val="accent4">
                <a:lumMod val="75000"/>
              </a:schemeClr>
            </a:fgClr>
            <a:bgClr>
              <a:schemeClr val="accent4">
                <a:lumMod val="50000"/>
              </a:schemeClr>
            </a:bgClr>
          </a:patt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 bwMode="auto">
          <a:xfrm>
            <a:off x="0" y="579120"/>
            <a:ext cx="9155120" cy="4565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755576" y="67964"/>
            <a:ext cx="8159824" cy="428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ko-KR" altLang="en-US" sz="24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251520" y="7433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800" dirty="0">
                <a:solidFill>
                  <a:schemeClr val="bg1"/>
                </a:solidFill>
              </a:rPr>
              <a:t>◈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9"/>
          <p:cNvSpPr>
            <a:spLocks noChangeArrowheads="1"/>
          </p:cNvSpPr>
          <p:nvPr userDrawn="1"/>
        </p:nvSpPr>
        <p:spPr bwMode="auto">
          <a:xfrm>
            <a:off x="25257" y="253583"/>
            <a:ext cx="9083247" cy="39023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Rectangle 19"/>
          <p:cNvSpPr>
            <a:spLocks noChangeArrowheads="1"/>
          </p:cNvSpPr>
          <p:nvPr userDrawn="1"/>
        </p:nvSpPr>
        <p:spPr bwMode="auto">
          <a:xfrm>
            <a:off x="219938" y="4155926"/>
            <a:ext cx="8901538" cy="9570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Rectangle 19"/>
          <p:cNvSpPr>
            <a:spLocks noChangeArrowheads="1"/>
          </p:cNvSpPr>
          <p:nvPr userDrawn="1"/>
        </p:nvSpPr>
        <p:spPr bwMode="auto">
          <a:xfrm>
            <a:off x="25259" y="4155874"/>
            <a:ext cx="290650" cy="957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30" tIns="45715" rIns="72000" bIns="45715" anchor="ctr"/>
          <a:lstStyle/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션</a:t>
            </a:r>
            <a:endParaRPr kumimoji="0" lang="ko-KR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Rectangle 22"/>
          <p:cNvSpPr>
            <a:spLocks noChangeArrowheads="1"/>
          </p:cNvSpPr>
          <p:nvPr userDrawn="1"/>
        </p:nvSpPr>
        <p:spPr bwMode="auto">
          <a:xfrm>
            <a:off x="25257" y="19025"/>
            <a:ext cx="386422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과정명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Rectangle 22"/>
          <p:cNvSpPr>
            <a:spLocks noChangeArrowheads="1"/>
          </p:cNvSpPr>
          <p:nvPr userDrawn="1"/>
        </p:nvSpPr>
        <p:spPr bwMode="auto">
          <a:xfrm>
            <a:off x="5917292" y="19025"/>
            <a:ext cx="3204184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/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Rectangle 22"/>
          <p:cNvSpPr>
            <a:spLocks noChangeArrowheads="1"/>
          </p:cNvSpPr>
          <p:nvPr userDrawn="1"/>
        </p:nvSpPr>
        <p:spPr bwMode="auto">
          <a:xfrm>
            <a:off x="409428" y="19025"/>
            <a:ext cx="2434379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 latinLnBrk="1"/>
            <a:endParaRPr lang="ko-KR" altLang="en-US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22"/>
          <p:cNvSpPr>
            <a:spLocks noChangeArrowheads="1"/>
          </p:cNvSpPr>
          <p:nvPr userDrawn="1"/>
        </p:nvSpPr>
        <p:spPr bwMode="auto">
          <a:xfrm>
            <a:off x="3226326" y="19025"/>
            <a:ext cx="2308448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latinLnBrk="1"/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Rectangle 22"/>
          <p:cNvSpPr>
            <a:spLocks noChangeArrowheads="1"/>
          </p:cNvSpPr>
          <p:nvPr userDrawn="1"/>
        </p:nvSpPr>
        <p:spPr bwMode="auto">
          <a:xfrm>
            <a:off x="2843808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모듈명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Rectangle 22"/>
          <p:cNvSpPr>
            <a:spLocks noChangeArrowheads="1"/>
          </p:cNvSpPr>
          <p:nvPr userDrawn="1"/>
        </p:nvSpPr>
        <p:spPr bwMode="auto">
          <a:xfrm>
            <a:off x="5534774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2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389580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79159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168738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558317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92184" indent="-29218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3067" indent="-24348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394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352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3107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2686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265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1844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423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58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159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738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31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789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476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05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63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76916" y="625122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학습내용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76916" y="212255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학습목표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99592" y="998537"/>
            <a:ext cx="5832648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데이터셋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(Series,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Panel)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데이터셋의 연산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99592" y="2495971"/>
            <a:ext cx="6070873" cy="988722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라이브러리의 필요성을 이해한다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라이브러리를 이용해 데이터셋을 만들 수 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기본타입들을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셋으로 전환하고 원하는 방식으로 데이터를 제어할 수 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49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판다스란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2145119" cy="70095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자료구조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이용한 연산</a:t>
            </a: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400131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데이터셋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3169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앞선 과정에서 우린 다양한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소스들로부터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데이터를 수집하는 방법을 배웠습니다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수집된 데이터들은 각자 동일하거나 다른 형태의 데이터들로 되어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데이터셋은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다향한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형태의 데이터들을 하나의 구조로 만들어서 관리나 분석을 용이하게 할 수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데이터셋을 관리하기 위해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라이브러리를 제공합니다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분석을 위해서는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기존에 사용하던 타입인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list,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같은 것 들을 그냥 사용할 수는 없습니다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딥러닝에서는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파이썬이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기본 타입들을 데이터 분석에 사용하기 쉽도록 제공하고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57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08112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library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144500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데이타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(Data Analysis)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위해 널리 사용되는 파이썬 라이브러리 패키지입니다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클래스를 별도로 만들지 않고도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라이브러릴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이용하여 데이터를 읽고 쓸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통계관련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패키지들에서도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자주 사용하는 라이브러리 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아나콘다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(Anaconda)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이용해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설치하셨다면 이미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패키지는 설치되어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만일 별도로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설치되어 있다면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별도로 설치해야 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54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08112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library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156965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콘솔창에서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pip install 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하면 설치가 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혹시 설치가 되지 않는다면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path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설정이 잘못 되어 있거나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권한이 부족한 경우입니다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pip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명령이 작동 되지 않는다면 환경변수에 경로를 지정해야 하고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권한이 부족하여 설치가 되지 않는다면 콘솔창의 마우스 오른쪽을 눌러서 관리자 권한으로 실행하면 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과정에서는 처음부터 아나콘다 패키지를 이용해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설치했으므로 그냥 사용하시면 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07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71739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library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구성및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21625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라이브러리는 클래스와 여러가지의 내장함수로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구성되어있습니다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데이터 타입은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Series(1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Panel(3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list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타입등을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사용하는 데이터 구조로 변환할 수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분석에서 사용하는 데이터 타입은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list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타입을 그냥 사용하기에는 무리가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읽고 쓰거나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excel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읽고 쓰기 쉽도록 구성되어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8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0490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3169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사용하려면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라이브러리를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별명을 붙여서 사용하는 경우가 많습니다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 pandas as pd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에서 제공하는 데이터 타입은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구조인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Series, 2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구조인 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3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구조인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Panel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(3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차원은 현재 사용 못함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기존의 언어와 달리 각 차원별로 별도의 이름을 붙입니다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15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930043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24730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구조의 타입입니다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구조는 배열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리스트와 같은  일련의 시퀀스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연속된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데이터를 저장합니다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list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타입을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구조로 바꿀 수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list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바꿀때는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데이터를 식별하기 위해 인덱스가 지정됩니다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레이블 인덱스를 지정하지 않으면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부터 시작하는 인덱스가 자동으로 부여됩니다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시리즈는 인덱스와 값 쌍으로 구성되기 때문에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타입과 유사합니다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파이썬이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타입을 이용해서 인덱스를 강제로 부여하는 방법으로  시리즈를 만들 수 도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54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43617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 구조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2778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인덱스는 자기와 짝을 이루는 데이터의 값과 주소를 저장합니다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인덱스는 데이터 값의 검색이나 정렬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결합 등을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할때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쉽게 할 수 있도록 도와주는 구조입니다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빠르게 식별하도록 도와주는 구조입니다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                                           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구조의 데이터에 접근하기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                                           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변수명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  =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9</a:t>
            </a:fld>
            <a:endParaRPr lang="ko-KR" altLang="en-US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1390308A-C6BB-40BC-813A-13993E729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04664"/>
              </p:ext>
            </p:extLst>
          </p:nvPr>
        </p:nvGraphicFramePr>
        <p:xfrm>
          <a:off x="1403648" y="2119369"/>
          <a:ext cx="1800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3272801768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12835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index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0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253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26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43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52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2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1636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67819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exam9_1.py</a:t>
            </a:r>
          </a:p>
          <a:p>
            <a:pPr algn="l"/>
            <a:r>
              <a:rPr lang="en-US" altLang="ko-KR" sz="1200" b="1" dirty="0"/>
              <a:t>import pandas as pd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#pandas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라이브러리를 사용하기 위해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#import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pd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 별도의 이름을  부여하였다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en-US" altLang="ko-KR" sz="1200" b="1" dirty="0"/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</a:t>
            </a:r>
            <a:r>
              <a:rPr lang="ko-KR" altLang="en-US" sz="1200" b="1" dirty="0" err="1"/>
              <a:t>파이썬의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list</a:t>
            </a:r>
            <a:r>
              <a:rPr lang="ko-KR" altLang="en-US" sz="1200" b="1" dirty="0"/>
              <a:t>를 사용하여 </a:t>
            </a:r>
            <a:r>
              <a:rPr lang="en-US" altLang="ko-KR" sz="1200" b="1" dirty="0"/>
              <a:t>Series </a:t>
            </a:r>
            <a:r>
              <a:rPr lang="ko-KR" altLang="en-US" sz="1200" b="1" dirty="0"/>
              <a:t>만들기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 자동으로 인덱스가 부여된다</a:t>
            </a:r>
          </a:p>
          <a:p>
            <a:pPr algn="l"/>
            <a:r>
              <a:rPr lang="en-US" altLang="ko-KR" sz="1200" b="1" dirty="0"/>
              <a:t>data = [10,20,30,40,50]</a:t>
            </a:r>
          </a:p>
          <a:p>
            <a:pPr algn="l"/>
            <a:r>
              <a:rPr lang="en-US" altLang="ko-KR" sz="1200" b="1" dirty="0"/>
              <a:t>series = </a:t>
            </a:r>
            <a:r>
              <a:rPr lang="en-US" altLang="ko-KR" sz="1200" b="1" dirty="0" err="1"/>
              <a:t>pd.Series</a:t>
            </a:r>
            <a:r>
              <a:rPr lang="en-US" altLang="ko-KR" sz="1200" b="1" dirty="0"/>
              <a:t>(data)</a:t>
            </a:r>
          </a:p>
          <a:p>
            <a:pPr algn="l"/>
            <a:r>
              <a:rPr lang="en-US" altLang="ko-KR" sz="1200" b="1" dirty="0"/>
              <a:t>print(type(series)) </a:t>
            </a:r>
          </a:p>
          <a:p>
            <a:pPr algn="l"/>
            <a:r>
              <a:rPr lang="en-US" altLang="ko-KR" sz="1200" b="1" dirty="0"/>
              <a:t>print(series)</a:t>
            </a:r>
          </a:p>
          <a:p>
            <a:pPr algn="l"/>
            <a:endParaRPr lang="en-US" altLang="ko-KR" sz="1200" b="1" dirty="0"/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</a:t>
            </a:r>
            <a:r>
              <a:rPr lang="ko-KR" altLang="en-US" sz="1200" b="1" dirty="0"/>
              <a:t>직접 </a:t>
            </a:r>
            <a:r>
              <a:rPr lang="en-US" altLang="ko-KR" sz="1200" b="1" dirty="0"/>
              <a:t>index </a:t>
            </a:r>
            <a:r>
              <a:rPr lang="ko-KR" altLang="en-US" sz="1200" b="1" dirty="0"/>
              <a:t>를 부여해보기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dict</a:t>
            </a:r>
            <a:r>
              <a:rPr lang="ko-KR" altLang="en-US" sz="1200" b="1" dirty="0"/>
              <a:t>타입 사용</a:t>
            </a:r>
            <a:r>
              <a:rPr lang="en-US" altLang="ko-KR" sz="1200" b="1" dirty="0"/>
              <a:t>)</a:t>
            </a:r>
            <a:endParaRPr lang="ko-KR" altLang="en-US" sz="1200" b="1" dirty="0"/>
          </a:p>
          <a:p>
            <a:pPr algn="l"/>
            <a:r>
              <a:rPr lang="en-US" altLang="ko-KR" sz="1200" b="1" dirty="0"/>
              <a:t>data2 = {'a':1, 'b':2, 'c':3, 'd':4, 'e':5}</a:t>
            </a:r>
          </a:p>
          <a:p>
            <a:pPr algn="l"/>
            <a:r>
              <a:rPr lang="en-US" altLang="ko-KR" sz="1200" b="1" dirty="0"/>
              <a:t>series2 = </a:t>
            </a:r>
            <a:r>
              <a:rPr lang="en-US" altLang="ko-KR" sz="1200" b="1" dirty="0" err="1"/>
              <a:t>pd.Series</a:t>
            </a:r>
            <a:r>
              <a:rPr lang="en-US" altLang="ko-KR" sz="1200" b="1" dirty="0"/>
              <a:t>(data2)</a:t>
            </a:r>
          </a:p>
          <a:p>
            <a:pPr algn="l"/>
            <a:r>
              <a:rPr lang="en-US" altLang="ko-KR" sz="1200" b="1" dirty="0"/>
              <a:t>print(series2)</a:t>
            </a:r>
          </a:p>
          <a:p>
            <a:br>
              <a:rPr lang="en-US" altLang="ko-KR" b="1" dirty="0"/>
            </a:br>
            <a:endParaRPr lang="en-US" altLang="ko-KR" b="1" dirty="0"/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CA2692-8B3B-47F6-B2ED-D6E91DBB4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839" y="843558"/>
            <a:ext cx="3667125" cy="2447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897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58044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95519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구조의 타입입니다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은 데이터를 행과 열로 이루어진 테이블의 형태로 저장합니다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통계언어에서 비롯되었습니다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언어의 기능이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파이썬으로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구현되어서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언어보다는 기능이 좀 떨어지지만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다루기 충분한 요소들을 가지고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열과 행으로 구성되는데 열은 각자 다른 타입으로 구성될 수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저장할때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방법이 테이블 형태로 데이터를 저장하는 것입니다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관계형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데이터베이스라던가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Excel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자료 그리고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형식의 자료들이 테이블의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구조형태입니다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이러한 유형의 데이터를 다루는데 최적화된 도구입니다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br>
              <a:rPr lang="en-US" altLang="ko-KR" b="1" dirty="0"/>
            </a:br>
            <a:endParaRPr lang="en-US" altLang="ko-KR" b="1" dirty="0"/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803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74436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5184576" cy="295464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exam9_2.py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/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as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</a:p>
          <a:p>
            <a:pPr algn="l"/>
            <a:b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= {</a:t>
            </a:r>
          </a:p>
          <a:p>
            <a:pPr lvl="1"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'name':['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홍길동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임꺽정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장길산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홍경래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'],</a:t>
            </a:r>
          </a:p>
          <a:p>
            <a:pPr lvl="1"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':[90, 80, 70, 70],</a:t>
            </a:r>
          </a:p>
          <a:p>
            <a:pPr lvl="1"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eng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':[99, 98, 97, 46],</a:t>
            </a:r>
          </a:p>
          <a:p>
            <a:pPr lvl="1"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'mat':[90, 70, 70, 60],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df =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pd.DataFrame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(data)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print("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", type(df))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print(df)</a:t>
            </a: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377799-13FF-45C4-94C6-4E2F37E036BB}"/>
              </a:ext>
            </a:extLst>
          </p:cNvPr>
          <p:cNvSpPr txBox="1"/>
          <p:nvPr/>
        </p:nvSpPr>
        <p:spPr bwMode="auto">
          <a:xfrm>
            <a:off x="4716016" y="843558"/>
            <a:ext cx="419960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타입의 데이터를 정의한다</a:t>
            </a:r>
          </a:p>
          <a:p>
            <a:pPr algn="l"/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타입은 키와 값 쌍으로 이루어진다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특정키값에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데이터를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여러개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넣을 경우에 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리스트 형태로 저장할 수 있다 </a:t>
            </a: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6E117C-143E-45DA-AAE3-05CA9874E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199437"/>
            <a:ext cx="3315558" cy="129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7135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97213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Panel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246220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Panel</a:t>
            </a:r>
            <a:r>
              <a:rPr lang="ko-KR" altLang="en-US" sz="1400" dirty="0"/>
              <a:t>은 </a:t>
            </a:r>
            <a:r>
              <a:rPr lang="en-US" altLang="ko-KR" sz="1400" dirty="0"/>
              <a:t>3</a:t>
            </a:r>
            <a:r>
              <a:rPr lang="ko-KR" altLang="en-US" sz="1400" dirty="0"/>
              <a:t>차원 자료구조이다 </a:t>
            </a:r>
            <a:endParaRPr lang="en-US" altLang="ko-K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Panel</a:t>
            </a:r>
            <a:r>
              <a:rPr lang="ko-KR" altLang="en-US" sz="1400" dirty="0"/>
              <a:t>은 </a:t>
            </a:r>
            <a:r>
              <a:rPr lang="en-US" altLang="ko-KR" sz="1400" dirty="0"/>
              <a:t>Axis 0 (items), Axis 1 (</a:t>
            </a:r>
            <a:r>
              <a:rPr lang="en-US" altLang="ko-KR" sz="1400" dirty="0" err="1"/>
              <a:t>major_axis</a:t>
            </a:r>
            <a:r>
              <a:rPr lang="en-US" altLang="ko-KR" sz="1400" dirty="0"/>
              <a:t>), Axis 2 (</a:t>
            </a:r>
            <a:r>
              <a:rPr lang="en-US" altLang="ko-KR" sz="1400" dirty="0" err="1"/>
              <a:t>minor_axis</a:t>
            </a:r>
            <a:r>
              <a:rPr lang="en-US" altLang="ko-KR" sz="1400" dirty="0"/>
              <a:t>) </a:t>
            </a:r>
            <a:r>
              <a:rPr lang="ko-KR" altLang="en-US" sz="1400" dirty="0"/>
              <a:t>등 </a:t>
            </a:r>
            <a:r>
              <a:rPr lang="en-US" altLang="ko-KR" sz="1400" dirty="0"/>
              <a:t>3</a:t>
            </a:r>
            <a:r>
              <a:rPr lang="ko-KR" altLang="en-US" sz="1400" dirty="0"/>
              <a:t>개의 축을 가지고 있다</a:t>
            </a:r>
            <a:endParaRPr lang="en-US" altLang="ko-K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Axis 0</a:t>
            </a:r>
            <a:r>
              <a:rPr lang="ko-KR" altLang="en-US" sz="1400" dirty="0"/>
              <a:t>은 그 한 요소가 </a:t>
            </a:r>
            <a:r>
              <a:rPr lang="en-US" altLang="ko-KR" sz="1400" dirty="0"/>
              <a:t>2</a:t>
            </a:r>
            <a:r>
              <a:rPr lang="ko-KR" altLang="en-US" sz="1400" dirty="0"/>
              <a:t>차원의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에 해당된다</a:t>
            </a:r>
            <a:r>
              <a:rPr lang="en-US" altLang="ko-KR" sz="1400" dirty="0"/>
              <a:t>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Axis 1</a:t>
            </a:r>
            <a:r>
              <a:rPr lang="ko-KR" altLang="en-US" sz="1400" dirty="0"/>
              <a:t>은 </a:t>
            </a:r>
            <a:r>
              <a:rPr lang="en-US" altLang="ko-KR" sz="1400" dirty="0" err="1"/>
              <a:t>DataFrame</a:t>
            </a:r>
            <a:r>
              <a:rPr lang="ko-KR" altLang="en-US" sz="1400" dirty="0"/>
              <a:t>의 행</a:t>
            </a:r>
            <a:r>
              <a:rPr lang="en-US" altLang="ko-KR" sz="1400" dirty="0"/>
              <a:t>(row)</a:t>
            </a:r>
            <a:r>
              <a:rPr lang="ko-KR" altLang="en-US" sz="1400" dirty="0"/>
              <a:t>에 해당되고</a:t>
            </a:r>
            <a:r>
              <a:rPr lang="en-US" altLang="ko-KR" sz="1400" dirty="0"/>
              <a:t>, Axis 2</a:t>
            </a:r>
            <a:r>
              <a:rPr lang="ko-KR" altLang="en-US" sz="1400" dirty="0"/>
              <a:t>는 </a:t>
            </a:r>
            <a:r>
              <a:rPr lang="en-US" altLang="ko-KR" sz="1400" dirty="0" err="1"/>
              <a:t>DataFrame</a:t>
            </a:r>
            <a:r>
              <a:rPr lang="ko-KR" altLang="en-US" sz="1400" dirty="0"/>
              <a:t>의 열</a:t>
            </a:r>
            <a:r>
              <a:rPr lang="en-US" altLang="ko-KR" sz="1400" dirty="0"/>
              <a:t>(column)</a:t>
            </a:r>
            <a:r>
              <a:rPr lang="ko-KR" altLang="en-US" sz="1400" dirty="0"/>
              <a:t>에 해당된다</a:t>
            </a:r>
            <a:r>
              <a:rPr lang="en-US" altLang="ko-KR" sz="1400" dirty="0"/>
              <a:t>.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파이썬의</a:t>
            </a:r>
            <a:r>
              <a:rPr lang="ko-KR" altLang="en-US" sz="1400" dirty="0"/>
              <a:t> </a:t>
            </a:r>
            <a:r>
              <a:rPr lang="en-US" altLang="ko-KR" sz="1400" dirty="0"/>
              <a:t>3</a:t>
            </a:r>
            <a:r>
              <a:rPr lang="ko-KR" altLang="en-US" sz="1400" dirty="0"/>
              <a:t>차원배열을 이용해 </a:t>
            </a:r>
            <a:r>
              <a:rPr lang="en-US" altLang="ko-KR" sz="1400" dirty="0"/>
              <a:t>Panel </a:t>
            </a:r>
            <a:r>
              <a:rPr lang="ko-KR" altLang="en-US" sz="1400" dirty="0"/>
              <a:t>객체를 만들 수 있습니다 </a:t>
            </a:r>
            <a:endParaRPr lang="en-US" altLang="ko-KR" sz="14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38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06552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Panel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8498054" cy="34163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b="1" dirty="0"/>
              <a:t>파일명 </a:t>
            </a:r>
            <a:r>
              <a:rPr lang="en-US" altLang="ko-KR" sz="1200" b="1" dirty="0"/>
              <a:t>: exam9_3.py</a:t>
            </a:r>
            <a:br>
              <a:rPr lang="en-US" altLang="ko-KR" sz="1200" b="1" dirty="0"/>
            </a:br>
            <a:r>
              <a:rPr lang="en-US" altLang="ko-KR" sz="1200" b="1" dirty="0"/>
              <a:t>import pandas as pd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#3</a:t>
            </a:r>
            <a:r>
              <a:rPr lang="ko-KR" altLang="en-US" sz="1200" b="1" dirty="0"/>
              <a:t>차원 배열을 만든다</a:t>
            </a:r>
            <a:r>
              <a:rPr lang="en-US" altLang="ko-KR" sz="1200" b="1" dirty="0"/>
              <a:t>.  - list of list o </a:t>
            </a:r>
            <a:r>
              <a:rPr lang="en-US" altLang="ko-KR" sz="1200" b="1" dirty="0" err="1"/>
              <a:t>flist</a:t>
            </a:r>
            <a:r>
              <a:rPr lang="en-US" altLang="ko-KR" sz="1200" b="1" dirty="0"/>
              <a:t>  [ [ [ ], [], []. ]. </a:t>
            </a:r>
            <a:endParaRPr lang="ko-KR" altLang="en-US" sz="1200" b="1" dirty="0"/>
          </a:p>
          <a:p>
            <a:pPr algn="l"/>
            <a:br>
              <a:rPr lang="ko-KR" altLang="en-US" sz="1200" b="1" dirty="0"/>
            </a:br>
            <a:r>
              <a:rPr lang="en-US" altLang="ko-KR" sz="1200" b="1" dirty="0"/>
              <a:t>array = [ [[1,2,3], [4,5,6]],</a:t>
            </a:r>
          </a:p>
          <a:p>
            <a:pPr algn="l"/>
            <a:r>
              <a:rPr lang="en-US" altLang="ko-KR" sz="1200" b="1" dirty="0"/>
              <a:t>            [[7,8,9], [10,11,12]],</a:t>
            </a:r>
          </a:p>
          <a:p>
            <a:pPr algn="l"/>
            <a:r>
              <a:rPr lang="en-US" altLang="ko-KR" sz="1200" b="1" dirty="0"/>
              <a:t>            [[13,14,15], [16,17,18]]] 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array= </a:t>
            </a:r>
            <a:r>
              <a:rPr lang="en-US" altLang="ko-KR" sz="1200" b="1" dirty="0" err="1"/>
              <a:t>pd.Panel</a:t>
            </a:r>
            <a:r>
              <a:rPr lang="en-US" altLang="ko-KR" sz="1200" b="1" dirty="0"/>
              <a:t>(array)</a:t>
            </a:r>
          </a:p>
          <a:p>
            <a:pPr algn="l"/>
            <a:r>
              <a:rPr lang="en-US" altLang="ko-KR" sz="1200" b="1" dirty="0"/>
              <a:t>print("</a:t>
            </a:r>
            <a:r>
              <a:rPr lang="ko-KR" altLang="en-US" sz="1200" b="1" dirty="0"/>
              <a:t>타입 </a:t>
            </a:r>
            <a:r>
              <a:rPr lang="en-US" altLang="ko-KR" sz="1200" b="1" dirty="0"/>
              <a:t>: ", type(array))</a:t>
            </a:r>
          </a:p>
          <a:p>
            <a:pPr algn="l"/>
            <a:r>
              <a:rPr lang="en-US" altLang="ko-KR" sz="1200" b="1" dirty="0"/>
              <a:t>print(array)</a:t>
            </a:r>
          </a:p>
          <a:p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8FEE65-E41B-4BDF-92F1-B0BDC9B7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2067694"/>
            <a:ext cx="4867275" cy="1238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26C19D-A5BB-4EE9-BEA9-72B667505D1B}"/>
              </a:ext>
            </a:extLst>
          </p:cNvPr>
          <p:cNvSpPr txBox="1"/>
          <p:nvPr/>
        </p:nvSpPr>
        <p:spPr bwMode="auto">
          <a:xfrm>
            <a:off x="5236020" y="805177"/>
            <a:ext cx="266429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실행하면 경고 메시지가 나옵니다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Panel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함수가 사라진다는 의미입니다  </a:t>
            </a:r>
          </a:p>
        </p:txBody>
      </p:sp>
    </p:spTree>
    <p:extLst>
      <p:ext uri="{BB962C8B-B14F-4D97-AF65-F5344CB8AC3E}">
        <p14:creationId xmlns:p14="http://schemas.microsoft.com/office/powerpoint/2010/main" val="2443063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425644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엑세스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21652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타입의 데이터를 접근 하는 방법은 인덱스를 활용합니다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각각의 요소에 대한 접근 방법은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변수명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mydata1[0] )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값을 읽어서 출력하기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mydata1[0]=100  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인덱스의 값을 변경하기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 출력 할 수 도 있습니다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mydata1[ 0: 3]  )    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번방부터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번방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이전까지 마지막 방에 있는 데이터는 제외됩니다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  </a:t>
            </a: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mydata1[ :3 ] )       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번방부터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번방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이전까지 출력됩니다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mydata1[ 3: ] 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번방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이후로 마지막까지 출력됩니다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인덱스가 숫자가 아니고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lable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있을 경우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label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이용해 접근할 수 있습니다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561032" lvl="1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 ( mydata2[‘one’] )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9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039321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엑세스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35502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exam9_4.py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 pandas as pd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= [10,20,30,40,50,60]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 =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pd.Series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(data)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print(s[0]) #0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해당 데이터 출력하기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s[1]=200 #1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데이터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수정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print(s[:5]) #5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데이터부터 마지막까지 출력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print(s[2:5]) #2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번데이터부터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 데이터까지 출력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print(s[3:]) #3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 이후로 출력 </a:t>
            </a: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= {'one':'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'two':'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'three':'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삼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'four':'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', 'five':'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'}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=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pd.Series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(data)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print(series)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print(series['one'])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print(series[0:3])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print(series['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one':'three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'])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print(series['two':])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077F40-7797-41CB-BCC7-3833F16CC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427734"/>
            <a:ext cx="1333500" cy="134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821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85364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엑세스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260070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라이브러리에서 가장 빈번하게 사용되는 데이터 타입입니다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행과 열로 구성되어 있고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loc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두개의 함수를 이용해 데이터에 접근할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행과 열의 인덱스를 이용해 접근합니다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loc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행의 인덱스와 열의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컬럼명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필드명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데이터를 접근합니다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데이터가 다음과 같을 때                                   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17</a:t>
            </a:fld>
            <a:endParaRPr lang="ko-KR" altLang="en-US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20E6114D-D2ED-48E5-93D3-A900DA3DD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560884"/>
              </p:ext>
            </p:extLst>
          </p:nvPr>
        </p:nvGraphicFramePr>
        <p:xfrm>
          <a:off x="1187623" y="2274044"/>
          <a:ext cx="252028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70">
                  <a:extLst>
                    <a:ext uri="{9D8B030D-6E8A-4147-A177-3AD203B41FA5}">
                      <a16:colId xmlns:a16="http://schemas.microsoft.com/office/drawing/2014/main" val="880130422"/>
                    </a:ext>
                  </a:extLst>
                </a:gridCol>
                <a:gridCol w="854096">
                  <a:extLst>
                    <a:ext uri="{9D8B030D-6E8A-4147-A177-3AD203B41FA5}">
                      <a16:colId xmlns:a16="http://schemas.microsoft.com/office/drawing/2014/main" val="937769136"/>
                    </a:ext>
                  </a:extLst>
                </a:gridCol>
                <a:gridCol w="518057">
                  <a:extLst>
                    <a:ext uri="{9D8B030D-6E8A-4147-A177-3AD203B41FA5}">
                      <a16:colId xmlns:a16="http://schemas.microsoft.com/office/drawing/2014/main" val="1413746083"/>
                    </a:ext>
                  </a:extLst>
                </a:gridCol>
                <a:gridCol w="518058">
                  <a:extLst>
                    <a:ext uri="{9D8B030D-6E8A-4147-A177-3AD203B41FA5}">
                      <a16:colId xmlns:a16="http://schemas.microsoft.com/office/drawing/2014/main" val="2789953518"/>
                    </a:ext>
                  </a:extLst>
                </a:gridCol>
              </a:tblGrid>
              <a:tr h="3164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index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eng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85148"/>
                  </a:ext>
                </a:extLst>
              </a:tr>
              <a:tr h="3164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153049"/>
                  </a:ext>
                </a:extLst>
              </a:tr>
              <a:tr h="3164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장길산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630710"/>
                  </a:ext>
                </a:extLst>
              </a:tr>
              <a:tr h="3164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임꺽정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143889"/>
                  </a:ext>
                </a:extLst>
              </a:tr>
              <a:tr h="3164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홍경래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2413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026ADA-B0B5-4407-A903-E00CADC7B82C}"/>
              </a:ext>
            </a:extLst>
          </p:cNvPr>
          <p:cNvSpPr txBox="1"/>
          <p:nvPr/>
        </p:nvSpPr>
        <p:spPr bwMode="auto">
          <a:xfrm>
            <a:off x="3980658" y="2127914"/>
            <a:ext cx="3888432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</a:t>
            </a: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mydata.iloc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[0, 0] )</a:t>
            </a:r>
          </a:p>
          <a:p>
            <a:pPr algn="l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mydata.loc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[0, ‘name’])</a:t>
            </a:r>
          </a:p>
          <a:p>
            <a:pPr algn="l"/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</a:t>
            </a: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mydata.iloc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[1, 2] )</a:t>
            </a:r>
          </a:p>
          <a:p>
            <a:pPr algn="l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</a:t>
            </a: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mydata.loc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[1, ‘</a:t>
            </a: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’] )</a:t>
            </a:r>
          </a:p>
          <a:p>
            <a:pPr algn="l"/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8422EDF-82D6-47EB-ADBE-BAF5215A65A9}"/>
              </a:ext>
            </a:extLst>
          </p:cNvPr>
          <p:cNvCxnSpPr>
            <a:cxnSpLocks/>
          </p:cNvCxnSpPr>
          <p:nvPr/>
        </p:nvCxnSpPr>
        <p:spPr>
          <a:xfrm flipH="1">
            <a:off x="2059940" y="2463019"/>
            <a:ext cx="1937106" cy="550969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6C80D79-7C0E-4110-A4B5-EA5A34A7B2E9}"/>
              </a:ext>
            </a:extLst>
          </p:cNvPr>
          <p:cNvCxnSpPr>
            <a:cxnSpLocks/>
          </p:cNvCxnSpPr>
          <p:nvPr/>
        </p:nvCxnSpPr>
        <p:spPr>
          <a:xfrm flipH="1">
            <a:off x="2807804" y="3265619"/>
            <a:ext cx="1368152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4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85364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엑세스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163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exam9_5.py</a:t>
            </a:r>
          </a:p>
          <a:p>
            <a:pPr algn="l"/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import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as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b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= {</a:t>
            </a: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:[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＇홍길동＇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＇임꺽정＇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＇장길산＇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홍경래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＇이상민＇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＇김수경＇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],</a:t>
            </a: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:[90, 80, 70, 70, 60, 70],</a:t>
            </a: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eng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:[99, 98, 97, 46, 77, 56],</a:t>
            </a: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mat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:[90, 70, 70, 60, 88, 99],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df =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pd.DataFrame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(data)</a:t>
            </a:r>
          </a:p>
          <a:p>
            <a:pPr algn="l"/>
            <a:b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df.head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 ) #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앞의 다섯명에 대한 데이터만 나온다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b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＂지정한 열만 출력＂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df[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df[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df.columns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#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컬럼이름만 출력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.......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이어서 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18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85364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엑세스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60097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exam9_5.py</a:t>
            </a:r>
          </a:p>
          <a:p>
            <a:pPr algn="l"/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배열에서의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위치값으로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데이터를 접근 할 수 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print("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 사용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-----------")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[0,0]) #0,0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번에 해당하는 데이터 출력하기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[3,2]) #3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행의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열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[2:4,2]) #2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번행의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3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번행의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번열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b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df.iloc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[2:4,2:4]) #2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번행의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2,3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3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번행의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2,3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번열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b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print("loc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 사용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-------------")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#loc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필드명으로 데이터를 출력할 수 있다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[0, 'name']) #0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행의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 값 출력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[3, '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eng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']) #0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번째 행의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 값 출력 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df.loc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[:, 'name':'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eng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']) #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슬라이싱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모든행의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열부터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열까지 출력하라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b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436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17480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Panel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접근방법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07802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Panel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축을 가지고 있다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Panel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데이터 구조를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타입으로 다음처럼 나타낼 수 있다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/>
              <a:t>data = {</a:t>
            </a:r>
          </a:p>
          <a:p>
            <a:pPr lvl="1" algn="l"/>
            <a:r>
              <a:rPr lang="en-US" altLang="ko-KR" sz="1200" dirty="0"/>
              <a:t>'class1':{</a:t>
            </a:r>
          </a:p>
          <a:p>
            <a:pPr lvl="2" algn="l"/>
            <a:r>
              <a:rPr lang="en-US" altLang="ko-KR" sz="1200" dirty="0"/>
              <a:t>'name': ['</a:t>
            </a:r>
            <a:r>
              <a:rPr lang="ko-KR" altLang="en-US" sz="1200" dirty="0"/>
              <a:t>박동석</a:t>
            </a:r>
            <a:r>
              <a:rPr lang="en-US" altLang="ko-KR" sz="1200" dirty="0"/>
              <a:t>', '</a:t>
            </a:r>
            <a:r>
              <a:rPr lang="ko-KR" altLang="en-US" sz="1200" dirty="0" err="1"/>
              <a:t>권다윤</a:t>
            </a:r>
            <a:r>
              <a:rPr lang="en-US" altLang="ko-KR" sz="1200" dirty="0"/>
              <a:t>', '</a:t>
            </a:r>
            <a:r>
              <a:rPr lang="ko-KR" altLang="en-US" sz="1200" dirty="0" err="1"/>
              <a:t>김민제</a:t>
            </a:r>
            <a:r>
              <a:rPr lang="en-US" altLang="ko-KR" sz="1200" dirty="0"/>
              <a:t>'],</a:t>
            </a:r>
          </a:p>
          <a:p>
            <a:pPr lvl="2" algn="l"/>
            <a:r>
              <a:rPr lang="en-US" altLang="ko-KR" sz="1200" dirty="0"/>
              <a:t>'height':[173, 177, 183]</a:t>
            </a:r>
          </a:p>
          <a:p>
            <a:pPr lvl="1" algn="l"/>
            <a:r>
              <a:rPr lang="en-US" altLang="ko-KR" sz="1200" dirty="0"/>
              <a:t>},</a:t>
            </a:r>
            <a:br>
              <a:rPr lang="en-US" altLang="ko-KR" sz="1200" dirty="0"/>
            </a:br>
            <a:r>
              <a:rPr lang="en-US" altLang="ko-KR" sz="1200" dirty="0"/>
              <a:t>'class2':{</a:t>
            </a:r>
          </a:p>
          <a:p>
            <a:pPr lvl="2" algn="l"/>
            <a:r>
              <a:rPr lang="en-US" altLang="ko-KR" sz="1200" dirty="0"/>
              <a:t>'name': ['</a:t>
            </a:r>
            <a:r>
              <a:rPr lang="ko-KR" altLang="en-US" sz="1200" dirty="0"/>
              <a:t>김민수</a:t>
            </a:r>
            <a:r>
              <a:rPr lang="en-US" altLang="ko-KR" sz="1200" dirty="0"/>
              <a:t>', '</a:t>
            </a:r>
            <a:r>
              <a:rPr lang="ko-KR" altLang="en-US" sz="1200" dirty="0"/>
              <a:t>이용희</a:t>
            </a:r>
            <a:r>
              <a:rPr lang="en-US" altLang="ko-KR" sz="1200" dirty="0"/>
              <a:t>', '</a:t>
            </a:r>
            <a:r>
              <a:rPr lang="ko-KR" altLang="en-US" sz="1200" dirty="0"/>
              <a:t>임미영</a:t>
            </a:r>
            <a:r>
              <a:rPr lang="en-US" altLang="ko-KR" sz="1200" dirty="0"/>
              <a:t>'],</a:t>
            </a:r>
          </a:p>
          <a:p>
            <a:pPr lvl="2" algn="l"/>
            <a:r>
              <a:rPr lang="en-US" altLang="ko-KR" sz="1200" dirty="0"/>
              <a:t>'height':[179, 167, 180]</a:t>
            </a:r>
          </a:p>
          <a:p>
            <a:pPr lvl="1" algn="l"/>
            <a:r>
              <a:rPr lang="en-US" altLang="ko-KR" sz="1200" dirty="0"/>
              <a:t>}</a:t>
            </a:r>
          </a:p>
          <a:p>
            <a:pPr algn="l"/>
            <a:r>
              <a:rPr lang="en-US" altLang="ko-KR" sz="1200" dirty="0"/>
              <a:t>}</a:t>
            </a:r>
          </a:p>
          <a:p>
            <a:pPr algn="l"/>
            <a:endParaRPr lang="en-US" altLang="ko-KR" sz="1200" dirty="0"/>
          </a:p>
          <a:p>
            <a:pPr algn="l"/>
            <a:r>
              <a:rPr lang="en-US" altLang="ko-KR" sz="1200" dirty="0"/>
              <a:t>panel = </a:t>
            </a:r>
            <a:r>
              <a:rPr lang="en-US" altLang="ko-KR" sz="1200" dirty="0" err="1"/>
              <a:t>pd.Panel</a:t>
            </a:r>
            <a:r>
              <a:rPr lang="en-US" altLang="ko-KR" sz="1200" dirty="0"/>
              <a:t>( data )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class1 = panel[‘class1’]</a:t>
            </a:r>
          </a:p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print( class1.iloc[0,0] )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20</a:t>
            </a:fld>
            <a:endParaRPr lang="ko-KR" altLang="en-US"/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646A955E-0F5C-40BA-A408-2E9F2BD9D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945716"/>
              </p:ext>
            </p:extLst>
          </p:nvPr>
        </p:nvGraphicFramePr>
        <p:xfrm>
          <a:off x="5148064" y="1683917"/>
          <a:ext cx="2787642" cy="1445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214">
                  <a:extLst>
                    <a:ext uri="{9D8B030D-6E8A-4147-A177-3AD203B41FA5}">
                      <a16:colId xmlns:a16="http://schemas.microsoft.com/office/drawing/2014/main" val="2978770257"/>
                    </a:ext>
                  </a:extLst>
                </a:gridCol>
                <a:gridCol w="929214">
                  <a:extLst>
                    <a:ext uri="{9D8B030D-6E8A-4147-A177-3AD203B41FA5}">
                      <a16:colId xmlns:a16="http://schemas.microsoft.com/office/drawing/2014/main" val="2045590687"/>
                    </a:ext>
                  </a:extLst>
                </a:gridCol>
                <a:gridCol w="929214">
                  <a:extLst>
                    <a:ext uri="{9D8B030D-6E8A-4147-A177-3AD203B41FA5}">
                      <a16:colId xmlns:a16="http://schemas.microsoft.com/office/drawing/2014/main" val="3082984601"/>
                    </a:ext>
                  </a:extLst>
                </a:gridCol>
              </a:tblGrid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index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height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928110"/>
                  </a:ext>
                </a:extLst>
              </a:tr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김민수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179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634156"/>
                  </a:ext>
                </a:extLst>
              </a:tr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이용희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412217"/>
                  </a:ext>
                </a:extLst>
              </a:tr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임미영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51743"/>
                  </a:ext>
                </a:extLst>
              </a:tr>
            </a:tbl>
          </a:graphicData>
        </a:graphic>
      </p:graphicFrame>
      <p:graphicFrame>
        <p:nvGraphicFramePr>
          <p:cNvPr id="16" name="표 8">
            <a:extLst>
              <a:ext uri="{FF2B5EF4-FFF2-40B4-BE49-F238E27FC236}">
                <a16:creationId xmlns:a16="http://schemas.microsoft.com/office/drawing/2014/main" id="{BD4F1DF7-0A7A-4843-B4A9-99AE80251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914355"/>
              </p:ext>
            </p:extLst>
          </p:nvPr>
        </p:nvGraphicFramePr>
        <p:xfrm>
          <a:off x="4499992" y="2056580"/>
          <a:ext cx="2787642" cy="1445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214">
                  <a:extLst>
                    <a:ext uri="{9D8B030D-6E8A-4147-A177-3AD203B41FA5}">
                      <a16:colId xmlns:a16="http://schemas.microsoft.com/office/drawing/2014/main" val="2978770257"/>
                    </a:ext>
                  </a:extLst>
                </a:gridCol>
                <a:gridCol w="936676">
                  <a:extLst>
                    <a:ext uri="{9D8B030D-6E8A-4147-A177-3AD203B41FA5}">
                      <a16:colId xmlns:a16="http://schemas.microsoft.com/office/drawing/2014/main" val="2045590687"/>
                    </a:ext>
                  </a:extLst>
                </a:gridCol>
                <a:gridCol w="921752">
                  <a:extLst>
                    <a:ext uri="{9D8B030D-6E8A-4147-A177-3AD203B41FA5}">
                      <a16:colId xmlns:a16="http://schemas.microsoft.com/office/drawing/2014/main" val="3082984601"/>
                    </a:ext>
                  </a:extLst>
                </a:gridCol>
              </a:tblGrid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index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height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928110"/>
                  </a:ext>
                </a:extLst>
              </a:tr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박동석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173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634156"/>
                  </a:ext>
                </a:extLst>
              </a:tr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권다윤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177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412217"/>
                  </a:ext>
                </a:extLst>
              </a:tr>
              <a:tr h="3614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김민제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517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DB31116-E499-4F87-9BA8-1A0E8FF62054}"/>
              </a:ext>
            </a:extLst>
          </p:cNvPr>
          <p:cNvSpPr txBox="1"/>
          <p:nvPr/>
        </p:nvSpPr>
        <p:spPr bwMode="auto">
          <a:xfrm>
            <a:off x="4355976" y="1645381"/>
            <a:ext cx="102878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800" b="1" dirty="0">
                <a:latin typeface="+mn-ea"/>
                <a:ea typeface="+mn-ea"/>
              </a:rPr>
              <a:t>class1</a:t>
            </a:r>
            <a:endParaRPr lang="ko-KR" altLang="en-US" sz="1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C71C2-3BB9-4AC2-8998-A2E82B42FBAA}"/>
              </a:ext>
            </a:extLst>
          </p:cNvPr>
          <p:cNvSpPr txBox="1"/>
          <p:nvPr/>
        </p:nvSpPr>
        <p:spPr bwMode="auto">
          <a:xfrm>
            <a:off x="5087373" y="1240072"/>
            <a:ext cx="102878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800" b="1" dirty="0">
                <a:latin typeface="+mn-ea"/>
                <a:ea typeface="+mn-ea"/>
              </a:rPr>
              <a:t>class2</a:t>
            </a:r>
            <a:endParaRPr lang="ko-KR" altLang="en-US" sz="1800" b="1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7B7844-C3AC-4EA1-811C-8D5DC7A2ECBB}"/>
              </a:ext>
            </a:extLst>
          </p:cNvPr>
          <p:cNvSpPr/>
          <p:nvPr/>
        </p:nvSpPr>
        <p:spPr bwMode="auto">
          <a:xfrm>
            <a:off x="4355976" y="1131590"/>
            <a:ext cx="3816424" cy="252028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A561872-1296-44FE-AB22-C117D4A5906B}"/>
              </a:ext>
            </a:extLst>
          </p:cNvPr>
          <p:cNvCxnSpPr>
            <a:cxnSpLocks/>
          </p:cNvCxnSpPr>
          <p:nvPr/>
        </p:nvCxnSpPr>
        <p:spPr>
          <a:xfrm flipV="1">
            <a:off x="2267744" y="2571750"/>
            <a:ext cx="3456384" cy="133167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5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3323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Panel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40119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exam9_6.py</a:t>
            </a:r>
          </a:p>
          <a:p>
            <a:pPr algn="l"/>
            <a:r>
              <a:rPr lang="en-US" altLang="ko-KR" sz="1200" b="1" dirty="0"/>
              <a:t>import pandas as pd 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data = {</a:t>
            </a:r>
          </a:p>
          <a:p>
            <a:pPr lvl="1" algn="l"/>
            <a:r>
              <a:rPr lang="en-US" altLang="ko-KR" sz="1200" b="1" dirty="0"/>
              <a:t>'class1':{</a:t>
            </a:r>
          </a:p>
          <a:p>
            <a:pPr lvl="2" algn="l"/>
            <a:r>
              <a:rPr lang="en-US" altLang="ko-KR" sz="1200" b="1" dirty="0"/>
              <a:t>'name': ['</a:t>
            </a:r>
            <a:r>
              <a:rPr lang="ko-KR" altLang="en-US" sz="1200" b="1" dirty="0"/>
              <a:t>박동석</a:t>
            </a:r>
            <a:r>
              <a:rPr lang="en-US" altLang="ko-KR" sz="1200" b="1" dirty="0"/>
              <a:t>', '</a:t>
            </a:r>
            <a:r>
              <a:rPr lang="ko-KR" altLang="en-US" sz="1200" b="1" dirty="0" err="1"/>
              <a:t>권다윤</a:t>
            </a:r>
            <a:r>
              <a:rPr lang="en-US" altLang="ko-KR" sz="1200" b="1" dirty="0"/>
              <a:t>', '</a:t>
            </a:r>
            <a:r>
              <a:rPr lang="ko-KR" altLang="en-US" sz="1200" b="1" dirty="0" err="1"/>
              <a:t>김민제</a:t>
            </a:r>
            <a:r>
              <a:rPr lang="en-US" altLang="ko-KR" sz="1200" b="1" dirty="0"/>
              <a:t>'],</a:t>
            </a:r>
          </a:p>
          <a:p>
            <a:pPr lvl="2" algn="l"/>
            <a:r>
              <a:rPr lang="en-US" altLang="ko-KR" sz="1200" b="1" dirty="0"/>
              <a:t>'height':[173, 177, 183]</a:t>
            </a:r>
          </a:p>
          <a:p>
            <a:pPr lvl="1" algn="l"/>
            <a:r>
              <a:rPr lang="en-US" altLang="ko-KR" sz="1200" b="1" dirty="0"/>
              <a:t>},</a:t>
            </a:r>
            <a:br>
              <a:rPr lang="en-US" altLang="ko-KR" sz="1200" b="1" dirty="0"/>
            </a:br>
            <a:r>
              <a:rPr lang="en-US" altLang="ko-KR" sz="1200" b="1" dirty="0"/>
              <a:t>'class2':{</a:t>
            </a:r>
          </a:p>
          <a:p>
            <a:pPr lvl="2" algn="l"/>
            <a:r>
              <a:rPr lang="en-US" altLang="ko-KR" sz="1200" b="1" dirty="0"/>
              <a:t>'name': ['</a:t>
            </a:r>
            <a:r>
              <a:rPr lang="ko-KR" altLang="en-US" sz="1200" b="1" dirty="0"/>
              <a:t>김민수</a:t>
            </a:r>
            <a:r>
              <a:rPr lang="en-US" altLang="ko-KR" sz="1200" b="1" dirty="0"/>
              <a:t>', '</a:t>
            </a:r>
            <a:r>
              <a:rPr lang="ko-KR" altLang="en-US" sz="1200" b="1" dirty="0"/>
              <a:t>이용희</a:t>
            </a:r>
            <a:r>
              <a:rPr lang="en-US" altLang="ko-KR" sz="1200" b="1" dirty="0"/>
              <a:t>', '</a:t>
            </a:r>
            <a:r>
              <a:rPr lang="ko-KR" altLang="en-US" sz="1200" b="1" dirty="0"/>
              <a:t>임미영</a:t>
            </a:r>
            <a:r>
              <a:rPr lang="en-US" altLang="ko-KR" sz="1200" b="1" dirty="0"/>
              <a:t>'],</a:t>
            </a:r>
          </a:p>
          <a:p>
            <a:pPr lvl="2" algn="l"/>
            <a:r>
              <a:rPr lang="en-US" altLang="ko-KR" sz="1200" b="1" dirty="0"/>
              <a:t>'height':[179, 167, 180]</a:t>
            </a:r>
          </a:p>
          <a:p>
            <a:pPr lvl="1" algn="l"/>
            <a:r>
              <a:rPr lang="en-US" altLang="ko-KR" sz="1200" b="1" dirty="0"/>
              <a:t>}</a:t>
            </a:r>
          </a:p>
          <a:p>
            <a:pPr algn="l"/>
            <a:r>
              <a:rPr lang="en-US" altLang="ko-KR" sz="1200" b="1" dirty="0"/>
              <a:t>}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panel = </a:t>
            </a:r>
            <a:r>
              <a:rPr lang="en-US" altLang="ko-KR" sz="1200" b="1" dirty="0" err="1"/>
              <a:t>pd.Panel</a:t>
            </a:r>
            <a:r>
              <a:rPr lang="en-US" altLang="ko-KR" sz="1200" b="1" dirty="0"/>
              <a:t>(data)</a:t>
            </a:r>
          </a:p>
          <a:p>
            <a:pPr algn="l"/>
            <a:r>
              <a:rPr lang="en-US" altLang="ko-KR" sz="1200" b="1" dirty="0"/>
              <a:t>print(panel)</a:t>
            </a:r>
          </a:p>
          <a:p>
            <a:pPr algn="l"/>
            <a:r>
              <a:rPr lang="ko-KR" altLang="en-US" sz="1200" b="1" dirty="0"/>
              <a:t> </a:t>
            </a:r>
            <a:r>
              <a:rPr lang="en-US" altLang="ko-KR" sz="1200" b="1" dirty="0"/>
              <a:t>.... </a:t>
            </a:r>
            <a:r>
              <a:rPr lang="ko-KR" altLang="en-US" sz="1200" b="1" dirty="0"/>
              <a:t>이어서 </a:t>
            </a:r>
            <a:endParaRPr lang="en-US" altLang="ko-KR" sz="1200" b="1" dirty="0"/>
          </a:p>
          <a:p>
            <a:pPr algn="l"/>
            <a:br>
              <a:rPr lang="en-US" altLang="ko-KR" sz="1200" b="1" dirty="0"/>
            </a:b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607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3323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Panel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61636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파일명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exam9_6.py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df = panel['class1']</a:t>
            </a:r>
          </a:p>
          <a:p>
            <a:pPr algn="l"/>
            <a:r>
              <a:rPr lang="en-US" altLang="ko-KR" sz="1200" b="1" dirty="0"/>
              <a:t>print( </a:t>
            </a:r>
            <a:r>
              <a:rPr lang="en-US" altLang="ko-KR" sz="1200" b="1" dirty="0" err="1"/>
              <a:t>df.iloc</a:t>
            </a:r>
            <a:r>
              <a:rPr lang="en-US" altLang="ko-KR" sz="1200" b="1" dirty="0"/>
              <a:t>[0,0])</a:t>
            </a:r>
          </a:p>
          <a:p>
            <a:pPr algn="l"/>
            <a:r>
              <a:rPr lang="en-US" altLang="ko-KR" sz="1200" b="1" dirty="0"/>
              <a:t>print( </a:t>
            </a:r>
            <a:r>
              <a:rPr lang="en-US" altLang="ko-KR" sz="1200" b="1" dirty="0" err="1"/>
              <a:t>df.columns</a:t>
            </a:r>
            <a:r>
              <a:rPr lang="en-US" altLang="ko-KR" sz="1200" b="1" dirty="0"/>
              <a:t>)</a:t>
            </a:r>
          </a:p>
          <a:p>
            <a:pPr algn="l"/>
            <a:endParaRPr lang="en-US" altLang="ko-KR" sz="1200" b="1" dirty="0"/>
          </a:p>
          <a:p>
            <a:pPr algn="l"/>
            <a:r>
              <a:rPr lang="en-US" altLang="ko-KR" sz="1200" b="1" dirty="0"/>
              <a:t>print("--- for ---")</a:t>
            </a:r>
          </a:p>
          <a:p>
            <a:pPr algn="l"/>
            <a:r>
              <a:rPr lang="en-US" altLang="ko-KR" sz="1200" b="1" dirty="0"/>
              <a:t>for key in panel:</a:t>
            </a:r>
          </a:p>
          <a:p>
            <a:pPr algn="l"/>
            <a:r>
              <a:rPr lang="en-US" altLang="ko-KR" sz="1200" b="1" dirty="0"/>
              <a:t>   item = panel[key]</a:t>
            </a:r>
          </a:p>
          <a:p>
            <a:pPr algn="l"/>
            <a:r>
              <a:rPr lang="en-US" altLang="ko-KR" sz="1200" b="1" dirty="0"/>
              <a:t>   for col in </a:t>
            </a:r>
            <a:r>
              <a:rPr lang="en-US" altLang="ko-KR" sz="1200" b="1" dirty="0" err="1"/>
              <a:t>item.columns</a:t>
            </a:r>
            <a:r>
              <a:rPr lang="en-US" altLang="ko-KR" sz="1200" b="1" dirty="0"/>
              <a:t>:</a:t>
            </a:r>
          </a:p>
          <a:p>
            <a:pPr algn="l"/>
            <a:r>
              <a:rPr lang="en-US" altLang="ko-KR" sz="1200" b="1" dirty="0"/>
              <a:t>        for row in item[col]:</a:t>
            </a:r>
          </a:p>
          <a:p>
            <a:pPr algn="l"/>
            <a:r>
              <a:rPr lang="en-US" altLang="ko-KR" sz="1200" b="1" dirty="0"/>
              <a:t>             print(row, end=' ‘)</a:t>
            </a:r>
          </a:p>
          <a:p>
            <a:pPr algn="l"/>
            <a:r>
              <a:rPr lang="en-US" altLang="ko-KR" sz="1200" b="1" dirty="0"/>
              <a:t>                 print()</a:t>
            </a:r>
          </a:p>
          <a:p>
            <a:pPr algn="l"/>
            <a:br>
              <a:rPr lang="en-US" altLang="ko-KR" sz="1200" b="1" dirty="0"/>
            </a:b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A443D31-8FC2-4E8E-855B-D0A89552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31" y="515471"/>
            <a:ext cx="5000625" cy="3609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6069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판다스란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2145119" cy="70095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자료구조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이용한 연산</a:t>
            </a: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3192574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1636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7786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객체의 산술연산은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단계의 프로세스를 거친다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연산시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벡터 연산을 수행한다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객체에 어떤 숫자를 더하거나 빼는 등의 연산을 진행하면 모든 원소에 대응된다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969E87-B1A5-4DA9-A653-26C11579503E}"/>
              </a:ext>
            </a:extLst>
          </p:cNvPr>
          <p:cNvSpPr/>
          <p:nvPr/>
        </p:nvSpPr>
        <p:spPr bwMode="auto">
          <a:xfrm>
            <a:off x="836584" y="1296077"/>
            <a:ext cx="4167463" cy="1275673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열 인덱스를 기준으로 모든 원소를 정렬한다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위치에 있는 원소끼리 일대일로 대응시킨다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일대일로 대응되어 있는 원소끼리 연산을 처리한다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대응되는 원소가 없을 경우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처리한다 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2227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475064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8208912" cy="417036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b="1" dirty="0" err="1"/>
              <a:t>파일염</a:t>
            </a:r>
            <a:r>
              <a:rPr lang="ko-KR" altLang="en-US" b="1" dirty="0"/>
              <a:t> </a:t>
            </a:r>
            <a:r>
              <a:rPr lang="en-US" altLang="ko-KR" b="1" dirty="0"/>
              <a:t>: exam9_7.py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import pandas as pd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data1 = {'kor':90, 'eng':70, 'mat':80}</a:t>
            </a:r>
          </a:p>
          <a:p>
            <a:pPr algn="l"/>
            <a:r>
              <a:rPr lang="en-US" altLang="ko-KR" b="1" dirty="0"/>
              <a:t>data2 = {'kor':90, 'eng':70, 'mat':80}</a:t>
            </a:r>
          </a:p>
          <a:p>
            <a:pPr algn="l"/>
            <a:r>
              <a:rPr lang="en-US" altLang="ko-KR" b="1" dirty="0"/>
              <a:t>data3 = {'kor':90, 'eng':70, 'mat':80}</a:t>
            </a:r>
          </a:p>
          <a:p>
            <a:pPr algn="l"/>
            <a:r>
              <a:rPr lang="en-US" altLang="ko-KR" b="1" dirty="0"/>
              <a:t>data4 = {'eng':90, 'mat':70, 'kor':80}           #</a:t>
            </a:r>
            <a:r>
              <a:rPr lang="ko-KR" altLang="en-US" b="1" dirty="0"/>
              <a:t>인덱스의 순서가 바뀌어도 정렬을 진행하기때문에 알아서 대응된다</a:t>
            </a:r>
            <a:r>
              <a:rPr lang="en-US" altLang="ko-KR" b="1" dirty="0"/>
              <a:t>. </a:t>
            </a:r>
          </a:p>
          <a:p>
            <a:pPr algn="l"/>
            <a:r>
              <a:rPr lang="en-US" altLang="ko-KR" b="1" dirty="0"/>
              <a:t>series1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data1 )</a:t>
            </a:r>
          </a:p>
          <a:p>
            <a:pPr algn="l"/>
            <a:r>
              <a:rPr lang="en-US" altLang="ko-KR" b="1" dirty="0"/>
              <a:t>series2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data2 )</a:t>
            </a:r>
          </a:p>
          <a:p>
            <a:pPr algn="l"/>
            <a:r>
              <a:rPr lang="en-US" altLang="ko-KR" b="1" dirty="0"/>
              <a:t>series3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data3 )</a:t>
            </a:r>
          </a:p>
          <a:p>
            <a:pPr algn="l"/>
            <a:r>
              <a:rPr lang="en-US" altLang="ko-KR" b="1" dirty="0"/>
              <a:t>series4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data4 )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result1 = series1 + series2 + series3 + series4</a:t>
            </a:r>
          </a:p>
          <a:p>
            <a:pPr algn="l"/>
            <a:r>
              <a:rPr lang="en-US" altLang="ko-KR" b="1" dirty="0"/>
              <a:t>result2 = result1/4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총점 </a:t>
            </a:r>
            <a:r>
              <a:rPr lang="en-US" altLang="ko-KR" b="1" dirty="0"/>
              <a:t>----------")</a:t>
            </a:r>
          </a:p>
          <a:p>
            <a:pPr algn="l"/>
            <a:r>
              <a:rPr lang="en-US" altLang="ko-KR" b="1" dirty="0"/>
              <a:t>print( result1 )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평균 </a:t>
            </a:r>
            <a:r>
              <a:rPr lang="en-US" altLang="ko-KR" b="1" dirty="0"/>
              <a:t>----------")</a:t>
            </a:r>
          </a:p>
          <a:p>
            <a:pPr algn="l"/>
            <a:r>
              <a:rPr lang="en-US" altLang="ko-KR" b="1" dirty="0"/>
              <a:t>print( result2 )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AF36A2-8D01-4318-8A0C-E29D7B85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20" y="2010620"/>
            <a:ext cx="2933700" cy="1914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4875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475064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89336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exam9_8.py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import pandas as pd </a:t>
            </a:r>
          </a:p>
          <a:p>
            <a:pPr algn="l"/>
            <a:br>
              <a:rPr lang="en-US" altLang="ko-KR" b="1" dirty="0"/>
            </a:br>
            <a:br>
              <a:rPr lang="ko-KR" altLang="en-US" b="1" dirty="0"/>
            </a:br>
            <a:r>
              <a:rPr lang="en-US" altLang="ko-KR" b="1" dirty="0"/>
              <a:t>#</a:t>
            </a:r>
            <a:r>
              <a:rPr lang="ko-KR" altLang="en-US" b="1" dirty="0"/>
              <a:t>인덱스가 없을 경우 값이 </a:t>
            </a:r>
            <a:r>
              <a:rPr lang="en-US" altLang="ko-KR" b="1" dirty="0" err="1"/>
              <a:t>NaN</a:t>
            </a:r>
            <a:r>
              <a:rPr lang="ko-KR" altLang="en-US" b="1" dirty="0"/>
              <a:t>으로 들어가서 연산이 되지 않는다</a:t>
            </a:r>
            <a:endParaRPr lang="en-US" altLang="ko-KR" b="1" dirty="0"/>
          </a:p>
          <a:p>
            <a:pPr algn="l"/>
            <a:r>
              <a:rPr lang="ko-KR" altLang="en-US" b="1" dirty="0"/>
              <a:t> </a:t>
            </a:r>
          </a:p>
          <a:p>
            <a:pPr algn="l"/>
            <a:r>
              <a:rPr lang="en-US" altLang="ko-KR" b="1" dirty="0"/>
              <a:t>data1 = {'kor':90, 'mat':80}</a:t>
            </a:r>
          </a:p>
          <a:p>
            <a:pPr algn="l"/>
            <a:r>
              <a:rPr lang="en-US" altLang="ko-KR" b="1" dirty="0"/>
              <a:t>data2 = {'kor':90, 'eng':70}</a:t>
            </a:r>
          </a:p>
          <a:p>
            <a:pPr algn="l"/>
            <a:r>
              <a:rPr lang="en-US" altLang="ko-KR" b="1" dirty="0"/>
              <a:t>data3 = {'kor':90, 'eng':70, 'mat':80}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series1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data1 )</a:t>
            </a:r>
          </a:p>
          <a:p>
            <a:pPr algn="l"/>
            <a:r>
              <a:rPr lang="en-US" altLang="ko-KR" b="1" dirty="0"/>
              <a:t>series2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data2 )</a:t>
            </a:r>
          </a:p>
          <a:p>
            <a:pPr algn="l"/>
            <a:r>
              <a:rPr lang="en-US" altLang="ko-KR" b="1" dirty="0"/>
              <a:t>series3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data3 )</a:t>
            </a:r>
          </a:p>
          <a:p>
            <a:pPr algn="l"/>
            <a:r>
              <a:rPr lang="en-US" altLang="ko-KR" b="1" dirty="0"/>
              <a:t>result1 = series1 + series2 + series3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print(result1)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7F9E1A-DFFD-4AEB-BE1A-18256FFC8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442" y="1655506"/>
            <a:ext cx="1398785" cy="776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202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5247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Series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 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2612"/>
            <a:ext cx="7416824" cy="389336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exam9_9.py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import pandas as pd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인덱스가 없을 경우 값이 </a:t>
            </a:r>
            <a:r>
              <a:rPr lang="en-US" altLang="ko-KR" b="1" dirty="0" err="1"/>
              <a:t>NaN</a:t>
            </a:r>
            <a:r>
              <a:rPr lang="ko-KR" altLang="en-US" b="1" dirty="0"/>
              <a:t>으로 들어가서 연산이 되지 않는다  </a:t>
            </a:r>
            <a:endParaRPr lang="en-US" altLang="ko-KR" b="1" dirty="0"/>
          </a:p>
          <a:p>
            <a:pPr algn="l"/>
            <a:r>
              <a:rPr lang="en-US" altLang="ko-KR" b="1" dirty="0"/>
              <a:t>#add</a:t>
            </a:r>
            <a:r>
              <a:rPr lang="ko-KR" altLang="en-US" b="1" dirty="0"/>
              <a:t> </a:t>
            </a:r>
            <a:r>
              <a:rPr lang="ko-KR" altLang="en-US" b="1" dirty="0" err="1"/>
              <a:t>연산시</a:t>
            </a:r>
            <a:r>
              <a:rPr lang="ko-KR" altLang="en-US" b="1" dirty="0"/>
              <a:t> </a:t>
            </a:r>
            <a:r>
              <a:rPr lang="en-US" altLang="ko-KR" b="1" dirty="0" err="1"/>
              <a:t>fill_value</a:t>
            </a:r>
            <a:r>
              <a:rPr lang="en-US" altLang="ko-KR" b="1" dirty="0"/>
              <a:t>=0 </a:t>
            </a:r>
            <a:r>
              <a:rPr lang="ko-KR" altLang="en-US" b="1" dirty="0"/>
              <a:t>옵션을 주면 대응되는 셀에 값이 없을 경우 </a:t>
            </a:r>
            <a:r>
              <a:rPr lang="en-US" altLang="ko-KR" b="1" dirty="0" err="1"/>
              <a:t>fill_value</a:t>
            </a:r>
            <a:r>
              <a:rPr lang="ko-KR" altLang="en-US" b="1" dirty="0"/>
              <a:t>에서 </a:t>
            </a:r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지정한 값으로 대신해준다 </a:t>
            </a:r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endParaRPr lang="ko-KR" altLang="en-US" b="1" dirty="0"/>
          </a:p>
          <a:p>
            <a:pPr algn="l"/>
            <a:r>
              <a:rPr lang="en-US" altLang="ko-KR" b="1" dirty="0"/>
              <a:t>data1 = {'kor':90, 'mat':80}</a:t>
            </a:r>
          </a:p>
          <a:p>
            <a:pPr algn="l"/>
            <a:r>
              <a:rPr lang="en-US" altLang="ko-KR" b="1" dirty="0"/>
              <a:t>data2 = {'kor':90, 'eng':70}</a:t>
            </a:r>
          </a:p>
          <a:p>
            <a:pPr algn="l"/>
            <a:r>
              <a:rPr lang="en-US" altLang="ko-KR" b="1" dirty="0"/>
              <a:t>data3 = {'kor':90, 'eng':70, 'mat':80}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series1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data1 )</a:t>
            </a:r>
          </a:p>
          <a:p>
            <a:pPr algn="l"/>
            <a:r>
              <a:rPr lang="en-US" altLang="ko-KR" b="1" dirty="0"/>
              <a:t>series2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data2 )</a:t>
            </a:r>
          </a:p>
          <a:p>
            <a:pPr algn="l"/>
            <a:r>
              <a:rPr lang="en-US" altLang="ko-KR" b="1" dirty="0"/>
              <a:t>series3 = </a:t>
            </a:r>
            <a:r>
              <a:rPr lang="en-US" altLang="ko-KR" b="1" dirty="0" err="1"/>
              <a:t>pd.Series</a:t>
            </a:r>
            <a:r>
              <a:rPr lang="en-US" altLang="ko-KR" b="1" dirty="0"/>
              <a:t>( data3 )</a:t>
            </a:r>
          </a:p>
          <a:p>
            <a:pPr algn="l"/>
            <a:r>
              <a:rPr lang="en-US" altLang="ko-KR" b="1" dirty="0"/>
              <a:t>result1 = series1.add(series2, </a:t>
            </a:r>
            <a:r>
              <a:rPr lang="en-US" altLang="ko-KR" b="1" dirty="0" err="1"/>
              <a:t>fill_value</a:t>
            </a:r>
            <a:r>
              <a:rPr lang="en-US" altLang="ko-KR" b="1" dirty="0"/>
              <a:t>=0).add(series3,fill_value=0)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print(result1)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FAAFC1-B97C-43F5-9093-69E81CF2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635646"/>
            <a:ext cx="1504950" cy="752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0774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74436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81669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여러개의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결합으로 볼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그래서 연산 방법도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내용이 적용됩니다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산술연산이 모두 가능합니다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새로운 행을 추가하거나 삭제가 가능합니다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주의사항은 새로운 행을 추가하거나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삭제시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결과 값을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반환받아야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결과값을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반환받지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않으면  추가되거나 삭제된 행은 원래대로 보입니다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프레임에 새로운 필드를 손쉽게 붙일 수 있습니다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F7C11D-F65E-4018-A92C-2CFED59DDC6F}"/>
              </a:ext>
            </a:extLst>
          </p:cNvPr>
          <p:cNvSpPr/>
          <p:nvPr/>
        </p:nvSpPr>
        <p:spPr bwMode="auto">
          <a:xfrm>
            <a:off x="827584" y="1491630"/>
            <a:ext cx="4167463" cy="1275673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행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열 인덱스를 기준으로 모든 원소를 정렬한다 </a:t>
            </a:r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동일한 위치에 있는 원소끼리 일대일로 대응시킨다 </a:t>
            </a:r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일대일로 대응되어 있는 원소끼리 연산을 처리한다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대응되는 원소가 없을 경우 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으로 처리한다 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36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720323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53969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exam9_9.py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시리즈를 결합하여  </a:t>
            </a:r>
            <a:r>
              <a:rPr lang="en-US" altLang="ko-KR" b="1" dirty="0" err="1"/>
              <a:t>DataFrame</a:t>
            </a:r>
            <a:r>
              <a:rPr lang="ko-KR" altLang="en-US" b="1" dirty="0"/>
              <a:t> 을 만듭니다 </a:t>
            </a:r>
            <a:endParaRPr lang="en-US" altLang="ko-KR" b="1" dirty="0"/>
          </a:p>
          <a:p>
            <a:pPr algn="l"/>
            <a:r>
              <a:rPr lang="en-US" altLang="ko-KR" b="1" dirty="0"/>
              <a:t>import pandas as pd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data1 = {</a:t>
            </a:r>
            <a:r>
              <a:rPr lang="ko-KR" altLang="en-US" b="1" dirty="0"/>
              <a:t>＇</a:t>
            </a:r>
            <a:r>
              <a:rPr lang="en-US" altLang="ko-KR" b="1" dirty="0" err="1"/>
              <a:t>kor</a:t>
            </a:r>
            <a:r>
              <a:rPr lang="ko-KR" altLang="en-US" b="1" dirty="0"/>
              <a:t>＇</a:t>
            </a:r>
            <a:r>
              <a:rPr lang="en-US" altLang="ko-KR" b="1" dirty="0"/>
              <a:t>:90, </a:t>
            </a:r>
            <a:r>
              <a:rPr lang="ko-KR" altLang="en-US" b="1" dirty="0"/>
              <a:t>＇</a:t>
            </a:r>
            <a:r>
              <a:rPr lang="en-US" altLang="ko-KR" b="1" dirty="0" err="1"/>
              <a:t>eng</a:t>
            </a:r>
            <a:r>
              <a:rPr lang="ko-KR" altLang="en-US" b="1" dirty="0"/>
              <a:t>＇</a:t>
            </a:r>
            <a:r>
              <a:rPr lang="en-US" altLang="ko-KR" b="1" dirty="0"/>
              <a:t>:70, </a:t>
            </a:r>
            <a:r>
              <a:rPr lang="ko-KR" altLang="en-US" b="1" dirty="0"/>
              <a:t>＇</a:t>
            </a:r>
            <a:r>
              <a:rPr lang="en-US" altLang="ko-KR" b="1" dirty="0"/>
              <a:t>mat</a:t>
            </a:r>
            <a:r>
              <a:rPr lang="ko-KR" altLang="en-US" b="1" dirty="0"/>
              <a:t>＇</a:t>
            </a:r>
            <a:r>
              <a:rPr lang="en-US" altLang="ko-KR" b="1" dirty="0"/>
              <a:t>:80}</a:t>
            </a:r>
          </a:p>
          <a:p>
            <a:pPr algn="l"/>
            <a:r>
              <a:rPr lang="en-US" altLang="ko-KR" b="1" dirty="0"/>
              <a:t>data2 = {</a:t>
            </a:r>
            <a:r>
              <a:rPr lang="ko-KR" altLang="en-US" b="1" dirty="0"/>
              <a:t>＇</a:t>
            </a:r>
            <a:r>
              <a:rPr lang="en-US" altLang="ko-KR" b="1" dirty="0" err="1"/>
              <a:t>kor</a:t>
            </a:r>
            <a:r>
              <a:rPr lang="ko-KR" altLang="en-US" b="1" dirty="0"/>
              <a:t>＇</a:t>
            </a:r>
            <a:r>
              <a:rPr lang="en-US" altLang="ko-KR" b="1" dirty="0"/>
              <a:t>:90, </a:t>
            </a:r>
            <a:r>
              <a:rPr lang="ko-KR" altLang="en-US" b="1" dirty="0"/>
              <a:t>＇</a:t>
            </a:r>
            <a:r>
              <a:rPr lang="en-US" altLang="ko-KR" b="1" dirty="0" err="1"/>
              <a:t>eng</a:t>
            </a:r>
            <a:r>
              <a:rPr lang="ko-KR" altLang="en-US" b="1" dirty="0"/>
              <a:t>＇</a:t>
            </a:r>
            <a:r>
              <a:rPr lang="en-US" altLang="ko-KR" b="1" dirty="0"/>
              <a:t>:70, </a:t>
            </a:r>
            <a:r>
              <a:rPr lang="ko-KR" altLang="en-US" b="1" dirty="0"/>
              <a:t>＇</a:t>
            </a:r>
            <a:r>
              <a:rPr lang="en-US" altLang="ko-KR" b="1" dirty="0"/>
              <a:t>mat</a:t>
            </a:r>
            <a:r>
              <a:rPr lang="ko-KR" altLang="en-US" b="1" dirty="0"/>
              <a:t>＇</a:t>
            </a:r>
            <a:r>
              <a:rPr lang="en-US" altLang="ko-KR" b="1" dirty="0"/>
              <a:t>:80}</a:t>
            </a:r>
          </a:p>
          <a:p>
            <a:pPr algn="l"/>
            <a:r>
              <a:rPr lang="en-US" altLang="ko-KR" b="1" dirty="0"/>
              <a:t>data3 = {</a:t>
            </a:r>
            <a:r>
              <a:rPr lang="ko-KR" altLang="en-US" b="1" dirty="0"/>
              <a:t>＇</a:t>
            </a:r>
            <a:r>
              <a:rPr lang="en-US" altLang="ko-KR" b="1" dirty="0" err="1"/>
              <a:t>kor</a:t>
            </a:r>
            <a:r>
              <a:rPr lang="ko-KR" altLang="en-US" b="1" dirty="0"/>
              <a:t>＇</a:t>
            </a:r>
            <a:r>
              <a:rPr lang="en-US" altLang="ko-KR" b="1" dirty="0"/>
              <a:t>:90, </a:t>
            </a:r>
            <a:r>
              <a:rPr lang="ko-KR" altLang="en-US" b="1" dirty="0"/>
              <a:t>＇</a:t>
            </a:r>
            <a:r>
              <a:rPr lang="en-US" altLang="ko-KR" b="1" dirty="0" err="1"/>
              <a:t>eng</a:t>
            </a:r>
            <a:r>
              <a:rPr lang="ko-KR" altLang="en-US" b="1" dirty="0"/>
              <a:t>＇</a:t>
            </a:r>
            <a:r>
              <a:rPr lang="en-US" altLang="ko-KR" b="1" dirty="0"/>
              <a:t>:70, </a:t>
            </a:r>
            <a:r>
              <a:rPr lang="ko-KR" altLang="en-US" b="1" dirty="0"/>
              <a:t>＇</a:t>
            </a:r>
            <a:r>
              <a:rPr lang="en-US" altLang="ko-KR" b="1" dirty="0"/>
              <a:t>mat</a:t>
            </a:r>
            <a:r>
              <a:rPr lang="ko-KR" altLang="en-US" b="1" dirty="0"/>
              <a:t>＇</a:t>
            </a:r>
            <a:r>
              <a:rPr lang="en-US" altLang="ko-KR" b="1" dirty="0"/>
              <a:t>:80}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 = </a:t>
            </a:r>
            <a:r>
              <a:rPr lang="en-US" altLang="ko-KR" b="1" dirty="0" err="1"/>
              <a:t>pd.DataFrame</a:t>
            </a:r>
            <a:r>
              <a:rPr lang="en-US" altLang="ko-KR" b="1" dirty="0"/>
              <a:t>()</a:t>
            </a:r>
          </a:p>
          <a:p>
            <a:pPr algn="l"/>
            <a:r>
              <a:rPr lang="en-US" altLang="ko-KR" b="1" dirty="0"/>
              <a:t>data = </a:t>
            </a:r>
            <a:r>
              <a:rPr lang="en-US" altLang="ko-KR" b="1" dirty="0" err="1"/>
              <a:t>data.append</a:t>
            </a:r>
            <a:r>
              <a:rPr lang="en-US" altLang="ko-KR" b="1" dirty="0"/>
              <a:t>( data1 , </a:t>
            </a:r>
            <a:r>
              <a:rPr lang="en-US" altLang="ko-KR" b="1" dirty="0" err="1"/>
              <a:t>ignore_index</a:t>
            </a:r>
            <a:r>
              <a:rPr lang="en-US" altLang="ko-KR" b="1" dirty="0"/>
              <a:t>=True)</a:t>
            </a:r>
          </a:p>
          <a:p>
            <a:pPr algn="l"/>
            <a:r>
              <a:rPr lang="en-US" altLang="ko-KR" b="1" dirty="0"/>
              <a:t>data = </a:t>
            </a:r>
            <a:r>
              <a:rPr lang="en-US" altLang="ko-KR" b="1" dirty="0" err="1"/>
              <a:t>data.append</a:t>
            </a:r>
            <a:r>
              <a:rPr lang="en-US" altLang="ko-KR" b="1" dirty="0"/>
              <a:t>( data2 , </a:t>
            </a:r>
            <a:r>
              <a:rPr lang="en-US" altLang="ko-KR" b="1" dirty="0" err="1"/>
              <a:t>ignore_index</a:t>
            </a:r>
            <a:r>
              <a:rPr lang="en-US" altLang="ko-KR" b="1" dirty="0"/>
              <a:t>=True)</a:t>
            </a:r>
          </a:p>
          <a:p>
            <a:pPr algn="l"/>
            <a:r>
              <a:rPr lang="en-US" altLang="ko-KR" b="1" dirty="0"/>
              <a:t>data = </a:t>
            </a:r>
            <a:r>
              <a:rPr lang="en-US" altLang="ko-KR" b="1" dirty="0" err="1"/>
              <a:t>data.append</a:t>
            </a:r>
            <a:r>
              <a:rPr lang="en-US" altLang="ko-KR" b="1" dirty="0"/>
              <a:t>( data3 , </a:t>
            </a:r>
            <a:r>
              <a:rPr lang="en-US" altLang="ko-KR" b="1" dirty="0" err="1"/>
              <a:t>ignore_index</a:t>
            </a:r>
            <a:r>
              <a:rPr lang="en-US" altLang="ko-KR" b="1" dirty="0"/>
              <a:t>=True)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각 </a:t>
            </a:r>
            <a:r>
              <a:rPr lang="ko-KR" altLang="en-US" b="1" dirty="0" err="1"/>
              <a:t>필드값들을</a:t>
            </a:r>
            <a:r>
              <a:rPr lang="ko-KR" altLang="en-US" b="1" dirty="0"/>
              <a:t> 더하여 새로 작성한 필드에 저장함 이미 있던 필드의 경우 </a:t>
            </a:r>
            <a:endParaRPr lang="en-US" altLang="ko-KR" b="1" dirty="0"/>
          </a:p>
          <a:p>
            <a:pPr algn="l"/>
            <a:r>
              <a:rPr lang="en-US" altLang="ko-KR" b="1" dirty="0"/>
              <a:t>#data[‘</a:t>
            </a:r>
            <a:r>
              <a:rPr lang="en-US" altLang="ko-KR" b="1" dirty="0" err="1"/>
              <a:t>kor</a:t>
            </a:r>
            <a:r>
              <a:rPr lang="en-US" altLang="ko-KR" b="1" dirty="0"/>
              <a:t>’] </a:t>
            </a:r>
            <a:r>
              <a:rPr lang="ko-KR" altLang="en-US" b="1" dirty="0"/>
              <a:t>대신에 </a:t>
            </a:r>
            <a:r>
              <a:rPr lang="en-US" altLang="ko-KR" b="1" dirty="0" err="1"/>
              <a:t>data.kor</a:t>
            </a:r>
            <a:r>
              <a:rPr lang="ko-KR" altLang="en-US" b="1" dirty="0"/>
              <a:t>로 접근  가능합니다</a:t>
            </a:r>
            <a:r>
              <a:rPr lang="en-US" altLang="ko-KR" b="1" dirty="0"/>
              <a:t>. </a:t>
            </a:r>
          </a:p>
          <a:p>
            <a:pPr algn="l"/>
            <a:endParaRPr lang="ko-KR" altLang="en-US" b="1" dirty="0"/>
          </a:p>
          <a:p>
            <a:pPr algn="l"/>
            <a:r>
              <a:rPr lang="en-US" altLang="ko-KR" b="1" dirty="0"/>
              <a:t>data['total'] = </a:t>
            </a:r>
            <a:r>
              <a:rPr lang="en-US" altLang="ko-KR" b="1" dirty="0" err="1"/>
              <a:t>data.kor</a:t>
            </a:r>
            <a:r>
              <a:rPr lang="en-US" altLang="ko-KR" b="1" dirty="0"/>
              <a:t> + </a:t>
            </a:r>
            <a:r>
              <a:rPr lang="en-US" altLang="ko-KR" b="1" dirty="0" err="1"/>
              <a:t>data.eng</a:t>
            </a:r>
            <a:r>
              <a:rPr lang="en-US" altLang="ko-KR" b="1" dirty="0"/>
              <a:t> + </a:t>
            </a:r>
            <a:r>
              <a:rPr lang="en-US" altLang="ko-KR" b="1" dirty="0" err="1"/>
              <a:t>data.mat</a:t>
            </a:r>
            <a:endParaRPr lang="en-US" altLang="ko-KR" b="1" dirty="0"/>
          </a:p>
          <a:p>
            <a:pPr algn="l"/>
            <a:r>
              <a:rPr lang="en-US" altLang="ko-KR" b="1" dirty="0"/>
              <a:t>data['avg'] = </a:t>
            </a:r>
            <a:r>
              <a:rPr lang="en-US" altLang="ko-KR" b="1" dirty="0" err="1"/>
              <a:t>data.total</a:t>
            </a:r>
            <a:r>
              <a:rPr lang="en-US" altLang="ko-KR" b="1" dirty="0"/>
              <a:t>/3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print(data)</a:t>
            </a:r>
          </a:p>
          <a:p>
            <a:pPr algn="l">
              <a:lnSpc>
                <a:spcPct val="150000"/>
              </a:lnSpc>
            </a:pPr>
            <a:br>
              <a:rPr lang="en-US" altLang="ko-KR" b="1" dirty="0"/>
            </a:br>
            <a:endParaRPr lang="en-US" altLang="ko-KR" b="1" dirty="0"/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261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9780" y="391776"/>
            <a:ext cx="2803953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엑세스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예제</a:t>
            </a:r>
            <a:endParaRPr lang="ko-KR" altLang="en-US" b="1" dirty="0"/>
          </a:p>
        </p:txBody>
      </p:sp>
      <p:sp>
        <p:nvSpPr>
          <p:cNvPr id="18" name="직사각형 17"/>
          <p:cNvSpPr/>
          <p:nvPr/>
        </p:nvSpPr>
        <p:spPr>
          <a:xfrm>
            <a:off x="467544" y="771550"/>
            <a:ext cx="7776864" cy="258531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 exam9_11.py </a:t>
            </a:r>
          </a:p>
          <a:p>
            <a:pPr algn="l"/>
            <a:r>
              <a:rPr lang="en-US" altLang="ko-KR" b="1" dirty="0"/>
              <a:t># </a:t>
            </a:r>
            <a:r>
              <a:rPr lang="en-US" altLang="ko-KR" b="1" dirty="0" err="1"/>
              <a:t>dict</a:t>
            </a:r>
            <a:r>
              <a:rPr lang="en-US" altLang="ko-KR" b="1" dirty="0"/>
              <a:t>  </a:t>
            </a:r>
            <a:r>
              <a:rPr lang="ko-KR" altLang="en-US" b="1" dirty="0"/>
              <a:t>타입을 데이터 프레임으로 </a:t>
            </a:r>
            <a:r>
              <a:rPr lang="ko-KR" altLang="en-US" b="1" dirty="0" err="1"/>
              <a:t>전환후</a:t>
            </a:r>
            <a:r>
              <a:rPr lang="ko-KR" altLang="en-US" b="1" dirty="0"/>
              <a:t> 새로운 필드를 추가하기 </a:t>
            </a:r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exam9_6.py    </a:t>
            </a:r>
          </a:p>
          <a:p>
            <a:pPr algn="l"/>
            <a:r>
              <a:rPr lang="en-US" altLang="ko-KR" b="1" dirty="0"/>
              <a:t>import pandas as pd</a:t>
            </a:r>
          </a:p>
          <a:p>
            <a:pPr algn="l"/>
            <a:r>
              <a:rPr lang="en-US" altLang="ko-KR" b="1" dirty="0"/>
              <a:t>data = {</a:t>
            </a:r>
          </a:p>
          <a:p>
            <a:pPr lvl="1" algn="l"/>
            <a:r>
              <a:rPr lang="en-US" altLang="ko-KR" b="1" dirty="0"/>
              <a:t>'name':['</a:t>
            </a:r>
            <a:r>
              <a:rPr lang="ko-KR" altLang="en-US" b="1" dirty="0"/>
              <a:t>홍길동</a:t>
            </a:r>
            <a:r>
              <a:rPr lang="en-US" altLang="ko-KR" b="1" dirty="0"/>
              <a:t>', '</a:t>
            </a:r>
            <a:r>
              <a:rPr lang="ko-KR" altLang="en-US" b="1" dirty="0"/>
              <a:t>임꺽정</a:t>
            </a:r>
            <a:r>
              <a:rPr lang="en-US" altLang="ko-KR" b="1" dirty="0"/>
              <a:t>', '</a:t>
            </a:r>
            <a:r>
              <a:rPr lang="ko-KR" altLang="en-US" b="1" dirty="0"/>
              <a:t>장길산</a:t>
            </a:r>
            <a:r>
              <a:rPr lang="en-US" altLang="ko-KR" b="1" dirty="0"/>
              <a:t>', '</a:t>
            </a:r>
            <a:r>
              <a:rPr lang="ko-KR" altLang="en-US" b="1" dirty="0" err="1"/>
              <a:t>홍경래</a:t>
            </a:r>
            <a:r>
              <a:rPr lang="en-US" altLang="ko-KR" b="1" dirty="0"/>
              <a:t>', '</a:t>
            </a:r>
            <a:r>
              <a:rPr lang="ko-KR" altLang="en-US" b="1" dirty="0"/>
              <a:t>이상민</a:t>
            </a:r>
            <a:r>
              <a:rPr lang="en-US" altLang="ko-KR" b="1" dirty="0"/>
              <a:t>', '</a:t>
            </a:r>
            <a:r>
              <a:rPr lang="ko-KR" altLang="en-US" b="1" dirty="0"/>
              <a:t>김수경</a:t>
            </a:r>
            <a:r>
              <a:rPr lang="en-US" altLang="ko-KR" b="1" dirty="0"/>
              <a:t>'],</a:t>
            </a:r>
          </a:p>
          <a:p>
            <a:pPr lvl="1" algn="l"/>
            <a:r>
              <a:rPr lang="en-US" altLang="ko-KR" b="1" dirty="0"/>
              <a:t>'</a:t>
            </a:r>
            <a:r>
              <a:rPr lang="en-US" altLang="ko-KR" b="1" dirty="0" err="1"/>
              <a:t>kor</a:t>
            </a:r>
            <a:r>
              <a:rPr lang="en-US" altLang="ko-KR" b="1" dirty="0"/>
              <a:t>':[90, 80, 70, 70, 60, 70],</a:t>
            </a:r>
          </a:p>
          <a:p>
            <a:pPr lvl="1" algn="l"/>
            <a:r>
              <a:rPr lang="en-US" altLang="ko-KR" b="1" dirty="0"/>
              <a:t>'</a:t>
            </a:r>
            <a:r>
              <a:rPr lang="en-US" altLang="ko-KR" b="1" dirty="0" err="1"/>
              <a:t>eng</a:t>
            </a:r>
            <a:r>
              <a:rPr lang="en-US" altLang="ko-KR" b="1" dirty="0"/>
              <a:t>':[99, 98, 97, 46, 77, 56],</a:t>
            </a:r>
          </a:p>
          <a:p>
            <a:pPr lvl="1" algn="l"/>
            <a:r>
              <a:rPr lang="en-US" altLang="ko-KR" b="1" dirty="0"/>
              <a:t>'mat':[90, 70, 70, 60, 88, 99],</a:t>
            </a:r>
          </a:p>
          <a:p>
            <a:pPr algn="l"/>
            <a:r>
              <a:rPr lang="en-US" altLang="ko-KR" b="1" dirty="0"/>
              <a:t>}</a:t>
            </a:r>
          </a:p>
          <a:p>
            <a:pPr algn="l"/>
            <a:r>
              <a:rPr lang="en-US" altLang="ko-KR" b="1" dirty="0"/>
              <a:t>df = </a:t>
            </a:r>
            <a:r>
              <a:rPr lang="en-US" altLang="ko-KR" b="1" dirty="0" err="1"/>
              <a:t>pd.DataFrame</a:t>
            </a:r>
            <a:r>
              <a:rPr lang="en-US" altLang="ko-KR" b="1" dirty="0"/>
              <a:t>(data)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새로운 필드 추가하기 </a:t>
            </a:r>
          </a:p>
          <a:p>
            <a:pPr algn="l"/>
            <a:r>
              <a:rPr lang="en-US" altLang="ko-KR" b="1" dirty="0"/>
              <a:t>df['total'] = </a:t>
            </a:r>
            <a:r>
              <a:rPr lang="en-US" altLang="ko-KR" b="1" dirty="0" err="1"/>
              <a:t>df.kor</a:t>
            </a:r>
            <a:r>
              <a:rPr lang="en-US" altLang="ko-KR" b="1" dirty="0"/>
              <a:t> + </a:t>
            </a:r>
            <a:r>
              <a:rPr lang="en-US" altLang="ko-KR" b="1" dirty="0" err="1"/>
              <a:t>df.eng</a:t>
            </a:r>
            <a:r>
              <a:rPr lang="en-US" altLang="ko-KR" b="1" dirty="0"/>
              <a:t> + </a:t>
            </a:r>
            <a:r>
              <a:rPr lang="en-US" altLang="ko-KR" b="1" dirty="0" err="1"/>
              <a:t>df.mat</a:t>
            </a:r>
            <a:endParaRPr lang="en-US" altLang="ko-KR" b="1" dirty="0"/>
          </a:p>
          <a:p>
            <a:pPr algn="l"/>
            <a:r>
              <a:rPr lang="en-US" altLang="ko-KR" b="1" dirty="0"/>
              <a:t>df['avg'] = </a:t>
            </a:r>
            <a:r>
              <a:rPr lang="en-US" altLang="ko-KR" b="1" dirty="0" err="1"/>
              <a:t>df.total</a:t>
            </a:r>
            <a:r>
              <a:rPr lang="en-US" altLang="ko-KR" b="1" dirty="0"/>
              <a:t>/3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print(df)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44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9780" y="391776"/>
            <a:ext cx="203130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연산예제</a:t>
            </a:r>
            <a:endParaRPr lang="ko-KR" altLang="en-US" b="1" dirty="0"/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776864" cy="313931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b="1" dirty="0"/>
              <a:t>파일명 </a:t>
            </a:r>
            <a:r>
              <a:rPr lang="en-US" altLang="ko-KR" b="1" dirty="0"/>
              <a:t>: exam9_12.py</a:t>
            </a:r>
          </a:p>
          <a:p>
            <a:pPr algn="l"/>
            <a:r>
              <a:rPr lang="en-US" altLang="ko-KR" b="1" dirty="0"/>
              <a:t>import</a:t>
            </a:r>
            <a:r>
              <a:rPr lang="ko-KR" altLang="en-US" b="1" dirty="0"/>
              <a:t> </a:t>
            </a:r>
            <a:r>
              <a:rPr lang="en-US" altLang="ko-KR" b="1" dirty="0"/>
              <a:t>pandas as</a:t>
            </a:r>
            <a:r>
              <a:rPr lang="ko-KR" altLang="en-US" b="1" dirty="0"/>
              <a:t> </a:t>
            </a:r>
            <a:r>
              <a:rPr lang="en-US" altLang="ko-KR" b="1" dirty="0"/>
              <a:t>pd</a:t>
            </a:r>
          </a:p>
          <a:p>
            <a:pPr algn="l"/>
            <a:r>
              <a:rPr lang="en-US" altLang="ko-KR" b="1" dirty="0"/>
              <a:t>data = {</a:t>
            </a:r>
          </a:p>
          <a:p>
            <a:pPr algn="l"/>
            <a:r>
              <a:rPr lang="en-US" altLang="ko-KR" b="1" dirty="0"/>
              <a:t>'fruits':['</a:t>
            </a:r>
            <a:r>
              <a:rPr lang="ko-KR" altLang="en-US" b="1" dirty="0"/>
              <a:t>망고</a:t>
            </a:r>
            <a:r>
              <a:rPr lang="en-US" altLang="ko-KR" b="1" dirty="0"/>
              <a:t>', '</a:t>
            </a:r>
            <a:r>
              <a:rPr lang="ko-KR" altLang="en-US" b="1" dirty="0"/>
              <a:t>딸기</a:t>
            </a:r>
            <a:r>
              <a:rPr lang="en-US" altLang="ko-KR" b="1" dirty="0"/>
              <a:t>', '</a:t>
            </a:r>
            <a:r>
              <a:rPr lang="ko-KR" altLang="en-US" b="1" dirty="0"/>
              <a:t>수박</a:t>
            </a:r>
            <a:r>
              <a:rPr lang="en-US" altLang="ko-KR" b="1" dirty="0"/>
              <a:t>', '</a:t>
            </a:r>
            <a:r>
              <a:rPr lang="ko-KR" altLang="en-US" b="1" dirty="0"/>
              <a:t>파인애플</a:t>
            </a:r>
            <a:r>
              <a:rPr lang="en-US" altLang="ko-KR" b="1" dirty="0"/>
              <a:t>'],</a:t>
            </a:r>
          </a:p>
          <a:p>
            <a:pPr algn="l"/>
            <a:r>
              <a:rPr lang="en-US" altLang="ko-KR" b="1" dirty="0"/>
              <a:t>'price':[2500, 5000,10000, 7000],</a:t>
            </a:r>
          </a:p>
          <a:p>
            <a:pPr algn="l"/>
            <a:r>
              <a:rPr lang="en-US" altLang="ko-KR" b="1" dirty="0"/>
              <a:t>'count':[5, 2, 2, 4],</a:t>
            </a:r>
          </a:p>
          <a:p>
            <a:pPr algn="l"/>
            <a:r>
              <a:rPr lang="en-US" altLang="ko-KR" b="1" dirty="0"/>
              <a:t>}</a:t>
            </a:r>
          </a:p>
          <a:p>
            <a:pPr algn="l"/>
            <a:r>
              <a:rPr lang="en-US" altLang="ko-KR" b="1" dirty="0"/>
              <a:t>df = </a:t>
            </a:r>
            <a:r>
              <a:rPr lang="en-US" altLang="ko-KR" b="1" dirty="0" err="1"/>
              <a:t>pd.DataFrame</a:t>
            </a:r>
            <a:r>
              <a:rPr lang="en-US" altLang="ko-KR" b="1" dirty="0"/>
              <a:t>(data)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새로운 행 추가하기 </a:t>
            </a:r>
            <a:r>
              <a:rPr lang="en-US" altLang="ko-KR" b="1" dirty="0"/>
              <a:t>, </a:t>
            </a:r>
            <a:r>
              <a:rPr lang="ko-KR" altLang="en-US" b="1" dirty="0"/>
              <a:t>주의 </a:t>
            </a:r>
            <a:r>
              <a:rPr lang="en-US" altLang="ko-KR" b="1" dirty="0"/>
              <a:t>: </a:t>
            </a:r>
            <a:r>
              <a:rPr lang="ko-KR" altLang="en-US" b="1" dirty="0"/>
              <a:t>반드시 반환되는 값을 받아야 추가가 된다 </a:t>
            </a:r>
          </a:p>
          <a:p>
            <a:pPr algn="l"/>
            <a:r>
              <a:rPr lang="en-US" altLang="ko-KR" b="1" dirty="0"/>
              <a:t>#append </a:t>
            </a:r>
            <a:r>
              <a:rPr lang="ko-KR" altLang="en-US" b="1" dirty="0"/>
              <a:t>함수는 데이터가 추가된 객체를 반환한다 </a:t>
            </a:r>
            <a:r>
              <a:rPr lang="en-US" altLang="ko-KR" b="1" dirty="0"/>
              <a:t>. </a:t>
            </a:r>
            <a:endParaRPr lang="ko-KR" altLang="en-US" b="1" dirty="0"/>
          </a:p>
          <a:p>
            <a:pPr algn="l"/>
            <a:r>
              <a:rPr lang="en-US" altLang="ko-KR" b="1" dirty="0" err="1"/>
              <a:t>df.append</a:t>
            </a:r>
            <a:r>
              <a:rPr lang="en-US" altLang="ko-KR" b="1" dirty="0"/>
              <a:t>({'fruits':'</a:t>
            </a:r>
            <a:r>
              <a:rPr lang="ko-KR" altLang="en-US" b="1" dirty="0"/>
              <a:t>사과</a:t>
            </a:r>
            <a:r>
              <a:rPr lang="en-US" altLang="ko-KR" b="1" dirty="0"/>
              <a:t>', 'price':3500, 'count':10} , </a:t>
            </a:r>
            <a:r>
              <a:rPr lang="en-US" altLang="ko-KR" b="1" dirty="0" err="1"/>
              <a:t>ignore_index</a:t>
            </a:r>
            <a:r>
              <a:rPr lang="en-US" altLang="ko-KR" b="1" dirty="0"/>
              <a:t>=True)</a:t>
            </a:r>
          </a:p>
          <a:p>
            <a:pPr algn="l"/>
            <a:r>
              <a:rPr lang="en-US" altLang="ko-KR" b="1" dirty="0"/>
              <a:t>print(df)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en-US" altLang="ko-KR" b="1" dirty="0" err="1"/>
              <a:t>ignore_index</a:t>
            </a:r>
            <a:r>
              <a:rPr lang="en-US" altLang="ko-KR" b="1" dirty="0"/>
              <a:t>=True </a:t>
            </a:r>
            <a:r>
              <a:rPr lang="ko-KR" altLang="en-US" b="1" dirty="0"/>
              <a:t>옵션 </a:t>
            </a:r>
            <a:r>
              <a:rPr lang="en-US" altLang="ko-KR" b="1" dirty="0"/>
              <a:t>: </a:t>
            </a:r>
            <a:r>
              <a:rPr lang="ko-KR" altLang="en-US" b="1" dirty="0"/>
              <a:t>기존의 인덱스를 무시하라는 옵션인데 붙여야 한다 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데이터가 추가된 객체를 받을 경우 </a:t>
            </a:r>
            <a:r>
              <a:rPr lang="en-US" altLang="ko-KR" b="1" dirty="0"/>
              <a:t>--------")</a:t>
            </a:r>
          </a:p>
          <a:p>
            <a:pPr algn="l"/>
            <a:r>
              <a:rPr lang="en-US" altLang="ko-KR" b="1" dirty="0"/>
              <a:t>df = </a:t>
            </a:r>
            <a:r>
              <a:rPr lang="en-US" altLang="ko-KR" b="1" dirty="0" err="1"/>
              <a:t>df.append</a:t>
            </a:r>
            <a:r>
              <a:rPr lang="en-US" altLang="ko-KR" b="1" dirty="0"/>
              <a:t>({'fruits':'</a:t>
            </a:r>
            <a:r>
              <a:rPr lang="ko-KR" altLang="en-US" b="1" dirty="0"/>
              <a:t>사과</a:t>
            </a:r>
            <a:r>
              <a:rPr lang="en-US" altLang="ko-KR" b="1" dirty="0"/>
              <a:t>', 'price':'3500', 'count':10}, </a:t>
            </a:r>
            <a:r>
              <a:rPr lang="en-US" altLang="ko-KR" b="1" dirty="0" err="1"/>
              <a:t>ignore_index</a:t>
            </a:r>
            <a:r>
              <a:rPr lang="en-US" altLang="ko-KR" b="1" dirty="0"/>
              <a:t>=True</a:t>
            </a:r>
            <a:r>
              <a:rPr lang="ko-KR" altLang="en-US" b="1" dirty="0"/>
              <a:t> 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print(df)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530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407737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273920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특정 필드 삭제 </a:t>
            </a:r>
            <a:r>
              <a:rPr lang="en-US" altLang="ko-KR" b="1" dirty="0"/>
              <a:t>: axis</a:t>
            </a:r>
            <a:r>
              <a:rPr lang="ko-KR" altLang="en-US" b="1" dirty="0"/>
              <a:t>는 축을 말하는데 </a:t>
            </a:r>
            <a:r>
              <a:rPr lang="en-US" altLang="ko-KR" b="1" dirty="0"/>
              <a:t>axis</a:t>
            </a:r>
            <a:r>
              <a:rPr lang="ko-KR" altLang="en-US" b="1" dirty="0"/>
              <a:t>값이 </a:t>
            </a:r>
            <a:r>
              <a:rPr lang="en-US" altLang="ko-KR" b="1" dirty="0"/>
              <a:t>0</a:t>
            </a:r>
            <a:r>
              <a:rPr lang="ko-KR" altLang="en-US" b="1" dirty="0"/>
              <a:t>이면 가로</a:t>
            </a:r>
            <a:r>
              <a:rPr lang="en-US" altLang="ko-KR" b="1" dirty="0"/>
              <a:t>, axis </a:t>
            </a:r>
            <a:r>
              <a:rPr lang="ko-KR" altLang="en-US" b="1" dirty="0"/>
              <a:t>값이 </a:t>
            </a:r>
            <a:r>
              <a:rPr lang="en-US" altLang="ko-KR" b="1" dirty="0"/>
              <a:t>1</a:t>
            </a:r>
            <a:r>
              <a:rPr lang="ko-KR" altLang="en-US" b="1" dirty="0"/>
              <a:t>이면 세로를 말함 </a:t>
            </a:r>
          </a:p>
          <a:p>
            <a:pPr algn="l"/>
            <a:r>
              <a:rPr lang="en-US" altLang="ko-KR" b="1" dirty="0"/>
              <a:t>df2 = </a:t>
            </a:r>
            <a:r>
              <a:rPr lang="en-US" altLang="ko-KR" b="1" dirty="0" err="1"/>
              <a:t>df.drop</a:t>
            </a:r>
            <a:r>
              <a:rPr lang="en-US" altLang="ko-KR" b="1" dirty="0"/>
              <a:t>("price", axis=1) #</a:t>
            </a:r>
            <a:r>
              <a:rPr lang="ko-KR" altLang="en-US" b="1" dirty="0"/>
              <a:t>필드가 하나 삭제된 객체를 반환 </a:t>
            </a:r>
          </a:p>
          <a:p>
            <a:pPr algn="l"/>
            <a:r>
              <a:rPr lang="en-US" altLang="ko-KR" b="1" dirty="0"/>
              <a:t>print(df2)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원본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print(df)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특정행을 삭제 </a:t>
            </a:r>
          </a:p>
          <a:p>
            <a:pPr algn="l"/>
            <a:r>
              <a:rPr lang="en-US" altLang="ko-KR" b="1" dirty="0"/>
              <a:t>df3 = </a:t>
            </a:r>
            <a:r>
              <a:rPr lang="en-US" altLang="ko-KR" b="1" dirty="0" err="1"/>
              <a:t>df.drop</a:t>
            </a:r>
            <a:r>
              <a:rPr lang="en-US" altLang="ko-KR" b="1" dirty="0"/>
              <a:t>(0, axis=0) #</a:t>
            </a:r>
            <a:r>
              <a:rPr lang="ko-KR" altLang="en-US" b="1" dirty="0"/>
              <a:t>행의 인덱스를 이용해서 삭제한다 </a:t>
            </a:r>
          </a:p>
          <a:p>
            <a:pPr algn="l"/>
            <a:r>
              <a:rPr lang="en-US" altLang="ko-KR" b="1" dirty="0"/>
              <a:t>print(df3)</a:t>
            </a:r>
          </a:p>
          <a:p>
            <a:br>
              <a:rPr lang="en-US" altLang="ko-KR" b="1" dirty="0"/>
            </a:br>
            <a:endParaRPr lang="en-US" altLang="ko-KR" b="1" dirty="0"/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32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2861C0-46BB-4601-B99D-AC3BE426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021" y="483518"/>
            <a:ext cx="2038933" cy="3584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7144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23528" y="638071"/>
            <a:ext cx="7776864" cy="3527879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 데이터를 데이터프레임 객체로 만들어 봅시다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테이블에 마지막 요소로 다음 데이터를 추가하세요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( 10, 20, 30, 40)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테이블에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total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필드를 만들고 각 필드들의 합을 구하여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total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필드에 적용하세요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FBC03F-62EF-4F1E-8545-A030C1A69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707983"/>
              </p:ext>
            </p:extLst>
          </p:nvPr>
        </p:nvGraphicFramePr>
        <p:xfrm>
          <a:off x="539552" y="1059582"/>
          <a:ext cx="2438400" cy="971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9705609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645335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74234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206745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X1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X2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X3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X4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2552642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2.9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9.2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13.2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615413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2.4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8.7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11.5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3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755328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7.2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10.8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4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529808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2.3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8.5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12.3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222503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3.2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9.6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12.6</a:t>
                      </a:r>
                      <a:endParaRPr lang="en-US" altLang="ko-K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 dirty="0"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55575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147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288154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b="1" dirty="0"/>
              <a:t>파일명 </a:t>
            </a:r>
            <a:r>
              <a:rPr lang="en-US" altLang="ko-KR" sz="1200" b="1" dirty="0"/>
              <a:t>: homework9.py</a:t>
            </a:r>
          </a:p>
          <a:p>
            <a:pPr algn="l"/>
            <a:r>
              <a:rPr lang="en-US" altLang="ko-KR" sz="1200" b="1" dirty="0"/>
              <a:t>import pandas as pd</a:t>
            </a:r>
          </a:p>
          <a:p>
            <a:pPr algn="l"/>
            <a:r>
              <a:rPr lang="en-US" altLang="ko-KR" sz="1200" b="1" dirty="0"/>
              <a:t>data = {</a:t>
            </a:r>
          </a:p>
          <a:p>
            <a:pPr algn="l"/>
            <a:r>
              <a:rPr lang="en-US" altLang="ko-KR" sz="1200" b="1" dirty="0"/>
              <a:t>   'X1':[2.9, 2.4, 2, 2.3, 3.2],</a:t>
            </a:r>
          </a:p>
          <a:p>
            <a:pPr algn="l"/>
            <a:r>
              <a:rPr lang="en-US" altLang="ko-KR" sz="1200" b="1" dirty="0"/>
              <a:t>   'X2':[9.2, 8.7, 7.2, 8.5, 9.6],</a:t>
            </a:r>
          </a:p>
          <a:p>
            <a:pPr algn="l"/>
            <a:r>
              <a:rPr lang="en-US" altLang="ko-KR" sz="1200" b="1" dirty="0"/>
              <a:t>   'X3':[13.2, 11.5, 10.8, 12.3, 12.6],</a:t>
            </a:r>
          </a:p>
          <a:p>
            <a:pPr algn="l"/>
            <a:r>
              <a:rPr lang="en-US" altLang="ko-KR" sz="1200" b="1" dirty="0"/>
              <a:t>   'X4':[2, 3, 4, 3, 2]</a:t>
            </a:r>
          </a:p>
          <a:p>
            <a:pPr algn="l"/>
            <a:r>
              <a:rPr lang="en-US" altLang="ko-KR" sz="1200" b="1" dirty="0"/>
              <a:t>}</a:t>
            </a:r>
          </a:p>
          <a:p>
            <a:pPr algn="l"/>
            <a:r>
              <a:rPr lang="en-US" altLang="ko-KR" sz="1200" b="1" dirty="0"/>
              <a:t>df = </a:t>
            </a:r>
            <a:r>
              <a:rPr lang="en-US" altLang="ko-KR" sz="1200" b="1" dirty="0" err="1"/>
              <a:t>pd.DataFrame</a:t>
            </a:r>
            <a:r>
              <a:rPr lang="en-US" altLang="ko-KR" sz="1200" b="1" dirty="0"/>
              <a:t>(data)</a:t>
            </a:r>
          </a:p>
          <a:p>
            <a:pPr algn="l"/>
            <a:r>
              <a:rPr lang="en-US" altLang="ko-KR" sz="1200" b="1" dirty="0"/>
              <a:t>print(df)</a:t>
            </a:r>
          </a:p>
          <a:p>
            <a:pPr algn="l"/>
            <a:r>
              <a:rPr lang="en-US" altLang="ko-KR" sz="1200" b="1" dirty="0"/>
              <a:t>df = </a:t>
            </a:r>
            <a:r>
              <a:rPr lang="en-US" altLang="ko-KR" sz="1200" b="1" dirty="0" err="1"/>
              <a:t>df.append</a:t>
            </a:r>
            <a:r>
              <a:rPr lang="en-US" altLang="ko-KR" sz="1200" b="1" dirty="0"/>
              <a:t>( {'X1':10, 'X2':20, 'X3':30, 'X4':40}, </a:t>
            </a:r>
            <a:r>
              <a:rPr lang="en-US" altLang="ko-KR" sz="1200" b="1" dirty="0" err="1"/>
              <a:t>ignore_index</a:t>
            </a:r>
            <a:r>
              <a:rPr lang="en-US" altLang="ko-KR" sz="1200" b="1" dirty="0"/>
              <a:t>=True)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df['total'] = df.X1 + df.X2 + df.X3 + df.X4</a:t>
            </a:r>
          </a:p>
          <a:p>
            <a:pPr algn="l"/>
            <a:r>
              <a:rPr lang="en-US" altLang="ko-KR" sz="1200" b="1" dirty="0"/>
              <a:t>print(df)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4139952" y="611145"/>
            <a:ext cx="4406665" cy="1789663"/>
          </a:xfrm>
          <a:prstGeom prst="roundRect">
            <a:avLst/>
          </a:prstGeom>
          <a:noFill/>
          <a:ln w="254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en-US" altLang="ko-KR" sz="1400" b="1" dirty="0" err="1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타입을 이용해 데이터를 작성 후 </a:t>
            </a:r>
            <a:r>
              <a:rPr lang="en-US" altLang="ko-KR" sz="1400" b="1" dirty="0" err="1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적용한다 </a:t>
            </a:r>
            <a:endParaRPr lang="en-US" altLang="ko-KR" sz="1400" b="1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algn="ctr"/>
            <a:endParaRPr lang="en-US" altLang="ko-KR" sz="1400" b="1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algn="ctr"/>
            <a:r>
              <a:rPr lang="ko-KR" altLang="en-US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 데이터는 </a:t>
            </a:r>
            <a:r>
              <a:rPr lang="en-US" altLang="ko-KR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Series </a:t>
            </a:r>
            <a:r>
              <a:rPr lang="ko-KR" altLang="en-US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객체를 만들어야 한다</a:t>
            </a:r>
            <a:r>
              <a:rPr lang="en-US" altLang="ko-KR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400" b="1" dirty="0" err="1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ignore_index</a:t>
            </a:r>
            <a:r>
              <a:rPr lang="en-US" altLang="ko-KR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=True </a:t>
            </a:r>
            <a:r>
              <a:rPr lang="ko-KR" altLang="en-US" sz="1400" b="1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속성을 주어야 한다 </a:t>
            </a:r>
          </a:p>
        </p:txBody>
      </p:sp>
    </p:spTree>
    <p:extLst>
      <p:ext uri="{BB962C8B-B14F-4D97-AF65-F5344CB8AC3E}">
        <p14:creationId xmlns:p14="http://schemas.microsoft.com/office/powerpoint/2010/main" val="3138560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547161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문제풀기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920576"/>
            <a:ext cx="8490292" cy="29622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library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설명글이다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옳지 않을 것을 고르시오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92560" y="1297047"/>
            <a:ext cx="6283696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pip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conda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설치해야 하는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는 통계 패키지에 많이 사용하는 데이터 타입이다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 Anaconda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사용시에도 별도의 설치를 하여야 한다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 Pandas library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Series,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Panel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데이터 셋을 지원한다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30180" y="2615464"/>
            <a:ext cx="3618278" cy="988722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3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 Anaconda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패키지는 이미 설치되어 있습니다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난이도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4(1: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아주어려움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2: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어려움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쉬움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쉬움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관련페이지번호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7</a:t>
            </a:r>
          </a:p>
        </p:txBody>
      </p:sp>
    </p:spTree>
    <p:extLst>
      <p:ext uri="{BB962C8B-B14F-4D97-AF65-F5344CB8AC3E}">
        <p14:creationId xmlns:p14="http://schemas.microsoft.com/office/powerpoint/2010/main" val="3000450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33827"/>
              </p:ext>
            </p:extLst>
          </p:nvPr>
        </p:nvGraphicFramePr>
        <p:xfrm>
          <a:off x="107504" y="51470"/>
          <a:ext cx="8749636" cy="48487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73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다음에 제시된 </a:t>
                      </a:r>
                      <a:r>
                        <a:rPr lang="ko-KR" altLang="en-US"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파서중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추가로 설치하지 않아도 사용 가능한 기본 파서는</a:t>
                      </a:r>
                      <a:r>
                        <a:rPr lang="en-US" altLang="ko-KR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5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다음과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같이 </a:t>
                      </a:r>
                      <a:r>
                        <a:rPr lang="en-US" altLang="ko-KR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Serirs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객체가 있을 경우 데이터 출력을 하려면 어떻게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해야야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하나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series = </a:t>
                      </a:r>
                      <a:r>
                        <a:rPr lang="en-US" altLang="ko-KR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pd.Series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 [ ‘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사과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’, ‘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망고‘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‘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바나나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’, ‘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수박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’, ‘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딸기＇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      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print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결과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바나나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수박 딸기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series[2: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Series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객체도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슬라이싱이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적용됩니니다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2,3,4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세개의 데이터가 출력되어야 하므로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번방부터 마지막까지 적용됩니다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32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다음과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같이 </a:t>
                      </a: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Serirs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객체가 있을 경우 데이터 출력을 하려면 어떻게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해야야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하나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series2 = </a:t>
                      </a: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pd.Series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({'red':'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빨간색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', 'green':'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초록색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', 'blue':'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파란색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', 'black':'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검은색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’})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print (                                                             )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빨간색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초록색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파란색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series2[‘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red’:’blue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인덱스가 문자열이므로 문자열로 주면 된다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series2[‘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red’:’blue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32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= {</a:t>
                      </a:r>
                    </a:p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'name':['Tom', 'Brown', 'Jane', '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Stepany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'John'],</a:t>
                      </a:r>
                    </a:p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'month1':[1200, 2000, 3000, 1800, 4500],</a:t>
                      </a:r>
                    </a:p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'month2':[2400, 2300, 4300, 2800, 4200],</a:t>
                      </a:r>
                    </a:p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'month3':[1800, 2700, 3500, 3800, 4300],</a:t>
                      </a:r>
                    </a:p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=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pd.DataFrame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(data)</a:t>
                      </a:r>
                    </a:p>
                    <a:p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위의 데이터는  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¼</a:t>
                      </a: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분이 영업자들의 실적이다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실적을 새로운 필드를 추가하여 평균을 구하는 코드를 </a:t>
                      </a:r>
                      <a:r>
                        <a:rPr lang="ko-KR" altLang="en-US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작성하시오</a:t>
                      </a: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정답은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해설참조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data['quater1'] = (data['month1'] + data['month2'] + data['month3’])/3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또는 </a:t>
                      </a:r>
                      <a:endParaRPr lang="en-US" altLang="ko-KR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data['quater1'] = (data.month1+ data.month2+ data.month3)/3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975403"/>
                  </a:ext>
                </a:extLst>
              </a:tr>
              <a:tr h="92432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번의 데이터에 새로운 사람의 자료를 추가하는 코드를 작성하세요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name=‘Bread’,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month1=3400,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month2 = 4000,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month3=5000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정답은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해설참조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=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data.append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({'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name':'Bread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'month1':3400, 'month2':4000, 'month3':5000},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ignore_index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=True)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464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428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266740"/>
              </p:ext>
            </p:extLst>
          </p:nvPr>
        </p:nvGraphicFramePr>
        <p:xfrm>
          <a:off x="107504" y="51470"/>
          <a:ext cx="8749636" cy="3365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3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73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37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번의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데이터중에서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Stepany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데이터중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데이터를 보고 싶다면 어떻게 해야 하는지 코드를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작성하시오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iloc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 사용하기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정답은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해설참조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data.iloc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[3, 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번의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데이터중에서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john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데이터중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데이터를 보고 싶다면 어떻게 해야 하는지 코드를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작성하시오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(loc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 사용하기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정답은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해설참조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data.loc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[4, 'month2']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6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번의 데이터에서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month3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필드를 삭제하는 코드를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작성하시오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정답은 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해설참조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=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data.drop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('month2', axis=1)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4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번의 데이터에서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jane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 데이터를 삭제하는 코드를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작성하시오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= </a:t>
                      </a:r>
                      <a:r>
                        <a:rPr lang="en-US" altLang="ko-KR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data.drop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(2, axis=0)</a:t>
                      </a:r>
                    </a:p>
                    <a:p>
                      <a:pPr algn="l"/>
                      <a:endParaRPr lang="en-US" altLang="ko-KR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975403"/>
                  </a:ext>
                </a:extLst>
              </a:tr>
              <a:tr h="46216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설명중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잘못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된것은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① Series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객체는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list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통해서만 만들 수 있다 </a:t>
                      </a: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② Series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객체는 </a:t>
                      </a:r>
                      <a:r>
                        <a:rPr lang="en-US" altLang="ko-KR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dict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타입을 통해 직접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index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부여할 수 있다 </a:t>
                      </a: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③ </a:t>
                      </a:r>
                      <a:r>
                        <a:rPr lang="en-US" altLang="ko-KR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DataFrame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은 행과 열로 구성된 테이블 형태 구조체이다 </a:t>
                      </a: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④ Panel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은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차원 데이터 구조이다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list,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dict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타입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둘다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가능합니다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76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097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핵심요약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703720"/>
            <a:ext cx="8562300" cy="445120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판다스에서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데이터를 지원하기 위해  만든 데이터 타입입니다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접근 하는 방법은 인덱스를 활용합니다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인덱스에 조건을 부여할 수 도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data[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조건식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조건식을 만족하는 결과만 출력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인덱스는 자동으로 부여됩니다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사용자가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타입을 이용해 별도의 인덱스를 부여할 수 도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판다스에서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데이터를 지원하기 위해  만든 데이터 타입입니다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테이블의 구조이고 행과 열이 있습니다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많이 사용하는 데이터 타입입니다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열과 행은 하나의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타입으로 볼 수 도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iloc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열번호와 행번호를 이용해 데이터프레임 요소에 접근할 수 있고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loc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필드에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colum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명이나 행에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row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명이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붙었을땡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직접 행이나 열명으로 접근이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가능합나다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파일이나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excel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다루기 용이합니다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Panel</a:t>
            </a:r>
          </a:p>
          <a:p>
            <a:pPr algn="l">
              <a:lnSpc>
                <a:spcPct val="150000"/>
              </a:lnSpc>
            </a:pPr>
            <a:r>
              <a:rPr lang="en-US" altLang="ko-KR" sz="1000">
                <a:latin typeface="나눔고딕" panose="020D0604000000000000" pitchFamily="50" charset="-127"/>
                <a:ea typeface="나눔고딕" panose="020D0604000000000000" pitchFamily="50" charset="-127"/>
              </a:rPr>
              <a:t>- 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판다스에서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데이터를 지원하기 위해  만든 데이터 타입입니다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50257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rgbClr val="FF0000"/>
          </a:solidFill>
          <a:headEnd type="none" w="med" len="med"/>
          <a:tailEnd type="triangle" w="med" len="med"/>
        </a:ln>
        <a:effectLst/>
      </a:spPr>
      <a:bodyPr rtlCol="0" anchor="ctr"/>
      <a:lstStyle>
        <a:defPPr marL="0" algn="l">
          <a:defRPr dirty="0" smtClean="0">
            <a:solidFill>
              <a:sysClr val="windowText" lastClr="000000"/>
            </a:solidFill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>
        <a:ln>
          <a:solidFill>
            <a:schemeClr val="tx1">
              <a:lumMod val="85000"/>
              <a:lumOff val="15000"/>
            </a:schemeClr>
          </a:solidFill>
          <a:headEnd type="none" w="med" len="med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</a:spPr>
      <a:bodyPr wrap="square" rtlCol="0" anchor="t">
        <a:spAutoFit/>
      </a:bodyPr>
      <a:lstStyle>
        <a:defPPr algn="l">
          <a:defRPr sz="1800" b="1" dirty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71894</TotalTime>
  <Words>4171</Words>
  <Application>Microsoft Office PowerPoint</Application>
  <PresentationFormat>화면 슬라이드 쇼(16:9)</PresentationFormat>
  <Paragraphs>753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5" baseType="lpstr">
      <vt:lpstr>나눔고딕</vt:lpstr>
      <vt:lpstr>돋움</vt:lpstr>
      <vt:lpstr>맑은 고딕</vt:lpstr>
      <vt:lpstr>Arial</vt:lpstr>
      <vt:lpstr>Calibri</vt:lpstr>
      <vt:lpstr>Cambria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백 현숙</cp:lastModifiedBy>
  <cp:revision>4731</cp:revision>
  <cp:lastPrinted>2015-05-26T08:39:57Z</cp:lastPrinted>
  <dcterms:created xsi:type="dcterms:W3CDTF">2004-07-08T01:15:15Z</dcterms:created>
  <dcterms:modified xsi:type="dcterms:W3CDTF">2020-11-24T12:17:13Z</dcterms:modified>
</cp:coreProperties>
</file>