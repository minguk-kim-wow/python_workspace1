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9"/>
  </p:notesMasterIdLst>
  <p:handoutMasterIdLst>
    <p:handoutMasterId r:id="rId40"/>
  </p:handoutMasterIdLst>
  <p:sldIdLst>
    <p:sldId id="1127" r:id="rId2"/>
    <p:sldId id="1131" r:id="rId3"/>
    <p:sldId id="1141" r:id="rId4"/>
    <p:sldId id="1195" r:id="rId5"/>
    <p:sldId id="1196" r:id="rId6"/>
    <p:sldId id="1174" r:id="rId7"/>
    <p:sldId id="1177" r:id="rId8"/>
    <p:sldId id="1178" r:id="rId9"/>
    <p:sldId id="1396" r:id="rId10"/>
    <p:sldId id="1179" r:id="rId11"/>
    <p:sldId id="1398" r:id="rId12"/>
    <p:sldId id="1397" r:id="rId13"/>
    <p:sldId id="1399" r:id="rId14"/>
    <p:sldId id="1400" r:id="rId15"/>
    <p:sldId id="1202" r:id="rId16"/>
    <p:sldId id="1203" r:id="rId17"/>
    <p:sldId id="1402" r:id="rId18"/>
    <p:sldId id="1401" r:id="rId19"/>
    <p:sldId id="1197" r:id="rId20"/>
    <p:sldId id="1403" r:id="rId21"/>
    <p:sldId id="1404" r:id="rId22"/>
    <p:sldId id="1204" r:id="rId23"/>
    <p:sldId id="1209" r:id="rId24"/>
    <p:sldId id="1405" r:id="rId25"/>
    <p:sldId id="1210" r:id="rId26"/>
    <p:sldId id="1408" r:id="rId27"/>
    <p:sldId id="1407" r:id="rId28"/>
    <p:sldId id="1409" r:id="rId29"/>
    <p:sldId id="1182" r:id="rId30"/>
    <p:sldId id="1344" r:id="rId31"/>
    <p:sldId id="1242" r:id="rId32"/>
    <p:sldId id="1406" r:id="rId33"/>
    <p:sldId id="1132" r:id="rId34"/>
    <p:sldId id="1410" r:id="rId35"/>
    <p:sldId id="1394" r:id="rId36"/>
    <p:sldId id="1411" r:id="rId37"/>
    <p:sldId id="1135" r:id="rId38"/>
  </p:sldIdLst>
  <p:sldSz cx="9144000" cy="5143500" type="screen16x9"/>
  <p:notesSz cx="6735763" cy="9866313"/>
  <p:defaultTextStyle>
    <a:defPPr>
      <a:defRPr lang="ko-KR"/>
    </a:defPPr>
    <a:lvl1pPr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89582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779163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168745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558326" algn="ctr" rtl="0" fontAlgn="base">
      <a:spcBef>
        <a:spcPct val="0"/>
      </a:spcBef>
      <a:spcAft>
        <a:spcPct val="0"/>
      </a:spcAft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1947908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337489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2727071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116652" algn="l" defTabSz="779163" rtl="0" eaLnBrk="1" latinLnBrk="1" hangingPunct="1">
      <a:defRPr kumimoji="1" sz="9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userDrawn="1">
          <p15:clr>
            <a:srgbClr val="A4A3A4"/>
          </p15:clr>
        </p15:guide>
        <p15:guide id="3" orient="horz" pos="305">
          <p15:clr>
            <a:srgbClr val="A4A3A4"/>
          </p15:clr>
        </p15:guide>
        <p15:guide id="4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  <p15:guide id="3" orient="horz" pos="3107">
          <p15:clr>
            <a:srgbClr val="A4A3A4"/>
          </p15:clr>
        </p15:guide>
        <p15:guide id="4" pos="212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msung" initials="S" lastIdx="13" clrIdx="0">
    <p:extLst>
      <p:ext uri="{19B8F6BF-5375-455C-9EA6-DF929625EA0E}">
        <p15:presenceInfo xmlns:p15="http://schemas.microsoft.com/office/powerpoint/2012/main" userId="Sams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180DFB"/>
    <a:srgbClr val="0070C0"/>
    <a:srgbClr val="FFCCCC"/>
    <a:srgbClr val="FFFFFF"/>
    <a:srgbClr val="E46C0A"/>
    <a:srgbClr val="215968"/>
    <a:srgbClr val="BFBFBF"/>
    <a:srgbClr val="FF3300"/>
    <a:srgbClr val="B3A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40" autoAdjust="0"/>
    <p:restoredTop sz="86151" autoAdjust="0"/>
  </p:normalViewPr>
  <p:slideViewPr>
    <p:cSldViewPr>
      <p:cViewPr varScale="1">
        <p:scale>
          <a:sx n="114" d="100"/>
          <a:sy n="114" d="100"/>
        </p:scale>
        <p:origin x="115" y="67"/>
      </p:cViewPr>
      <p:guideLst>
        <p:guide orient="horz"/>
        <p:guide/>
        <p:guide orient="horz" pos="305"/>
        <p:guide pos="340"/>
      </p:guideLst>
    </p:cSldViewPr>
  </p:slideViewPr>
  <p:outlineViewPr>
    <p:cViewPr>
      <p:scale>
        <a:sx n="33" d="100"/>
        <a:sy n="33" d="100"/>
      </p:scale>
      <p:origin x="36" y="148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-3954" y="-96"/>
      </p:cViewPr>
      <p:guideLst>
        <p:guide orient="horz" pos="3130"/>
        <p:guide pos="2144"/>
        <p:guide orient="horz" pos="3107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572" y="1"/>
            <a:ext cx="2918621" cy="493237"/>
          </a:xfrm>
          <a:prstGeom prst="rect">
            <a:avLst/>
          </a:prstGeom>
        </p:spPr>
        <p:txBody>
          <a:bodyPr vert="horz" lIns="90644" tIns="45322" rIns="90644" bIns="45322" rtlCol="0"/>
          <a:lstStyle>
            <a:lvl1pPr algn="r">
              <a:defRPr sz="1200"/>
            </a:lvl1pPr>
          </a:lstStyle>
          <a:p>
            <a:pPr>
              <a:defRPr/>
            </a:pPr>
            <a:fld id="{995E349A-2F5C-4CD5-9D55-29F99897CE80}" type="datetimeFigureOut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2020-11-24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572" y="9371501"/>
            <a:ext cx="2918621" cy="493236"/>
          </a:xfrm>
          <a:prstGeom prst="rect">
            <a:avLst/>
          </a:prstGeom>
        </p:spPr>
        <p:txBody>
          <a:bodyPr vert="horz" lIns="90644" tIns="45322" rIns="90644" bIns="45322" rtlCol="0" anchor="b"/>
          <a:lstStyle>
            <a:lvl1pPr algn="r">
              <a:defRPr sz="1200"/>
            </a:lvl1pPr>
          </a:lstStyle>
          <a:p>
            <a:pPr>
              <a:defRPr/>
            </a:pPr>
            <a:fld id="{EE633E7D-3427-42F4-A51F-CFCCA527B5A1}" type="slidenum"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pPr>
                <a:defRPr/>
              </a:pPr>
              <a:t>‹#›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1965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7142" y="1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2550" y="741363"/>
            <a:ext cx="6572250" cy="36972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891" y="4684963"/>
            <a:ext cx="5387982" cy="4440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l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6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7142" y="9369925"/>
            <a:ext cx="2917051" cy="49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44" tIns="45371" rIns="90744" bIns="45371" numCol="1" anchor="b" anchorCtr="0" compatLnSpc="1">
            <a:prstTxWarp prst="textNoShape">
              <a:avLst/>
            </a:prstTxWarp>
          </a:bodyPr>
          <a:lstStyle>
            <a:lvl1pPr algn="r" latinLnBrk="1">
              <a:spcBef>
                <a:spcPct val="0"/>
              </a:spcBef>
              <a:defRPr sz="1200" b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>
              <a:defRPr/>
            </a:pPr>
            <a:fld id="{57F922E9-5D2F-476E-8777-0371A815ABE5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687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389582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779163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168745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558326" algn="l" rtl="0" eaLnBrk="0" fontAlgn="base" latinLnBrk="1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1947908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489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071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6652" algn="l" defTabSz="779163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6609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539552" y="54900"/>
            <a:ext cx="8340531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>
              <a:defRPr sz="2400" b="1" i="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92265" y="5147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dirty="0"/>
              <a:t>◈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275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290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 bwMode="auto">
          <a:xfrm>
            <a:off x="0" y="0"/>
            <a:ext cx="9155120" cy="579120"/>
          </a:xfrm>
          <a:prstGeom prst="rect">
            <a:avLst/>
          </a:prstGeom>
          <a:pattFill prst="wdUpDiag">
            <a:fgClr>
              <a:schemeClr val="accent4">
                <a:lumMod val="75000"/>
              </a:schemeClr>
            </a:fgClr>
            <a:bgClr>
              <a:schemeClr val="accent4">
                <a:lumMod val="50000"/>
              </a:schemeClr>
            </a:bgClr>
          </a:patt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 bwMode="auto">
          <a:xfrm>
            <a:off x="0" y="579120"/>
            <a:ext cx="9155120" cy="4565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755576" y="67964"/>
            <a:ext cx="8159824" cy="42862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ko-KR" altLang="en-US" sz="2400" b="0" cap="none" spc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제목 4"/>
          <p:cNvSpPr txBox="1">
            <a:spLocks/>
          </p:cNvSpPr>
          <p:nvPr userDrawn="1"/>
        </p:nvSpPr>
        <p:spPr>
          <a:xfrm>
            <a:off x="251520" y="74330"/>
            <a:ext cx="432048" cy="398999"/>
          </a:xfrm>
          <a:prstGeom prst="rect">
            <a:avLst/>
          </a:prstGeom>
        </p:spPr>
        <p:txBody>
          <a:bodyPr lIns="77925" tIns="38963" rIns="77925" bIns="38963"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sz="2400" b="1" i="0" kern="1200">
                <a:ln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Calibri" pitchFamily="34" charset="0"/>
                <a:ea typeface="맑은 고딕" pitchFamily="50" charset="-127"/>
              </a:defRPr>
            </a:lvl5pPr>
            <a:lvl6pPr marL="389580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779159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168738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558317" algn="ctr" rtl="0" fontAlgn="base" latinLnBrk="1">
              <a:spcBef>
                <a:spcPct val="0"/>
              </a:spcBef>
              <a:spcAft>
                <a:spcPct val="0"/>
              </a:spcAft>
              <a:defRPr sz="37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kumimoji="0" lang="ko-KR" altLang="en-US" sz="2800" dirty="0">
                <a:solidFill>
                  <a:schemeClr val="bg1"/>
                </a:solidFill>
              </a:rPr>
              <a:t>◈</a:t>
            </a: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900" b="1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1pPr>
            <a:lvl2pPr marL="389582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2pPr>
            <a:lvl3pPr marL="779163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3pPr>
            <a:lvl4pPr marL="1168745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4pPr>
            <a:lvl5pPr marL="1558326" algn="ctr" rtl="0" fontAlgn="base">
              <a:spcBef>
                <a:spcPct val="0"/>
              </a:spcBef>
              <a:spcAft>
                <a:spcPct val="0"/>
              </a:spcAft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5pPr>
            <a:lvl6pPr marL="1947908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6pPr>
            <a:lvl7pPr marL="2337489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7pPr>
            <a:lvl8pPr marL="2727071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8pPr>
            <a:lvl9pPr marL="3116652" algn="l" defTabSz="779163" rtl="0" eaLnBrk="1" latinLnBrk="1" hangingPunct="1">
              <a:defRPr kumimoji="1" sz="900" kern="1200">
                <a:solidFill>
                  <a:schemeClr val="tx1"/>
                </a:solidFill>
                <a:latin typeface="돋움" pitchFamily="50" charset="-127"/>
                <a:ea typeface="돋움" pitchFamily="50" charset="-127"/>
                <a:cs typeface="+mn-cs"/>
              </a:defRPr>
            </a:lvl9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12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19"/>
          <p:cNvSpPr>
            <a:spLocks noChangeArrowheads="1"/>
          </p:cNvSpPr>
          <p:nvPr userDrawn="1"/>
        </p:nvSpPr>
        <p:spPr bwMode="auto">
          <a:xfrm>
            <a:off x="25257" y="253583"/>
            <a:ext cx="9083247" cy="390234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Rectangle 19"/>
          <p:cNvSpPr>
            <a:spLocks noChangeArrowheads="1"/>
          </p:cNvSpPr>
          <p:nvPr userDrawn="1"/>
        </p:nvSpPr>
        <p:spPr bwMode="auto">
          <a:xfrm>
            <a:off x="219938" y="4155926"/>
            <a:ext cx="8901538" cy="95709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ctr">
              <a:defRPr/>
            </a:pPr>
            <a:endParaRPr kumimoji="0" lang="ko-KR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Rectangle 19"/>
          <p:cNvSpPr>
            <a:spLocks noChangeArrowheads="1"/>
          </p:cNvSpPr>
          <p:nvPr userDrawn="1"/>
        </p:nvSpPr>
        <p:spPr bwMode="auto">
          <a:xfrm>
            <a:off x="25259" y="4155874"/>
            <a:ext cx="290650" cy="9577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horz" wrap="none" lIns="91430" tIns="45715" rIns="72000" bIns="45715" anchor="ctr"/>
          <a:lstStyle/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endParaRPr kumimoji="1" lang="en-US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>
              <a:lnSpc>
                <a:spcPct val="100000"/>
              </a:lnSpc>
              <a:defRPr/>
            </a:pPr>
            <a:r>
              <a:rPr kumimoji="1" lang="ko-KR" altLang="en-US" sz="8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션</a:t>
            </a:r>
            <a:endParaRPr kumimoji="0" lang="ko-KR" altLang="ko-KR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3" name="Rectangle 22"/>
          <p:cNvSpPr>
            <a:spLocks noChangeArrowheads="1"/>
          </p:cNvSpPr>
          <p:nvPr userDrawn="1"/>
        </p:nvSpPr>
        <p:spPr bwMode="auto">
          <a:xfrm>
            <a:off x="25257" y="19025"/>
            <a:ext cx="386422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과정명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Rectangle 22"/>
          <p:cNvSpPr>
            <a:spLocks noChangeArrowheads="1"/>
          </p:cNvSpPr>
          <p:nvPr userDrawn="1"/>
        </p:nvSpPr>
        <p:spPr bwMode="auto">
          <a:xfrm>
            <a:off x="5917292" y="19025"/>
            <a:ext cx="3204184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/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5" name="Rectangle 22"/>
          <p:cNvSpPr>
            <a:spLocks noChangeArrowheads="1"/>
          </p:cNvSpPr>
          <p:nvPr userDrawn="1"/>
        </p:nvSpPr>
        <p:spPr bwMode="auto">
          <a:xfrm>
            <a:off x="409428" y="19025"/>
            <a:ext cx="2434379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algn="l" latinLnBrk="1"/>
            <a:endParaRPr lang="ko-KR" altLang="en-US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9" name="Rectangle 22"/>
          <p:cNvSpPr>
            <a:spLocks noChangeArrowheads="1"/>
          </p:cNvSpPr>
          <p:nvPr userDrawn="1"/>
        </p:nvSpPr>
        <p:spPr bwMode="auto">
          <a:xfrm>
            <a:off x="3226326" y="19025"/>
            <a:ext cx="2308448" cy="2040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0" tIns="45715" rIns="91430" bIns="45715" anchor="ctr"/>
          <a:lstStyle/>
          <a:p>
            <a:pPr latinLnBrk="1"/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0" name="Rectangle 22"/>
          <p:cNvSpPr>
            <a:spLocks noChangeArrowheads="1"/>
          </p:cNvSpPr>
          <p:nvPr userDrawn="1"/>
        </p:nvSpPr>
        <p:spPr bwMode="auto">
          <a:xfrm>
            <a:off x="2843808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모듈명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Rectangle 22"/>
          <p:cNvSpPr>
            <a:spLocks noChangeArrowheads="1"/>
          </p:cNvSpPr>
          <p:nvPr userDrawn="1"/>
        </p:nvSpPr>
        <p:spPr bwMode="auto">
          <a:xfrm>
            <a:off x="5534774" y="19025"/>
            <a:ext cx="382518" cy="20407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0" tIns="45715" rIns="91430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회차명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6456" y="4912901"/>
            <a:ext cx="432048" cy="230599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fld id="{50FDCC27-B19A-4A8C-A2EB-1A8261DEBF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7" r:id="rId1"/>
    <p:sldLayoutId id="2147485038" r:id="rId2"/>
    <p:sldLayoutId id="2147485039" r:id="rId3"/>
    <p:sldLayoutId id="2147485042" r:id="rId4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389580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9159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8738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8317" algn="ctr" rtl="0" fontAlgn="base" latinLnBrk="1">
        <a:spcBef>
          <a:spcPct val="0"/>
        </a:spcBef>
        <a:spcAft>
          <a:spcPct val="0"/>
        </a:spcAft>
        <a:defRPr sz="37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92184" indent="-292184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33067" indent="-243486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394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63528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53107" indent="-194789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42686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265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1844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423" indent="-194789" algn="l" defTabSz="779159" rtl="0" eaLnBrk="1" latinLnBrk="1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580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159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738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31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7897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476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05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634" algn="l" defTabSz="779159" rtl="0" eaLnBrk="1" latinLnBrk="1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6"/>
          <p:cNvSpPr txBox="1">
            <a:spLocks noChangeArrowheads="1"/>
          </p:cNvSpPr>
          <p:nvPr/>
        </p:nvSpPr>
        <p:spPr bwMode="auto">
          <a:xfrm>
            <a:off x="323528" y="4271830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학습자가 학습 화면에 구성한 내용을 보고 있다고 가정하고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학습 설명으로 함께 들어야 할 음성 내용을 자세하게 기입해 주세요</a:t>
            </a:r>
            <a:r>
              <a:rPr lang="en-US" altLang="ko-KR" sz="800" dirty="0">
                <a:solidFill>
                  <a:srgbClr val="180DFB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이건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? 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저도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이런건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나래이션하면</a:t>
            </a:r>
            <a:r>
              <a:rPr lang="ko-KR" altLang="en-US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좋겠어요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..</a:t>
            </a:r>
            <a:r>
              <a:rPr lang="ko-KR" altLang="en-US" sz="800" b="1" dirty="0" err="1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ㅜㅜ</a:t>
            </a:r>
            <a:r>
              <a:rPr lang="en-US" altLang="ko-KR" sz="800" b="1" dirty="0">
                <a:solidFill>
                  <a:srgbClr val="008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 </a:t>
            </a:r>
            <a:endParaRPr lang="ko-KR" altLang="en-US" sz="800" b="1" dirty="0">
              <a:solidFill>
                <a:srgbClr val="008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학습열기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74905" y="771550"/>
            <a:ext cx="8279811" cy="2142884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데이터라는 것이 한정된 공간과 한정된 사람들의 것이었습니다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오늘날은 더 많은 사람이 더 많은 양의 데이터를 서로 나누거나 공유합니다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데이터를 공유하는 이유는  하나의 사업체나 개인 혼자서 모든 정보를 수집하기 어렵기때문에 서로 데이터를 주고 받으면서 더 많은 정보나 얻어서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사업에 이용하거나 새로운 사업을 창출하기 위해서 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이전에는 데이터 공유는 액티브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액스와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같은 작성하기 어려운 어플리케이션을 활용했다면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요즘에는 웹이라는 자원을 활용하여 서로 데이터만 주고 받는 형태로 데이터 공유가 이루어집니다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라이브러리는 외부 파일을 불러와 데이터 프레임을 만들기 쉽게 되어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물론 데이터를 추가하거나 수정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삭제등의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변화를 가하여 특정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형식의 외부파일로 저장도 손쉽게 되어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빅데이터분석에서의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통계 자료들을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다룰때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엑셀형식의 파일들을 많이 다루는데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특히 이 분야에 최적화 되어 있습니다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장에서는 외부파일들을 읽어서 데이터프레임 객체를 만들고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 객체 자체에서 제공하는 많은 함수들의 사용법을 살펴보도록 하겠습니다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4866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76916" y="625122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학습내용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76916" y="2122556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학습목표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99592" y="998537"/>
            <a:ext cx="5832648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Pandas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 구조와 데이터 타입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를 이용한  외부파일 읽고 쓰기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899592" y="2495971"/>
            <a:ext cx="4896544" cy="75789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데이터프레임이 구조를 이해할 수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판다스를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이용하여 외부파일을 읽고 쓸 수 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49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41254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데이터프레임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1976803" cy="102411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외부파일 읽고 쓰기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400131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8132334" cy="3216255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데이터프레임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데이터프레임은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데이터 타입입니다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차원 배열형태이나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하나의 타입으로만 구성되는 것이 아니라 각 열이 각기 다른 타입으로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구성되어있어서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구조체나 클래스를 만들지 않고도 사용자 데이터를 취급하기 쉬운 객체입니다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또한 많은 통계관련 함수들도 제공하고 있고 각 열과 행에 대해서 자유롭게 접근할 수 있다는 것도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데이터프레임의 장점입니다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5232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7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5468143" cy="738654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판다스는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외부파일을 읽어서 데이터 프레임으로 손쉽게 전환합니다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판다스가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파일 형식들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60042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5</a:t>
            </a:fld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A20DA3B-EEE2-4C58-B2DB-FE94706DE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043562"/>
              </p:ext>
            </p:extLst>
          </p:nvPr>
        </p:nvGraphicFramePr>
        <p:xfrm>
          <a:off x="395536" y="1208898"/>
          <a:ext cx="7704856" cy="26746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871">
                  <a:extLst>
                    <a:ext uri="{9D8B030D-6E8A-4147-A177-3AD203B41FA5}">
                      <a16:colId xmlns:a16="http://schemas.microsoft.com/office/drawing/2014/main" val="140896149"/>
                    </a:ext>
                  </a:extLst>
                </a:gridCol>
                <a:gridCol w="3745843">
                  <a:extLst>
                    <a:ext uri="{9D8B030D-6E8A-4147-A177-3AD203B41FA5}">
                      <a16:colId xmlns:a16="http://schemas.microsoft.com/office/drawing/2014/main" val="3520292023"/>
                    </a:ext>
                  </a:extLst>
                </a:gridCol>
                <a:gridCol w="1381505">
                  <a:extLst>
                    <a:ext uri="{9D8B030D-6E8A-4147-A177-3AD203B41FA5}">
                      <a16:colId xmlns:a16="http://schemas.microsoft.com/office/drawing/2014/main" val="4131961166"/>
                    </a:ext>
                  </a:extLst>
                </a:gridCol>
                <a:gridCol w="1073637">
                  <a:extLst>
                    <a:ext uri="{9D8B030D-6E8A-4147-A177-3AD203B41FA5}">
                      <a16:colId xmlns:a16="http://schemas.microsoft.com/office/drawing/2014/main" val="2303468737"/>
                    </a:ext>
                  </a:extLst>
                </a:gridCol>
              </a:tblGrid>
              <a:tr h="32944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파일형식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read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write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862390"/>
                  </a:ext>
                </a:extLst>
              </a:tr>
              <a:tr h="568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csv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text</a:t>
                      </a:r>
                      <a:r>
                        <a:rPr lang="ko-KR" altLang="en-US" sz="1200" dirty="0"/>
                        <a:t>형태로 데이터를 저장한다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데이터와 데이터 사이에 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나 구분자를 이용해서 저장한다</a:t>
                      </a:r>
                      <a:r>
                        <a:rPr lang="en-US" altLang="ko-KR" sz="1200" dirty="0"/>
                        <a:t>. </a:t>
                      </a:r>
                    </a:p>
                    <a:p>
                      <a:pPr latinLnBrk="1"/>
                      <a:r>
                        <a:rPr lang="ko-KR" altLang="en-US" sz="1200" dirty="0"/>
                        <a:t>메모장에서도 작성 가능하다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read_csv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to_csv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439596"/>
                  </a:ext>
                </a:extLst>
              </a:tr>
              <a:tr h="329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excel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엑셀 프로그램이 있어야 한다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read_excel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to_excel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52266"/>
                  </a:ext>
                </a:extLst>
              </a:tr>
              <a:tr h="5686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json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javascript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객체 저장형식으로 데이터를 저장한다</a:t>
                      </a:r>
                      <a:r>
                        <a:rPr lang="en-US" altLang="ko-KR" sz="1200" dirty="0"/>
                        <a:t>.  </a:t>
                      </a:r>
                      <a:r>
                        <a:rPr lang="ko-KR" altLang="en-US" sz="1200" dirty="0" err="1"/>
                        <a:t>웹등을</a:t>
                      </a:r>
                      <a:r>
                        <a:rPr lang="ko-KR" altLang="en-US" sz="1200" dirty="0"/>
                        <a:t> 이용해 데이터를 주고 받기 위해 사용하는 형식이다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read_json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to_json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713817"/>
                  </a:ext>
                </a:extLst>
              </a:tr>
              <a:tr h="3294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html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웹페이지 파일 형식이다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/>
                        <a:t>read_html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to_html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851119"/>
                  </a:ext>
                </a:extLst>
              </a:tr>
              <a:tr h="4061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hd5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/>
                        <a:t>딥러닝에서의</a:t>
                      </a:r>
                      <a:r>
                        <a:rPr lang="ko-KR" altLang="en-US" sz="1200" dirty="0"/>
                        <a:t> 모델을 </a:t>
                      </a:r>
                      <a:r>
                        <a:rPr lang="ko-KR" altLang="en-US" sz="1200" dirty="0" err="1"/>
                        <a:t>저장할때</a:t>
                      </a:r>
                      <a:r>
                        <a:rPr lang="ko-KR" altLang="en-US" sz="1200" dirty="0"/>
                        <a:t> 사용하는 형식이다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read_hd5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to_hd5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25879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286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9248024" cy="2246759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읽고 쓰기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파일은 데이터를 쉼표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(,)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구분하고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텍스트파일의 형식이기때문에 특정 프로그램이 필요없이 보통의 에디터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작성하기 쉽다는 장점이 있습니다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85750" indent="-285750" algn="l">
              <a:buFontTx/>
              <a:buChar char="-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엑셀에서도 열어서 수정작업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진행후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다시 저장할 수 도 있어서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빅데이에서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가장 많이 사용하는 데이터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저장형태입니다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판다스를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읽기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5750" indent="-285750" algn="l">
              <a:buFontTx/>
              <a:buChar char="-"/>
            </a:pP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16954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1E1201-5A44-4833-BAEA-8E1B51F42D02}"/>
              </a:ext>
            </a:extLst>
          </p:cNvPr>
          <p:cNvSpPr/>
          <p:nvPr/>
        </p:nvSpPr>
        <p:spPr bwMode="auto">
          <a:xfrm>
            <a:off x="440430" y="2107180"/>
            <a:ext cx="7515946" cy="2056365"/>
          </a:xfrm>
          <a:prstGeom prst="rect">
            <a:avLst/>
          </a:prstGeom>
          <a:noFill/>
          <a:ln w="28575">
            <a:solidFill>
              <a:schemeClr val="tx2">
                <a:lumMod val="75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en-US" altLang="ko-KR" sz="14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400" dirty="0">
                <a:solidFill>
                  <a:sysClr val="windowText" lastClr="000000"/>
                </a:solidFill>
              </a:rPr>
              <a:t>import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pandas a pd </a:t>
            </a:r>
          </a:p>
          <a:p>
            <a:pPr marL="0" algn="l"/>
            <a:r>
              <a:rPr lang="en-US" altLang="ko-KR" sz="1400" dirty="0">
                <a:solidFill>
                  <a:sysClr val="windowText" lastClr="000000"/>
                </a:solidFill>
              </a:rPr>
              <a:t>data = </a:t>
            </a:r>
            <a:r>
              <a:rPr lang="en-US" altLang="ko-KR" sz="1400" dirty="0" err="1">
                <a:solidFill>
                  <a:sysClr val="windowText" lastClr="000000"/>
                </a:solidFill>
              </a:rPr>
              <a:t>pd.read_csv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(“./data/score.csv”)</a:t>
            </a:r>
          </a:p>
          <a:p>
            <a:pPr marL="0" algn="l"/>
            <a:endParaRPr lang="en-US" altLang="ko-KR" sz="1400" dirty="0">
              <a:solidFill>
                <a:sysClr val="windowText" lastClr="000000"/>
              </a:solidFill>
            </a:endParaRPr>
          </a:p>
          <a:p>
            <a:pPr marL="0" algn="l"/>
            <a:r>
              <a:rPr lang="ko-KR" altLang="en-US" sz="1400" dirty="0">
                <a:solidFill>
                  <a:sysClr val="windowText" lastClr="000000"/>
                </a:solidFill>
              </a:rPr>
              <a:t>자주 사용하는 옵션 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400" dirty="0">
                <a:solidFill>
                  <a:sysClr val="windowText" lastClr="000000"/>
                </a:solidFill>
              </a:rPr>
              <a:t> header  -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제목줄이 없으면 </a:t>
            </a:r>
            <a:r>
              <a:rPr lang="en-US" altLang="ko-KR" sz="1400" dirty="0">
                <a:solidFill>
                  <a:sysClr val="windowText" lastClr="000000"/>
                </a:solidFill>
              </a:rPr>
              <a:t>None, 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제목줄이 </a:t>
            </a:r>
            <a:r>
              <a:rPr lang="ko-KR" altLang="en-US" sz="1400" dirty="0" err="1">
                <a:solidFill>
                  <a:sysClr val="windowText" lastClr="000000"/>
                </a:solidFill>
              </a:rPr>
              <a:t>첫줄에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없고 </a:t>
            </a:r>
            <a:r>
              <a:rPr lang="ko-KR" altLang="en-US" sz="1400" dirty="0" err="1">
                <a:solidFill>
                  <a:sysClr val="windowText" lastClr="000000"/>
                </a:solidFill>
              </a:rPr>
              <a:t>다른줄에</a:t>
            </a:r>
            <a:r>
              <a:rPr lang="ko-KR" altLang="en-US" sz="1400" dirty="0">
                <a:solidFill>
                  <a:sysClr val="windowText" lastClr="000000"/>
                </a:solidFill>
              </a:rPr>
              <a:t> 있을 경우 그 줄을 명시한다 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marL="0" algn="l"/>
            <a:endParaRPr lang="ko-KR" altLang="en-US" sz="14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15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125609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경로표현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208912" cy="323164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0" algn="l"/>
            <a:r>
              <a:rPr lang="ko-KR" altLang="en-US" sz="1200" dirty="0">
                <a:solidFill>
                  <a:sysClr val="windowText" lastClr="000000"/>
                </a:solidFill>
              </a:rPr>
              <a:t>파일의 경로는 절대경로와 상대경로 모두 가능합니다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경로를 기술할 경우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주위할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점은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절대경로를 처리 경우에는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c:\pandas_workspace\data\score.csv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처럼 모든 경로를 다 써줘야 하는데 문제는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파이썬에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는 다른 문자와 결합하여 제어문자로 사용된다는데 있습니다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이럴경우에는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경로를 제대로 인식하지 못해 문제가 될 수 도 있습니다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파이썬에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이를 해결하는 방법은 두가지가 있습니다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228600" indent="-228600" algn="l">
              <a:buAutoNum type="arabicParenR"/>
            </a:pPr>
            <a:r>
              <a:rPr lang="en-US" altLang="ko-KR" sz="1200" dirty="0">
                <a:solidFill>
                  <a:sysClr val="windowText" lastClr="000000"/>
                </a:solidFill>
              </a:rPr>
              <a:t>\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를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하나 더 붙여서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\\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로 해야 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</a:p>
          <a:p>
            <a:pPr algn="l"/>
            <a:r>
              <a:rPr lang="en-US" altLang="ko-KR" sz="1200" dirty="0">
                <a:solidFill>
                  <a:sysClr val="windowText" lastClr="000000"/>
                </a:solidFill>
              </a:rPr>
              <a:t>c:\\pandas_workspace\\data\\score.csv</a:t>
            </a:r>
          </a:p>
          <a:p>
            <a:pPr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l"/>
            <a:r>
              <a:rPr lang="en-US" altLang="ko-KR" sz="1200" dirty="0">
                <a:solidFill>
                  <a:sysClr val="windowText" lastClr="000000"/>
                </a:solidFill>
              </a:rPr>
              <a:t>2)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경로앞에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r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을 쓰면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문자가 가지고 있는 기능이 무력화 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 </a:t>
            </a:r>
          </a:p>
          <a:p>
            <a:pPr algn="l"/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 err="1">
                <a:solidFill>
                  <a:sysClr val="windowText" lastClr="000000"/>
                </a:solidFill>
              </a:rPr>
              <a:t>r”c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:\</a:t>
            </a:r>
            <a:r>
              <a:rPr lang="en-US" altLang="ko-KR" sz="1200" dirty="0" err="1">
                <a:solidFill>
                  <a:sysClr val="windowText" lastClr="000000"/>
                </a:solidFill>
              </a:rPr>
              <a:t>pandas_workspace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\data\score.csv”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3)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마지막은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\(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역슬래쉬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대신에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/(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슬래쉬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를 사용하면 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</a:t>
            </a:r>
          </a:p>
          <a:p>
            <a:pPr marL="0" algn="l"/>
            <a:r>
              <a:rPr lang="ko-KR" altLang="en-US" sz="1200" dirty="0">
                <a:solidFill>
                  <a:sysClr val="windowText" lastClr="000000"/>
                </a:solidFill>
              </a:rPr>
              <a:t>윈도우</a:t>
            </a:r>
            <a:r>
              <a:rPr lang="en-US" altLang="ko-KR" sz="1200" dirty="0" err="1">
                <a:solidFill>
                  <a:sysClr val="windowText" lastClr="000000"/>
                </a:solidFill>
              </a:rPr>
              <a:t>os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 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는 경로를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나타낼때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\(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역슬래쉬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를 사용하고 리눅스 </a:t>
            </a:r>
            <a:r>
              <a:rPr lang="en-US" altLang="ko-KR" sz="1200" dirty="0" err="1">
                <a:solidFill>
                  <a:sysClr val="windowText" lastClr="000000"/>
                </a:solidFill>
              </a:rPr>
              <a:t>os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는 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/(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슬래쉬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를 사용했는데 요즘은 윈도우 </a:t>
            </a:r>
            <a:r>
              <a:rPr lang="en-US" altLang="ko-KR" sz="1200" dirty="0" err="1">
                <a:solidFill>
                  <a:sysClr val="windowText" lastClr="000000"/>
                </a:solidFill>
              </a:rPr>
              <a:t>os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가 </a:t>
            </a:r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/(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슬래쉬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)</a:t>
            </a:r>
            <a:r>
              <a:rPr lang="ko-KR" altLang="en-US" sz="1200" dirty="0">
                <a:solidFill>
                  <a:sysClr val="windowText" lastClr="000000"/>
                </a:solidFill>
              </a:rPr>
              <a:t>도 지원합니다</a:t>
            </a:r>
            <a:r>
              <a:rPr lang="en-US" altLang="ko-KR" sz="1200" dirty="0">
                <a:solidFill>
                  <a:sysClr val="windowText" lastClr="000000"/>
                </a:solidFill>
              </a:rPr>
              <a:t>.</a:t>
            </a: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marL="0" algn="l"/>
            <a:endParaRPr lang="en-US" altLang="ko-KR" sz="1200" dirty="0">
              <a:solidFill>
                <a:sysClr val="windowText" lastClr="000000"/>
              </a:solidFill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13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016879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상대경로와 절대경로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10853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sz="1400" dirty="0"/>
              <a:t>1. </a:t>
            </a:r>
            <a:r>
              <a:rPr lang="ko-KR" altLang="en-US" sz="1400" dirty="0"/>
              <a:t>상대경로 </a:t>
            </a:r>
            <a:endParaRPr lang="en-US" altLang="ko-KR" sz="1400" dirty="0"/>
          </a:p>
          <a:p>
            <a:pPr algn="l"/>
            <a:r>
              <a:rPr lang="en-US" altLang="ko-KR" sz="1400" dirty="0"/>
              <a:t>- </a:t>
            </a:r>
            <a:r>
              <a:rPr lang="ko-KR" altLang="en-US" sz="1400" dirty="0"/>
              <a:t>상대경로는 현재 어플리케이션이  가동중인 폴더를 기준으로 경로를 배정합니다</a:t>
            </a:r>
            <a:r>
              <a:rPr lang="en-US" altLang="ko-KR" sz="1400" dirty="0"/>
              <a:t>. </a:t>
            </a: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. 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도트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어플리케이션이 가동중인 폴더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..(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도트 두개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자신보다 하나 위의 폴더를 나타냅니다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 파이썬 파일이 있는 폴더가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uni_10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인데 이 폴더 안에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폴더가 있을 경우에는 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./data/score.csv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형태로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기술하는것을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상대경로라 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절대경로는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/(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루트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부터 모든 경로를 </a:t>
            </a:r>
            <a:r>
              <a:rPr lang="ko-KR" altLang="en-US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기술하는것을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말합니다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c:/pandas_workspace/uni_10/data/score.csv    c: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는 생략해도 됩니다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/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절대경로 보다는 상대경로를 사용하는 것이 더 좋습니다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절대 경로를 사용할 경우 폴더 이동시 모든 경로를 다시 작성해야 하는데 반해서 상대경로는 폴더를 이동해도 굳이 경로를 수정할 필요가 없습니다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38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244231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◈데이터 파일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794AB90-DD0C-453A-91CA-5C333228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506136"/>
            <a:ext cx="3067050" cy="154305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BF98CA6-E287-424A-886A-43C38FC2D324}"/>
              </a:ext>
            </a:extLst>
          </p:cNvPr>
          <p:cNvSpPr/>
          <p:nvPr/>
        </p:nvSpPr>
        <p:spPr bwMode="auto">
          <a:xfrm>
            <a:off x="765988" y="959385"/>
            <a:ext cx="3267427" cy="307766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/data/score.csv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84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644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읽기 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498054" cy="415497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파일명 </a:t>
            </a:r>
            <a:r>
              <a:rPr lang="en-US" altLang="ko-KR" sz="1200" b="1" dirty="0"/>
              <a:t>: exam10_1.py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import pandas as pd 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data = </a:t>
            </a:r>
            <a:r>
              <a:rPr lang="en-US" altLang="ko-KR" sz="1200" b="1" dirty="0" err="1"/>
              <a:t>pd.read_csv</a:t>
            </a:r>
            <a:r>
              <a:rPr lang="en-US" altLang="ko-KR" sz="1200" b="1" dirty="0"/>
              <a:t>("./data/score.csv") </a:t>
            </a:r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상대 경로로 파일을 읽었음 현재 폴더 아래에 </a:t>
            </a:r>
            <a:r>
              <a:rPr lang="en-US" altLang="ko-KR" sz="1200" b="1" dirty="0"/>
              <a:t>data </a:t>
            </a:r>
            <a:r>
              <a:rPr lang="ko-KR" altLang="en-US" sz="1200" b="1" dirty="0"/>
              <a:t>폴더가 있어야 하고 </a:t>
            </a:r>
            <a:endParaRPr lang="en-US" altLang="ko-KR" sz="1200" b="1" dirty="0"/>
          </a:p>
          <a:p>
            <a:pPr algn="l"/>
            <a:r>
              <a:rPr lang="en-US" altLang="ko-KR" sz="1200" b="1" dirty="0"/>
              <a:t>#</a:t>
            </a:r>
            <a:r>
              <a:rPr lang="ko-KR" altLang="en-US" sz="1200" b="1" dirty="0"/>
              <a:t>그 폴더 아래에 </a:t>
            </a:r>
            <a:r>
              <a:rPr lang="en-US" altLang="ko-KR" sz="1200" b="1" dirty="0"/>
              <a:t>score.csv</a:t>
            </a:r>
            <a:r>
              <a:rPr lang="ko-KR" altLang="en-US" sz="1200" b="1" dirty="0"/>
              <a:t>파일이 있어야 한다 </a:t>
            </a:r>
            <a:endParaRPr lang="en-US" altLang="ko-KR" sz="1200" b="1" dirty="0"/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</a:t>
            </a:r>
            <a:r>
              <a:rPr lang="ko-KR" altLang="en-US" sz="1200" b="1" dirty="0"/>
              <a:t>＂</a:t>
            </a:r>
            <a:r>
              <a:rPr lang="ko-KR" altLang="en-US" sz="1200" b="1" dirty="0" err="1"/>
              <a:t>컬럼명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＂</a:t>
            </a:r>
            <a:r>
              <a:rPr lang="en-US" altLang="ko-KR" sz="1200" b="1" dirty="0"/>
              <a:t>, </a:t>
            </a:r>
            <a:r>
              <a:rPr lang="en-US" altLang="ko-KR" sz="1200" b="1" dirty="0" err="1"/>
              <a:t>data.columns</a:t>
            </a:r>
            <a:r>
              <a:rPr lang="en-US" altLang="ko-KR" sz="1200" b="1" dirty="0"/>
              <a:t>)</a:t>
            </a:r>
          </a:p>
          <a:p>
            <a:pPr algn="l"/>
            <a:r>
              <a:rPr lang="en-US" altLang="ko-KR" sz="1200" b="1" dirty="0"/>
              <a:t>print(</a:t>
            </a:r>
            <a:r>
              <a:rPr lang="ko-KR" altLang="en-US" sz="1200" b="1" dirty="0"/>
              <a:t>＂인덱스 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＂</a:t>
            </a:r>
            <a:r>
              <a:rPr lang="en-US" altLang="ko-KR" sz="1200" b="1" dirty="0"/>
              <a:t>, </a:t>
            </a:r>
            <a:r>
              <a:rPr lang="en-US" altLang="ko-KR" sz="1200" b="1" dirty="0" err="1"/>
              <a:t>data.index</a:t>
            </a:r>
            <a:r>
              <a:rPr lang="en-US" altLang="ko-KR" sz="1200" b="1" dirty="0"/>
              <a:t>)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#</a:t>
            </a:r>
            <a:r>
              <a:rPr lang="ko-KR" altLang="en-US" sz="1200" b="1" dirty="0"/>
              <a:t>총점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평균 구하기 </a:t>
            </a:r>
            <a:r>
              <a:rPr lang="en-US" altLang="ko-KR" sz="1200" b="1" dirty="0"/>
              <a:t>– </a:t>
            </a:r>
            <a:r>
              <a:rPr lang="ko-KR" altLang="en-US" sz="1200" b="1" dirty="0"/>
              <a:t>새로운 필드 추가하기 </a:t>
            </a:r>
          </a:p>
          <a:p>
            <a:pPr algn="l"/>
            <a:r>
              <a:rPr lang="en-US" altLang="ko-KR" sz="1200" b="1" dirty="0"/>
              <a:t>data[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total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 = data[</a:t>
            </a:r>
            <a:r>
              <a:rPr lang="ko-KR" altLang="en-US" sz="1200" b="1" dirty="0"/>
              <a:t>＇</a:t>
            </a:r>
            <a:r>
              <a:rPr lang="en-US" altLang="ko-KR" sz="1200" b="1" dirty="0" err="1"/>
              <a:t>kor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 + data[</a:t>
            </a:r>
            <a:r>
              <a:rPr lang="ko-KR" altLang="en-US" sz="1200" b="1" dirty="0"/>
              <a:t>＇</a:t>
            </a:r>
            <a:r>
              <a:rPr lang="en-US" altLang="ko-KR" sz="1200" b="1" dirty="0" err="1"/>
              <a:t>eng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]+data[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mat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</a:t>
            </a:r>
          </a:p>
          <a:p>
            <a:pPr algn="l"/>
            <a:r>
              <a:rPr lang="en-US" altLang="ko-KR" sz="1200" b="1" dirty="0"/>
              <a:t>data[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avg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 = data[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total</a:t>
            </a:r>
            <a:r>
              <a:rPr lang="ko-KR" altLang="en-US" sz="1200" b="1" dirty="0"/>
              <a:t>＇</a:t>
            </a:r>
            <a:r>
              <a:rPr lang="en-US" altLang="ko-KR" sz="1200" b="1" dirty="0"/>
              <a:t>]/3</a:t>
            </a:r>
          </a:p>
          <a:p>
            <a:pPr algn="l"/>
            <a:br>
              <a:rPr lang="en-US" altLang="ko-KR" sz="1200" b="1" dirty="0"/>
            </a:br>
            <a:r>
              <a:rPr lang="en-US" altLang="ko-KR" sz="1200" b="1" dirty="0"/>
              <a:t>print( data )</a:t>
            </a: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4F825E-5918-47AC-BC9D-A6C5B4B86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89" y="2427734"/>
            <a:ext cx="3528392" cy="11521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4306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864867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◈데이터 파일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2-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제목줄이 없을 경우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F98CA6-E287-424A-886A-43C38FC2D324}"/>
              </a:ext>
            </a:extLst>
          </p:cNvPr>
          <p:cNvSpPr/>
          <p:nvPr/>
        </p:nvSpPr>
        <p:spPr bwMode="auto">
          <a:xfrm>
            <a:off x="765988" y="959385"/>
            <a:ext cx="3267427" cy="307766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/data/score_noheader.csv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174126-B17F-4140-8CE2-087E7FDE4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635646"/>
            <a:ext cx="3095625" cy="1343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81D79D-D8F9-4D0B-BA3D-508C1456679B}"/>
              </a:ext>
            </a:extLst>
          </p:cNvPr>
          <p:cNvSpPr txBox="1"/>
          <p:nvPr/>
        </p:nvSpPr>
        <p:spPr bwMode="auto">
          <a:xfrm>
            <a:off x="4644008" y="843558"/>
            <a:ext cx="3384376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b="1" dirty="0">
                <a:latin typeface="+mn-ea"/>
                <a:ea typeface="+mn-ea"/>
              </a:rPr>
              <a:t>제목줄이 </a:t>
            </a:r>
            <a:r>
              <a:rPr lang="ko-KR" altLang="en-US" sz="1200" b="1" dirty="0" err="1">
                <a:latin typeface="+mn-ea"/>
                <a:ea typeface="+mn-ea"/>
              </a:rPr>
              <a:t>없을경우에는</a:t>
            </a:r>
            <a:r>
              <a:rPr lang="ko-KR" altLang="en-US" sz="1200" b="1" dirty="0">
                <a:latin typeface="+mn-ea"/>
                <a:ea typeface="+mn-ea"/>
              </a:rPr>
              <a:t> 파일을 </a:t>
            </a:r>
            <a:r>
              <a:rPr lang="ko-KR" altLang="en-US" sz="1200" b="1" dirty="0" err="1">
                <a:latin typeface="+mn-ea"/>
                <a:ea typeface="+mn-ea"/>
              </a:rPr>
              <a:t>읽을때</a:t>
            </a:r>
            <a:r>
              <a:rPr lang="ko-KR" altLang="en-US" sz="1200" b="1" dirty="0">
                <a:latin typeface="+mn-ea"/>
                <a:ea typeface="+mn-ea"/>
              </a:rPr>
              <a:t> </a:t>
            </a:r>
            <a:r>
              <a:rPr lang="en-US" altLang="ko-KR" sz="1200" b="1" dirty="0">
                <a:latin typeface="+mn-ea"/>
                <a:ea typeface="+mn-ea"/>
              </a:rPr>
              <a:t>header=None</a:t>
            </a:r>
            <a:r>
              <a:rPr lang="ko-KR" altLang="en-US" sz="1200" b="1" dirty="0">
                <a:latin typeface="+mn-ea"/>
                <a:ea typeface="+mn-ea"/>
              </a:rPr>
              <a:t>을 주고 별도로 컬럼명을 부여하면 됩니다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74262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644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읽기 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498054" cy="480130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 </a:t>
            </a:r>
            <a:r>
              <a:rPr lang="en-US" altLang="ko-KR" b="1" dirty="0"/>
              <a:t>: exam10_2.py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import pandas as pd 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제목줄이 없을 경우에 </a:t>
            </a:r>
            <a:r>
              <a:rPr lang="en-US" altLang="ko-KR" b="1" dirty="0" err="1"/>
              <a:t>heade</a:t>
            </a:r>
            <a:r>
              <a:rPr lang="ko-KR" altLang="en-US" b="1" dirty="0"/>
              <a:t>옵션을 </a:t>
            </a:r>
            <a:r>
              <a:rPr lang="en-US" altLang="ko-KR" b="1" dirty="0"/>
              <a:t>None </a:t>
            </a:r>
            <a:r>
              <a:rPr lang="ko-KR" altLang="en-US" b="1" dirty="0"/>
              <a:t>으로 주면 된다</a:t>
            </a:r>
            <a:r>
              <a:rPr lang="en-US" altLang="ko-KR" b="1" dirty="0"/>
              <a:t>. </a:t>
            </a:r>
            <a:br>
              <a:rPr lang="en-US" altLang="ko-KR" b="1" dirty="0"/>
            </a:br>
            <a:r>
              <a:rPr lang="en-US" altLang="ko-KR" b="1" dirty="0"/>
              <a:t>data = 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</a:t>
            </a:r>
            <a:r>
              <a:rPr lang="ko-KR" altLang="en-US" b="1" dirty="0"/>
              <a:t>＂</a:t>
            </a:r>
            <a:r>
              <a:rPr lang="en-US" altLang="ko-KR" b="1" dirty="0"/>
              <a:t>./data/score_noheader.csv</a:t>
            </a:r>
            <a:r>
              <a:rPr lang="ko-KR" altLang="en-US" b="1" dirty="0"/>
              <a:t>＂</a:t>
            </a:r>
            <a:r>
              <a:rPr lang="en-US" altLang="ko-KR" b="1" dirty="0"/>
              <a:t>, header=None)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</a:t>
            </a:r>
            <a:r>
              <a:rPr lang="ko-KR" altLang="en-US" b="1" dirty="0"/>
              <a:t>＂</a:t>
            </a:r>
            <a:r>
              <a:rPr lang="ko-KR" altLang="en-US" b="1" dirty="0" err="1"/>
              <a:t>컬럼명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＂</a:t>
            </a:r>
            <a:r>
              <a:rPr lang="en-US" altLang="ko-KR" b="1" dirty="0"/>
              <a:t>, </a:t>
            </a:r>
            <a:r>
              <a:rPr lang="en-US" altLang="ko-KR" b="1" dirty="0" err="1"/>
              <a:t>data.columns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</a:t>
            </a:r>
            <a:r>
              <a:rPr lang="ko-KR" altLang="en-US" b="1" dirty="0"/>
              <a:t>＂인덱스 </a:t>
            </a:r>
            <a:r>
              <a:rPr lang="en-US" altLang="ko-KR" b="1" dirty="0"/>
              <a:t>: </a:t>
            </a:r>
            <a:r>
              <a:rPr lang="ko-KR" altLang="en-US" b="1" dirty="0"/>
              <a:t>＂</a:t>
            </a:r>
            <a:r>
              <a:rPr lang="en-US" altLang="ko-KR" b="1" dirty="0"/>
              <a:t>, </a:t>
            </a:r>
            <a:r>
              <a:rPr lang="en-US" altLang="ko-KR" b="1" dirty="0" err="1"/>
              <a:t>data.index</a:t>
            </a:r>
            <a:r>
              <a:rPr lang="en-US" altLang="ko-KR" b="1" dirty="0"/>
              <a:t>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직접 컬럼을 부여한다 </a:t>
            </a:r>
            <a:br>
              <a:rPr lang="en-US" altLang="ko-KR" b="1" dirty="0"/>
            </a:br>
            <a:r>
              <a:rPr lang="en-US" altLang="ko-KR" b="1" dirty="0"/>
              <a:t>print(</a:t>
            </a:r>
            <a:r>
              <a:rPr lang="ko-KR" altLang="en-US" b="1" dirty="0"/>
              <a:t>＂컬럼부여후 </a:t>
            </a:r>
            <a:r>
              <a:rPr lang="en-US" altLang="ko-KR" b="1" dirty="0"/>
              <a:t>----------</a:t>
            </a:r>
            <a:r>
              <a:rPr lang="ko-KR" altLang="en-US" b="1" dirty="0"/>
              <a:t>＂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 err="1"/>
              <a:t>data.columns</a:t>
            </a:r>
            <a:r>
              <a:rPr lang="en-US" altLang="ko-KR" b="1" dirty="0"/>
              <a:t> = [</a:t>
            </a:r>
            <a:r>
              <a:rPr lang="ko-KR" altLang="en-US" b="1" dirty="0"/>
              <a:t>＇</a:t>
            </a:r>
            <a:r>
              <a:rPr lang="en-US" altLang="ko-KR" b="1" dirty="0"/>
              <a:t>name</a:t>
            </a:r>
            <a:r>
              <a:rPr lang="ko-KR" altLang="en-US" b="1" dirty="0"/>
              <a:t>＇</a:t>
            </a:r>
            <a:r>
              <a:rPr lang="en-US" altLang="ko-KR" b="1" dirty="0"/>
              <a:t>, </a:t>
            </a:r>
            <a:r>
              <a:rPr lang="ko-KR" altLang="en-US" b="1" dirty="0"/>
              <a:t>＇</a:t>
            </a:r>
            <a:r>
              <a:rPr lang="en-US" altLang="ko-KR" b="1" dirty="0" err="1"/>
              <a:t>kor</a:t>
            </a:r>
            <a:r>
              <a:rPr lang="ko-KR" altLang="en-US" b="1" dirty="0"/>
              <a:t>＇</a:t>
            </a:r>
            <a:r>
              <a:rPr lang="en-US" altLang="ko-KR" b="1" dirty="0"/>
              <a:t>, </a:t>
            </a:r>
            <a:r>
              <a:rPr lang="ko-KR" altLang="en-US" b="1" dirty="0"/>
              <a:t>＇</a:t>
            </a:r>
            <a:r>
              <a:rPr lang="en-US" altLang="ko-KR" b="1" dirty="0" err="1"/>
              <a:t>eng</a:t>
            </a:r>
            <a:r>
              <a:rPr lang="ko-KR" altLang="en-US" b="1" dirty="0"/>
              <a:t>＇</a:t>
            </a:r>
            <a:r>
              <a:rPr lang="en-US" altLang="ko-KR" b="1" dirty="0"/>
              <a:t>, </a:t>
            </a:r>
            <a:r>
              <a:rPr lang="ko-KR" altLang="en-US" b="1" dirty="0"/>
              <a:t>＇</a:t>
            </a:r>
            <a:r>
              <a:rPr lang="en-US" altLang="ko-KR" b="1" dirty="0"/>
              <a:t>mat</a:t>
            </a:r>
            <a:r>
              <a:rPr lang="ko-KR" altLang="en-US" b="1" dirty="0"/>
              <a:t>＇</a:t>
            </a:r>
            <a:r>
              <a:rPr lang="en-US" altLang="ko-KR" b="1" dirty="0"/>
              <a:t>]</a:t>
            </a:r>
          </a:p>
          <a:p>
            <a:pPr algn="l"/>
            <a:r>
              <a:rPr lang="en-US" altLang="ko-KR" b="1" dirty="0"/>
              <a:t>print(</a:t>
            </a:r>
            <a:r>
              <a:rPr lang="ko-KR" altLang="en-US" b="1" dirty="0"/>
              <a:t>＂</a:t>
            </a:r>
            <a:r>
              <a:rPr lang="ko-KR" altLang="en-US" b="1" dirty="0" err="1"/>
              <a:t>컬럼명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＂</a:t>
            </a:r>
            <a:r>
              <a:rPr lang="en-US" altLang="ko-KR" b="1" dirty="0"/>
              <a:t>, </a:t>
            </a:r>
            <a:r>
              <a:rPr lang="en-US" altLang="ko-KR" b="1" dirty="0" err="1"/>
              <a:t>data.columns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print(data)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총점</a:t>
            </a:r>
            <a:r>
              <a:rPr lang="en-US" altLang="ko-KR" b="1" dirty="0"/>
              <a:t>, </a:t>
            </a:r>
            <a:r>
              <a:rPr lang="ko-KR" altLang="en-US" b="1" dirty="0"/>
              <a:t>평균 구하기 </a:t>
            </a:r>
            <a:endParaRPr lang="en-US" altLang="ko-KR" b="1" dirty="0"/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필드추가후</a:t>
            </a:r>
            <a:r>
              <a:rPr lang="en-US" altLang="ko-KR" b="1" dirty="0"/>
              <a:t>")</a:t>
            </a:r>
            <a:endParaRPr lang="ko-KR" altLang="en-US" b="1" dirty="0"/>
          </a:p>
          <a:p>
            <a:pPr algn="l"/>
            <a:r>
              <a:rPr lang="en-US" altLang="ko-KR" b="1" dirty="0"/>
              <a:t>data['total'] = data['</a:t>
            </a:r>
            <a:r>
              <a:rPr lang="en-US" altLang="ko-KR" b="1" dirty="0" err="1"/>
              <a:t>kor</a:t>
            </a:r>
            <a:r>
              <a:rPr lang="en-US" altLang="ko-KR" b="1" dirty="0"/>
              <a:t>'] + data['</a:t>
            </a:r>
            <a:r>
              <a:rPr lang="en-US" altLang="ko-KR" b="1" dirty="0" err="1"/>
              <a:t>eng</a:t>
            </a:r>
            <a:r>
              <a:rPr lang="en-US" altLang="ko-KR" b="1" dirty="0"/>
              <a:t>']+data['mat']</a:t>
            </a:r>
          </a:p>
          <a:p>
            <a:pPr algn="l"/>
            <a:r>
              <a:rPr lang="en-US" altLang="ko-KR" b="1" dirty="0"/>
              <a:t>data['avg'] = data['total']/3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 data 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12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AA8F35B5-87CD-4617-B6C2-036B32E39524}"/>
              </a:ext>
            </a:extLst>
          </p:cNvPr>
          <p:cNvGrpSpPr/>
          <p:nvPr/>
        </p:nvGrpSpPr>
        <p:grpSpPr>
          <a:xfrm>
            <a:off x="4788024" y="1275606"/>
            <a:ext cx="3600400" cy="2160240"/>
            <a:chOff x="4427984" y="1203598"/>
            <a:chExt cx="3600400" cy="216024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9D782439-FF47-4DFC-9DC0-74F8D4357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0" y="1322641"/>
              <a:ext cx="3312368" cy="1938809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B1F43D4-5791-4A64-90AC-CC09720E8A0E}"/>
                </a:ext>
              </a:extLst>
            </p:cNvPr>
            <p:cNvSpPr/>
            <p:nvPr/>
          </p:nvSpPr>
          <p:spPr bwMode="auto">
            <a:xfrm>
              <a:off x="4427984" y="1203598"/>
              <a:ext cx="3600400" cy="216024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headEnd type="none" w="med" len="med"/>
              <a:tailEnd type="triangle" w="med" len="med"/>
            </a:ln>
            <a:effectLst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algn="l"/>
              <a:endParaRPr lang="ko-KR" altLang="en-US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2317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450954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◈데이터 파일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3-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첫번째 줄에 제목줄이 있지 않은 경우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BF98CA6-E287-424A-886A-43C38FC2D324}"/>
              </a:ext>
            </a:extLst>
          </p:cNvPr>
          <p:cNvSpPr/>
          <p:nvPr/>
        </p:nvSpPr>
        <p:spPr bwMode="auto">
          <a:xfrm>
            <a:off x="765988" y="959385"/>
            <a:ext cx="3267427" cy="307766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sz="1200" dirty="0">
                <a:solidFill>
                  <a:sysClr val="windowText" lastClr="000000"/>
                </a:solidFill>
              </a:rPr>
              <a:t>/data/score_header.csv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81D79D-D8F9-4D0B-BA3D-508C1456679B}"/>
              </a:ext>
            </a:extLst>
          </p:cNvPr>
          <p:cNvSpPr txBox="1"/>
          <p:nvPr/>
        </p:nvSpPr>
        <p:spPr bwMode="auto">
          <a:xfrm>
            <a:off x="4644008" y="843558"/>
            <a:ext cx="3384376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ko-KR" altLang="en-US" sz="1200" b="1" dirty="0">
                <a:latin typeface="+mn-ea"/>
                <a:ea typeface="+mn-ea"/>
              </a:rPr>
              <a:t>제목줄이 첫번째 줄에 없을 경우에는 실제로 제목줄이 있는 라인수를 지정하면 됩니다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</a:p>
          <a:p>
            <a:pPr algn="l"/>
            <a:r>
              <a:rPr lang="en-US" altLang="ko-KR" sz="1200" b="1" dirty="0">
                <a:latin typeface="+mn-ea"/>
                <a:ea typeface="+mn-ea"/>
              </a:rPr>
              <a:t>header= 3</a:t>
            </a:r>
          </a:p>
          <a:p>
            <a:pPr algn="l"/>
            <a:endParaRPr lang="en-US" altLang="ko-KR" sz="1200" b="1" dirty="0">
              <a:latin typeface="+mn-ea"/>
              <a:ea typeface="+mn-ea"/>
            </a:endParaRPr>
          </a:p>
          <a:p>
            <a:pPr algn="l"/>
            <a:r>
              <a:rPr lang="ko-KR" altLang="en-US" sz="1200" b="1" dirty="0">
                <a:latin typeface="+mn-ea"/>
                <a:ea typeface="+mn-ea"/>
              </a:rPr>
              <a:t>작업내용을 별도의 파일로 저장해보자 </a:t>
            </a:r>
            <a:endParaRPr lang="en-US" altLang="ko-KR" sz="1200" b="1" dirty="0">
              <a:latin typeface="+mn-ea"/>
              <a:ea typeface="+mn-ea"/>
            </a:endParaRPr>
          </a:p>
          <a:p>
            <a:pPr algn="l"/>
            <a:r>
              <a:rPr lang="ko-KR" altLang="en-US" sz="1200" b="1" dirty="0">
                <a:latin typeface="+mn-ea"/>
                <a:ea typeface="+mn-ea"/>
              </a:rPr>
              <a:t>저장은 </a:t>
            </a:r>
            <a:r>
              <a:rPr lang="en-US" altLang="ko-KR" sz="1200" b="1" dirty="0" err="1">
                <a:latin typeface="+mn-ea"/>
                <a:ea typeface="+mn-ea"/>
              </a:rPr>
              <a:t>dataframe</a:t>
            </a:r>
            <a:r>
              <a:rPr lang="ko-KR" altLang="en-US" sz="1200" b="1" dirty="0">
                <a:latin typeface="+mn-ea"/>
                <a:ea typeface="+mn-ea"/>
              </a:rPr>
              <a:t>에서 제공하는 </a:t>
            </a:r>
            <a:r>
              <a:rPr lang="en-US" altLang="ko-KR" sz="1200" b="1" dirty="0" err="1">
                <a:latin typeface="+mn-ea"/>
                <a:ea typeface="+mn-ea"/>
              </a:rPr>
              <a:t>to_csv</a:t>
            </a:r>
            <a:r>
              <a:rPr lang="ko-KR" altLang="en-US" sz="1200" b="1" dirty="0">
                <a:latin typeface="+mn-ea"/>
                <a:ea typeface="+mn-ea"/>
              </a:rPr>
              <a:t>함수를 사용한다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r>
              <a:rPr lang="ko-KR" altLang="en-US" sz="1200" b="1" dirty="0" err="1">
                <a:latin typeface="+mn-ea"/>
                <a:ea typeface="+mn-ea"/>
              </a:rPr>
              <a:t>저장시</a:t>
            </a:r>
            <a:r>
              <a:rPr lang="ko-KR" altLang="en-US" sz="1200" b="1" dirty="0">
                <a:latin typeface="+mn-ea"/>
                <a:ea typeface="+mn-ea"/>
              </a:rPr>
              <a:t> 만일 </a:t>
            </a:r>
            <a:r>
              <a:rPr lang="en-US" altLang="ko-KR" sz="1200" b="1" dirty="0">
                <a:latin typeface="+mn-ea"/>
                <a:ea typeface="+mn-ea"/>
              </a:rPr>
              <a:t>csv</a:t>
            </a:r>
            <a:r>
              <a:rPr lang="ko-KR" altLang="en-US" sz="1200" b="1" dirty="0">
                <a:latin typeface="+mn-ea"/>
                <a:ea typeface="+mn-ea"/>
              </a:rPr>
              <a:t>파일을 엑셀에서 보고싶다면 엑셀은 문자셋을 </a:t>
            </a:r>
            <a:r>
              <a:rPr lang="en-US" altLang="ko-KR" sz="1200" b="1" dirty="0">
                <a:latin typeface="+mn-ea"/>
                <a:ea typeface="+mn-ea"/>
              </a:rPr>
              <a:t>cp949</a:t>
            </a:r>
            <a:r>
              <a:rPr lang="ko-KR" altLang="en-US" sz="1200" b="1" dirty="0">
                <a:latin typeface="+mn-ea"/>
                <a:ea typeface="+mn-ea"/>
              </a:rPr>
              <a:t>를 사용하므로 별도의 </a:t>
            </a:r>
            <a:r>
              <a:rPr lang="en-US" altLang="ko-KR" sz="1200" b="1" dirty="0">
                <a:latin typeface="+mn-ea"/>
                <a:ea typeface="+mn-ea"/>
              </a:rPr>
              <a:t>encoding</a:t>
            </a:r>
            <a:r>
              <a:rPr lang="ko-KR" altLang="en-US" sz="1200" b="1" dirty="0">
                <a:latin typeface="+mn-ea"/>
                <a:ea typeface="+mn-ea"/>
              </a:rPr>
              <a:t>작업을 해줘야 한다 </a:t>
            </a:r>
            <a:endParaRPr lang="en-US" altLang="ko-KR" sz="1200" b="1" dirty="0">
              <a:latin typeface="+mn-ea"/>
              <a:ea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E3D93EB-74DD-4C85-AFD1-75BB8B6D2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21" y="1526013"/>
            <a:ext cx="30861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1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314763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읽기 예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8498054" cy="424730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 </a:t>
            </a:r>
            <a:r>
              <a:rPr lang="en-US" altLang="ko-KR" b="1" dirty="0"/>
              <a:t>: exam10_3.py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#header</a:t>
            </a:r>
            <a:r>
              <a:rPr lang="ko-KR" altLang="en-US" b="1" dirty="0"/>
              <a:t>가 </a:t>
            </a:r>
            <a:r>
              <a:rPr lang="en-US" altLang="ko-KR" b="1" dirty="0"/>
              <a:t>3</a:t>
            </a:r>
            <a:r>
              <a:rPr lang="ko-KR" altLang="en-US" b="1" dirty="0"/>
              <a:t>번째 줄에 있음 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("./data/score_header.csv", header=3)</a:t>
            </a:r>
          </a:p>
          <a:p>
            <a:pPr algn="l"/>
            <a:r>
              <a:rPr lang="en-US" altLang="ko-KR" b="1" dirty="0"/>
              <a:t>print(data)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 err="1"/>
              <a:t>컬럼명</a:t>
            </a:r>
            <a:r>
              <a:rPr lang="ko-KR" altLang="en-US" b="1" dirty="0"/>
              <a:t> </a:t>
            </a:r>
            <a:r>
              <a:rPr lang="en-US" altLang="ko-KR" b="1" dirty="0"/>
              <a:t>: ", </a:t>
            </a:r>
            <a:r>
              <a:rPr lang="en-US" altLang="ko-KR" b="1" dirty="0" err="1"/>
              <a:t>data.columns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인덱스 </a:t>
            </a:r>
            <a:r>
              <a:rPr lang="en-US" altLang="ko-KR" b="1" dirty="0"/>
              <a:t>: ", </a:t>
            </a:r>
            <a:r>
              <a:rPr lang="en-US" altLang="ko-KR" b="1" dirty="0" err="1"/>
              <a:t>data.index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</a:t>
            </a:r>
            <a:r>
              <a:rPr lang="ko-KR" altLang="en-US" b="1" dirty="0"/>
              <a:t>총점</a:t>
            </a:r>
            <a:r>
              <a:rPr lang="en-US" altLang="ko-KR" b="1" dirty="0"/>
              <a:t>, </a:t>
            </a:r>
            <a:r>
              <a:rPr lang="ko-KR" altLang="en-US" b="1" dirty="0"/>
              <a:t>평균 구하기 </a:t>
            </a:r>
          </a:p>
          <a:p>
            <a:pPr algn="l"/>
            <a:r>
              <a:rPr lang="en-US" altLang="ko-KR" b="1" dirty="0"/>
              <a:t>data['total'] = data['</a:t>
            </a:r>
            <a:r>
              <a:rPr lang="en-US" altLang="ko-KR" b="1" dirty="0" err="1"/>
              <a:t>kor</a:t>
            </a:r>
            <a:r>
              <a:rPr lang="en-US" altLang="ko-KR" b="1" dirty="0"/>
              <a:t>'] + data['</a:t>
            </a:r>
            <a:r>
              <a:rPr lang="en-US" altLang="ko-KR" b="1" dirty="0" err="1"/>
              <a:t>eng</a:t>
            </a:r>
            <a:r>
              <a:rPr lang="en-US" altLang="ko-KR" b="1" dirty="0"/>
              <a:t>']+data['mat']</a:t>
            </a:r>
          </a:p>
          <a:p>
            <a:pPr algn="l"/>
            <a:r>
              <a:rPr lang="en-US" altLang="ko-KR" b="1" dirty="0"/>
              <a:t>data['avg'] = data['total']/3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 data )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#excel</a:t>
            </a:r>
            <a:r>
              <a:rPr lang="ko-KR" altLang="en-US" b="1" dirty="0"/>
              <a:t>이 인코딩을 </a:t>
            </a:r>
            <a:r>
              <a:rPr lang="en-US" altLang="ko-KR" b="1" dirty="0"/>
              <a:t>cp949</a:t>
            </a:r>
            <a:r>
              <a:rPr lang="ko-KR" altLang="en-US" b="1" dirty="0"/>
              <a:t>를 사용한다</a:t>
            </a:r>
            <a:r>
              <a:rPr lang="en-US" altLang="ko-KR" b="1" dirty="0"/>
              <a:t>. </a:t>
            </a:r>
            <a:r>
              <a:rPr lang="ko-KR" altLang="en-US" b="1" dirty="0"/>
              <a:t>한글 </a:t>
            </a:r>
            <a:r>
              <a:rPr lang="ko-KR" altLang="en-US" b="1" dirty="0" err="1"/>
              <a:t>안깨지고</a:t>
            </a:r>
            <a:r>
              <a:rPr lang="ko-KR" altLang="en-US" b="1" dirty="0"/>
              <a:t> 엑셀서 열어보려면 </a:t>
            </a:r>
            <a:r>
              <a:rPr lang="en-US" altLang="ko-KR" b="1" dirty="0"/>
              <a:t>cp949</a:t>
            </a:r>
            <a:r>
              <a:rPr lang="ko-KR" altLang="en-US" b="1" dirty="0"/>
              <a:t>로 인코딩을 해야 한다 </a:t>
            </a:r>
          </a:p>
          <a:p>
            <a:pPr algn="l"/>
            <a:r>
              <a:rPr lang="en-US" altLang="ko-KR" b="1" dirty="0">
                <a:solidFill>
                  <a:srgbClr val="FF0000"/>
                </a:solidFill>
              </a:rPr>
              <a:t>#index = False </a:t>
            </a:r>
            <a:r>
              <a:rPr lang="ko-KR" altLang="en-US" b="1" dirty="0">
                <a:solidFill>
                  <a:srgbClr val="FF0000"/>
                </a:solidFill>
              </a:rPr>
              <a:t>옵션이 없으면 </a:t>
            </a:r>
            <a:r>
              <a:rPr lang="en-US" altLang="ko-KR" b="1" dirty="0">
                <a:solidFill>
                  <a:srgbClr val="FF0000"/>
                </a:solidFill>
              </a:rPr>
              <a:t>index</a:t>
            </a:r>
            <a:r>
              <a:rPr lang="ko-KR" altLang="en-US" b="1" dirty="0">
                <a:solidFill>
                  <a:srgbClr val="FF0000"/>
                </a:solidFill>
              </a:rPr>
              <a:t>까지 저장되면서 필드가 늘어난다</a:t>
            </a:r>
            <a:r>
              <a:rPr lang="en-US" altLang="ko-KR" b="1" dirty="0"/>
              <a:t>. </a:t>
            </a:r>
            <a:endParaRPr lang="ko-KR" altLang="en-US" b="1" dirty="0"/>
          </a:p>
          <a:p>
            <a:pPr algn="l"/>
            <a:r>
              <a:rPr lang="en-US" altLang="ko-KR" b="1" dirty="0" err="1"/>
              <a:t>data.to_csv</a:t>
            </a:r>
            <a:r>
              <a:rPr lang="en-US" altLang="ko-KR" b="1" dirty="0"/>
              <a:t>("score_result.csv", mode='w', encoding="cp949", index=False)</a:t>
            </a:r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파일을 직접  </a:t>
            </a:r>
            <a:r>
              <a:rPr lang="en-US" altLang="ko-KR" b="1" dirty="0"/>
              <a:t>score_result.csv</a:t>
            </a:r>
            <a:r>
              <a:rPr lang="ko-KR" altLang="en-US" b="1" dirty="0"/>
              <a:t>파일을 열어보세요 현재 </a:t>
            </a:r>
            <a:r>
              <a:rPr lang="ko-KR" altLang="en-US" b="1" dirty="0" err="1"/>
              <a:t>작업폴더에</a:t>
            </a:r>
            <a:r>
              <a:rPr lang="ko-KR" altLang="en-US" b="1" dirty="0"/>
              <a:t> 있습니다 </a:t>
            </a: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9BFCED-7351-4910-A8DE-142E3AE8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248041"/>
            <a:ext cx="3665612" cy="130019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7E1BC34-FE05-4BDF-A726-B2FB218838E5}"/>
              </a:ext>
            </a:extLst>
          </p:cNvPr>
          <p:cNvSpPr/>
          <p:nvPr/>
        </p:nvSpPr>
        <p:spPr bwMode="auto">
          <a:xfrm>
            <a:off x="4716016" y="930141"/>
            <a:ext cx="2232248" cy="279800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ko-KR" altLang="en-US" dirty="0">
                <a:solidFill>
                  <a:sysClr val="windowText" lastClr="000000"/>
                </a:solidFill>
              </a:rPr>
              <a:t>파일명 </a:t>
            </a:r>
            <a:r>
              <a:rPr lang="en-US" altLang="ko-KR" dirty="0">
                <a:solidFill>
                  <a:sysClr val="windowText" lastClr="000000"/>
                </a:solidFill>
              </a:rPr>
              <a:t>: score_result.csv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360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511932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엑셀파일 읽기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73920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엑셀파일도 손쉽게 처리할 수 있다 별도의 </a:t>
            </a:r>
            <a:r>
              <a:rPr lang="en-US" altLang="ko-KR" b="1" dirty="0"/>
              <a:t>com </a:t>
            </a:r>
            <a:r>
              <a:rPr lang="ko-KR" altLang="en-US" b="1" dirty="0"/>
              <a:t>라이브러리나 다른 라이브러리를 설치할 필요가 없다 </a:t>
            </a:r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 </a:t>
            </a:r>
            <a:r>
              <a:rPr lang="en-US" altLang="ko-KR" b="1" dirty="0"/>
              <a:t>: exam10_4.py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import pandas as 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 = </a:t>
            </a:r>
            <a:r>
              <a:rPr lang="en-US" altLang="ko-KR" b="1" dirty="0" err="1"/>
              <a:t>pd.read_excel</a:t>
            </a:r>
            <a:r>
              <a:rPr lang="en-US" altLang="ko-KR" b="1" dirty="0"/>
              <a:t>(</a:t>
            </a:r>
            <a:r>
              <a:rPr lang="ko-KR" altLang="en-US" b="1" dirty="0"/>
              <a:t>＂</a:t>
            </a:r>
            <a:r>
              <a:rPr lang="en-US" altLang="ko-KR" b="1" dirty="0"/>
              <a:t>./data/score.xlsx</a:t>
            </a:r>
            <a:r>
              <a:rPr lang="ko-KR" altLang="en-US" b="1" dirty="0"/>
              <a:t>＂</a:t>
            </a:r>
            <a:r>
              <a:rPr lang="en-US" altLang="ko-KR" b="1" dirty="0"/>
              <a:t>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data[</a:t>
            </a:r>
            <a:r>
              <a:rPr lang="ko-KR" altLang="en-US" b="1" dirty="0"/>
              <a:t>＇</a:t>
            </a:r>
            <a:r>
              <a:rPr lang="en-US" altLang="ko-KR" b="1" dirty="0"/>
              <a:t>total</a:t>
            </a:r>
            <a:r>
              <a:rPr lang="ko-KR" altLang="en-US" b="1" dirty="0"/>
              <a:t>＇</a:t>
            </a:r>
            <a:r>
              <a:rPr lang="en-US" altLang="ko-KR" b="1" dirty="0"/>
              <a:t>] = data[</a:t>
            </a:r>
            <a:r>
              <a:rPr lang="ko-KR" altLang="en-US" b="1" dirty="0"/>
              <a:t>＇</a:t>
            </a:r>
            <a:r>
              <a:rPr lang="en-US" altLang="ko-KR" b="1" dirty="0" err="1"/>
              <a:t>kor</a:t>
            </a:r>
            <a:r>
              <a:rPr lang="ko-KR" altLang="en-US" b="1" dirty="0"/>
              <a:t>＇</a:t>
            </a:r>
            <a:r>
              <a:rPr lang="en-US" altLang="ko-KR" b="1" dirty="0"/>
              <a:t>] + data[</a:t>
            </a:r>
            <a:r>
              <a:rPr lang="ko-KR" altLang="en-US" b="1" dirty="0"/>
              <a:t>＇</a:t>
            </a:r>
            <a:r>
              <a:rPr lang="en-US" altLang="ko-KR" b="1" dirty="0" err="1"/>
              <a:t>eng</a:t>
            </a:r>
            <a:r>
              <a:rPr lang="ko-KR" altLang="en-US" b="1" dirty="0"/>
              <a:t>＇</a:t>
            </a:r>
            <a:r>
              <a:rPr lang="en-US" altLang="ko-KR" b="1" dirty="0"/>
              <a:t>]+data[</a:t>
            </a:r>
            <a:r>
              <a:rPr lang="ko-KR" altLang="en-US" b="1" dirty="0"/>
              <a:t>＇</a:t>
            </a:r>
            <a:r>
              <a:rPr lang="en-US" altLang="ko-KR" b="1" dirty="0"/>
              <a:t>mat</a:t>
            </a:r>
            <a:r>
              <a:rPr lang="ko-KR" altLang="en-US" b="1" dirty="0"/>
              <a:t>＇</a:t>
            </a:r>
            <a:r>
              <a:rPr lang="en-US" altLang="ko-KR" b="1" dirty="0"/>
              <a:t>]</a:t>
            </a:r>
          </a:p>
          <a:p>
            <a:pPr algn="l"/>
            <a:r>
              <a:rPr lang="en-US" altLang="ko-KR" b="1" dirty="0"/>
              <a:t>data[</a:t>
            </a:r>
            <a:r>
              <a:rPr lang="ko-KR" altLang="en-US" b="1" dirty="0"/>
              <a:t>＇</a:t>
            </a:r>
            <a:r>
              <a:rPr lang="en-US" altLang="ko-KR" b="1" dirty="0"/>
              <a:t>avg</a:t>
            </a:r>
            <a:r>
              <a:rPr lang="ko-KR" altLang="en-US" b="1" dirty="0"/>
              <a:t>＇</a:t>
            </a:r>
            <a:r>
              <a:rPr lang="en-US" altLang="ko-KR" b="1" dirty="0"/>
              <a:t>] = data[</a:t>
            </a:r>
            <a:r>
              <a:rPr lang="ko-KR" altLang="en-US" b="1" dirty="0"/>
              <a:t>＇</a:t>
            </a:r>
            <a:r>
              <a:rPr lang="en-US" altLang="ko-KR" b="1" dirty="0"/>
              <a:t>total</a:t>
            </a:r>
            <a:r>
              <a:rPr lang="ko-KR" altLang="en-US" b="1" dirty="0"/>
              <a:t>＇</a:t>
            </a:r>
            <a:r>
              <a:rPr lang="en-US" altLang="ko-KR" b="1" dirty="0"/>
              <a:t>]/3</a:t>
            </a:r>
          </a:p>
          <a:p>
            <a:pPr algn="l"/>
            <a:r>
              <a:rPr lang="en-US" altLang="ko-KR" b="1" dirty="0"/>
              <a:t>print(data)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 err="1"/>
              <a:t>data.to_excel</a:t>
            </a:r>
            <a:r>
              <a:rPr lang="en-US" altLang="ko-KR" b="1" dirty="0"/>
              <a:t>(</a:t>
            </a:r>
            <a:r>
              <a:rPr lang="ko-KR" altLang="en-US" b="1" dirty="0"/>
              <a:t>＂</a:t>
            </a:r>
            <a:r>
              <a:rPr lang="en-US" altLang="ko-KR" b="1" dirty="0"/>
              <a:t>score_result1.xlsx</a:t>
            </a:r>
            <a:r>
              <a:rPr lang="ko-KR" altLang="en-US" b="1" dirty="0"/>
              <a:t>＂</a:t>
            </a:r>
            <a:r>
              <a:rPr lang="en-US" altLang="ko-KR" b="1" dirty="0"/>
              <a:t>)</a:t>
            </a:r>
          </a:p>
          <a:p>
            <a:pPr algn="l"/>
            <a:r>
              <a:rPr lang="en-US" altLang="ko-KR" b="1" dirty="0" err="1"/>
              <a:t>data.to_excel</a:t>
            </a:r>
            <a:r>
              <a:rPr lang="en-US" altLang="ko-KR" b="1" dirty="0"/>
              <a:t>(</a:t>
            </a:r>
            <a:r>
              <a:rPr lang="ko-KR" altLang="en-US" b="1" dirty="0"/>
              <a:t>＂</a:t>
            </a:r>
            <a:r>
              <a:rPr lang="en-US" altLang="ko-KR" b="1" dirty="0"/>
              <a:t>score_result2.xlsx</a:t>
            </a:r>
            <a:r>
              <a:rPr lang="ko-KR" altLang="en-US" b="1" dirty="0"/>
              <a:t>＂</a:t>
            </a:r>
            <a:r>
              <a:rPr lang="en-US" altLang="ko-KR" b="1" dirty="0"/>
              <a:t>, index=False)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890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52962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21570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FEEF755-D879-4F5F-A9A2-232AF4667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2341297"/>
            <a:ext cx="3834011" cy="15236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7AAD45B-B1A7-4012-BB93-3788679A6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4" y="809822"/>
            <a:ext cx="3999134" cy="138056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EF9D84E4-DBE8-47B8-86BB-9B4FAF1192D0}"/>
              </a:ext>
            </a:extLst>
          </p:cNvPr>
          <p:cNvSpPr/>
          <p:nvPr/>
        </p:nvSpPr>
        <p:spPr bwMode="auto">
          <a:xfrm>
            <a:off x="611560" y="545659"/>
            <a:ext cx="1800200" cy="226063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score_result1.xlsx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36EA87-54D4-4F76-91F6-293DAE3104DF}"/>
              </a:ext>
            </a:extLst>
          </p:cNvPr>
          <p:cNvSpPr/>
          <p:nvPr/>
        </p:nvSpPr>
        <p:spPr bwMode="auto">
          <a:xfrm>
            <a:off x="4733625" y="1996952"/>
            <a:ext cx="1800200" cy="226063"/>
          </a:xfrm>
          <a:prstGeom prst="rect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r>
              <a:rPr lang="en-US" altLang="ko-KR" dirty="0">
                <a:solidFill>
                  <a:sysClr val="windowText" lastClr="000000"/>
                </a:solidFill>
              </a:rPr>
              <a:t>score_result2.xlsx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E706D-BF50-4BF4-BD7C-AC39F1C73DA0}"/>
              </a:ext>
            </a:extLst>
          </p:cNvPr>
          <p:cNvSpPr txBox="1"/>
          <p:nvPr/>
        </p:nvSpPr>
        <p:spPr bwMode="auto">
          <a:xfrm>
            <a:off x="467544" y="2341297"/>
            <a:ext cx="252028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b="1" dirty="0">
                <a:latin typeface="+mn-ea"/>
                <a:ea typeface="+mn-ea"/>
              </a:rPr>
              <a:t>index=False</a:t>
            </a:r>
            <a:r>
              <a:rPr lang="ko-KR" altLang="en-US" sz="1200" b="1" dirty="0">
                <a:latin typeface="+mn-ea"/>
                <a:ea typeface="+mn-ea"/>
              </a:rPr>
              <a:t>옵션을 주지 </a:t>
            </a:r>
            <a:r>
              <a:rPr lang="ko-KR" altLang="en-US" sz="1200" b="1" dirty="0" err="1">
                <a:latin typeface="+mn-ea"/>
                <a:ea typeface="+mn-ea"/>
              </a:rPr>
              <a:t>않을경우</a:t>
            </a:r>
            <a:r>
              <a:rPr lang="ko-KR" altLang="en-US" sz="1200" b="1" dirty="0">
                <a:latin typeface="+mn-ea"/>
                <a:ea typeface="+mn-ea"/>
              </a:rPr>
              <a:t> 인덱스 필드도 </a:t>
            </a:r>
            <a:r>
              <a:rPr lang="ko-KR" altLang="en-US" sz="1200" b="1" dirty="0" err="1">
                <a:latin typeface="+mn-ea"/>
                <a:ea typeface="+mn-ea"/>
              </a:rPr>
              <a:t>출력이된다</a:t>
            </a:r>
            <a:r>
              <a:rPr lang="en-US" altLang="ko-KR" sz="1200" b="1" dirty="0">
                <a:latin typeface="+mn-ea"/>
                <a:ea typeface="+mn-ea"/>
              </a:rPr>
              <a:t>. </a:t>
            </a:r>
            <a:endParaRPr lang="ko-KR" altLang="en-US" sz="1200" b="1" dirty="0">
              <a:latin typeface="+mn-ea"/>
              <a:ea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CAEA8D-F6BF-48CB-8D67-CB1AF21C13D8}"/>
              </a:ext>
            </a:extLst>
          </p:cNvPr>
          <p:cNvSpPr txBox="1"/>
          <p:nvPr/>
        </p:nvSpPr>
        <p:spPr bwMode="auto">
          <a:xfrm>
            <a:off x="5796136" y="1155164"/>
            <a:ext cx="2521128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b="1" dirty="0">
                <a:latin typeface="+mn-ea"/>
                <a:ea typeface="+mn-ea"/>
              </a:rPr>
              <a:t>index=False</a:t>
            </a:r>
            <a:r>
              <a:rPr lang="ko-KR" altLang="en-US" sz="1200" b="1" dirty="0">
                <a:latin typeface="+mn-ea"/>
                <a:ea typeface="+mn-ea"/>
              </a:rPr>
              <a:t>옵션을 주었을 경우 </a:t>
            </a:r>
            <a:r>
              <a:rPr lang="en-US" altLang="ko-KR" sz="1200" b="1" dirty="0">
                <a:latin typeface="+mn-ea"/>
                <a:ea typeface="+mn-ea"/>
              </a:rPr>
              <a:t>index</a:t>
            </a:r>
            <a:r>
              <a:rPr lang="ko-KR" altLang="en-US" sz="1200" b="1" dirty="0">
                <a:latin typeface="+mn-ea"/>
                <a:ea typeface="+mn-ea"/>
              </a:rPr>
              <a:t>필드는 출력이 되지 않는다 </a:t>
            </a:r>
          </a:p>
        </p:txBody>
      </p:sp>
      <p:sp>
        <p:nvSpPr>
          <p:cNvPr id="9" name="화살표: 아래쪽 8">
            <a:extLst>
              <a:ext uri="{FF2B5EF4-FFF2-40B4-BE49-F238E27FC236}">
                <a16:creationId xmlns:a16="http://schemas.microsoft.com/office/drawing/2014/main" id="{413D74C1-4EFD-45CC-ADF9-CF9D52D46EA2}"/>
              </a:ext>
            </a:extLst>
          </p:cNvPr>
          <p:cNvSpPr/>
          <p:nvPr/>
        </p:nvSpPr>
        <p:spPr bwMode="auto">
          <a:xfrm>
            <a:off x="6804248" y="1743558"/>
            <a:ext cx="360040" cy="479457"/>
          </a:xfrm>
          <a:prstGeom prst="downArrow">
            <a:avLst/>
          </a:prstGeom>
          <a:noFill/>
          <a:ln w="28575">
            <a:solidFill>
              <a:srgbClr val="FF0000"/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algn="l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54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130691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옵션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6165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17</a:t>
            </a:fld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5AE0FCD-3FB0-483F-9B27-7D627C6DF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474306"/>
              </p:ext>
            </p:extLst>
          </p:nvPr>
        </p:nvGraphicFramePr>
        <p:xfrm>
          <a:off x="683568" y="902776"/>
          <a:ext cx="74168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895850807"/>
                    </a:ext>
                  </a:extLst>
                </a:gridCol>
                <a:gridCol w="6192688">
                  <a:extLst>
                    <a:ext uri="{9D8B030D-6E8A-4147-A177-3AD203B41FA5}">
                      <a16:colId xmlns:a16="http://schemas.microsoft.com/office/drawing/2014/main" val="3121100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967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path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파일의 위치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파일명 포함</a:t>
                      </a:r>
                      <a:r>
                        <a:rPr lang="en-US" altLang="ko-KR" sz="1200" dirty="0"/>
                        <a:t>) </a:t>
                      </a:r>
                      <a:r>
                        <a:rPr lang="en-US" altLang="ko-KR" sz="1200" dirty="0" err="1"/>
                        <a:t>url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780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sep</a:t>
                      </a:r>
                      <a:r>
                        <a:rPr lang="en-US" altLang="ko-KR" sz="1200" dirty="0"/>
                        <a:t>(delimiter)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csv</a:t>
                      </a:r>
                      <a:r>
                        <a:rPr lang="ko-KR" altLang="en-US" sz="1200" dirty="0"/>
                        <a:t>파일의 구분자가 </a:t>
                      </a:r>
                      <a:r>
                        <a:rPr lang="en-US" altLang="ko-KR" sz="1200" dirty="0"/>
                        <a:t>,(</a:t>
                      </a:r>
                      <a:r>
                        <a:rPr lang="ko-KR" altLang="en-US" sz="1200" dirty="0"/>
                        <a:t>콤마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가 아니라 다른 문자일 경우에 이 옵션을 이용해 다른 문자를 지정할 수 있다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309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header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열 이름으로 사용할 행의 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88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index_col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행 인덱스로 사용할 열의 번호 또는 열의 이름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137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names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열 이름으로 사용할 문자열 리스트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7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skiprows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처음 </a:t>
                      </a:r>
                      <a:r>
                        <a:rPr lang="ko-KR" altLang="en-US" sz="1200" dirty="0" err="1"/>
                        <a:t>몇줄을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스킵할지</a:t>
                      </a:r>
                      <a:r>
                        <a:rPr lang="ko-KR" altLang="en-US" sz="1200" dirty="0"/>
                        <a:t> 지정한다 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제목줄이 첫번째 줄에 </a:t>
                      </a:r>
                      <a:r>
                        <a:rPr lang="ko-KR" altLang="en-US" sz="1200" dirty="0" err="1"/>
                        <a:t>없을때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header </a:t>
                      </a:r>
                      <a:r>
                        <a:rPr lang="ko-KR" altLang="en-US" sz="1200" dirty="0"/>
                        <a:t>도 사용 가능하다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429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31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 bwMode="auto">
          <a:xfrm>
            <a:off x="2275364" y="1117596"/>
            <a:ext cx="4476920" cy="21022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t" anchorCtr="0" compatLnSpc="1">
            <a:prstTxWarp prst="textNoShape">
              <a:avLst/>
            </a:prstTxWarp>
          </a:bodyPr>
          <a:lstStyle/>
          <a:p>
            <a:pPr defTabSz="914296" eaLnBrk="0" hangingPunct="0"/>
            <a:endParaRPr kumimoji="0"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86956" y="1434196"/>
            <a:ext cx="1739559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데이터프레임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976098" y="1741962"/>
            <a:ext cx="3313707" cy="700951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데이터프레임이 제공하는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활용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데이터프레임이 제공하는 통계함수</a:t>
            </a:r>
            <a:endParaRPr lang="en-US" altLang="ko-KR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75364" y="829564"/>
            <a:ext cx="1008112" cy="28803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72000" tIns="36512" rIns="36512" bIns="36512" numCol="1" rtlCol="0" anchor="ctr" anchorCtr="1" compatLnSpc="1">
            <a:prstTxWarp prst="textNoShape">
              <a:avLst/>
            </a:prstTxWarp>
          </a:bodyPr>
          <a:lstStyle/>
          <a:p>
            <a:pPr defTabSz="914296" eaLnBrk="0" hangingPunct="0"/>
            <a:r>
              <a:rPr kumimoji="0"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간지 부분</a:t>
            </a:r>
          </a:p>
        </p:txBody>
      </p:sp>
    </p:spTree>
    <p:extLst>
      <p:ext uri="{BB962C8B-B14F-4D97-AF65-F5344CB8AC3E}">
        <p14:creationId xmlns:p14="http://schemas.microsoft.com/office/powerpoint/2010/main" val="590011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850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308314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데이터를 분석하기 위한 많은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API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제공합니다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실습으로 사용할 데이터는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UCLA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대학의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데이터를 사용합니다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데이터는 자동차의 연비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실런더수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배기량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출력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차중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가속능력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츨시년도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제조국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모델명에 대한  정보를 가지고 있습니다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예제파일은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 안에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프레임은 파이썬 클래스로  만들어집니다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클래스에는 데이터프레임의 크기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데이터구성항목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자료형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통계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수치등의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정보를 담고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718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850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04697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head() </a:t>
            </a:r>
          </a:p>
          <a:p>
            <a:pPr marL="561032" lvl="1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프레임의 앞에서부터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데이터를 보여줍니다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561032" lvl="1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인수를 직접 지정하여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n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데이터를 확인할 수 도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561032" lvl="1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분석용 파일들은 데이터 개수가 커서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내용을 한번에 확인하기엔 어렵습니다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561032" lvl="1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함수등을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이용해 데이터의 대략적 성격을 파악할 수 있습니다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data.head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tail() </a:t>
            </a:r>
          </a:p>
          <a:p>
            <a:pPr marL="561032" lvl="1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프레임의 뒤에서부터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데이터를 보여줍니다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61032" lvl="1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data.tail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</a:p>
          <a:p>
            <a:pPr marL="561032" lvl="1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shape </a:t>
            </a:r>
          </a:p>
          <a:p>
            <a:pPr marL="561032" lvl="1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데이터프레임의 행과 열이 크기를 알려줍니다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tuple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전달합니다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561032" lvl="1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tuple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타입을 전달하기 때문에 다음처럼 사용이 가능합니다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561032" lvl="1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row , col =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data.shape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151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850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6247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 </a:t>
            </a:r>
            <a:r>
              <a:rPr lang="en-US" altLang="ko-KR" b="1" dirty="0"/>
              <a:t>: exam10_5.py</a:t>
            </a:r>
            <a:endParaRPr lang="ko-KR" altLang="en-US" b="1" dirty="0"/>
          </a:p>
          <a:p>
            <a:pPr algn="l"/>
            <a:br>
              <a:rPr lang="ko-KR" altLang="en-US" b="1" dirty="0"/>
            </a:br>
            <a:r>
              <a:rPr lang="en-US" altLang="ko-KR" b="1" dirty="0"/>
              <a:t>import</a:t>
            </a:r>
            <a:r>
              <a:rPr lang="ko-KR" altLang="en-US" b="1" dirty="0"/>
              <a:t> </a:t>
            </a:r>
            <a:r>
              <a:rPr lang="en-US" altLang="ko-KR" b="1" dirty="0"/>
              <a:t>pandas as</a:t>
            </a:r>
            <a:r>
              <a:rPr lang="ko-KR" altLang="en-US" b="1" dirty="0"/>
              <a:t> </a:t>
            </a:r>
            <a:r>
              <a:rPr lang="en-US" altLang="ko-KR" b="1" dirty="0"/>
              <a:t>pd 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#header</a:t>
            </a:r>
            <a:r>
              <a:rPr lang="ko-KR" altLang="en-US" b="1" dirty="0"/>
              <a:t>가 </a:t>
            </a:r>
            <a:r>
              <a:rPr lang="en-US" altLang="ko-KR" b="1" dirty="0"/>
              <a:t>3</a:t>
            </a:r>
            <a:r>
              <a:rPr lang="ko-KR" altLang="en-US" b="1" dirty="0"/>
              <a:t>번째 줄에 있음 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("./data/auto-mpg.csv")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앞에서 부터 </a:t>
            </a:r>
            <a:r>
              <a:rPr lang="en-US" altLang="ko-KR" b="1" dirty="0"/>
              <a:t>5</a:t>
            </a:r>
            <a:r>
              <a:rPr lang="ko-KR" altLang="en-US" b="1" dirty="0"/>
              <a:t>개만 미리 보기</a:t>
            </a:r>
            <a:r>
              <a:rPr lang="en-US" altLang="ko-KR" b="1" dirty="0"/>
              <a:t>") </a:t>
            </a:r>
          </a:p>
          <a:p>
            <a:pPr algn="l"/>
            <a:r>
              <a:rPr lang="en-US" altLang="ko-KR" b="1" dirty="0"/>
              <a:t>print( 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() 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뒤에서 부터 </a:t>
            </a:r>
            <a:r>
              <a:rPr lang="en-US" altLang="ko-KR" b="1" dirty="0"/>
              <a:t>5</a:t>
            </a:r>
            <a:r>
              <a:rPr lang="ko-KR" altLang="en-US" b="1" dirty="0"/>
              <a:t>개만 미리 보기</a:t>
            </a:r>
            <a:r>
              <a:rPr lang="en-US" altLang="ko-KR" b="1" dirty="0"/>
              <a:t>") </a:t>
            </a:r>
          </a:p>
          <a:p>
            <a:pPr algn="l"/>
            <a:r>
              <a:rPr lang="en-US" altLang="ko-KR" b="1" dirty="0"/>
              <a:t>print( </a:t>
            </a:r>
            <a:r>
              <a:rPr lang="en-US" altLang="ko-KR" b="1" dirty="0" err="1"/>
              <a:t>data.tail</a:t>
            </a:r>
            <a:r>
              <a:rPr lang="en-US" altLang="ko-KR" b="1" dirty="0"/>
              <a:t>() 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print("</a:t>
            </a:r>
            <a:r>
              <a:rPr lang="ko-KR" altLang="en-US" b="1" dirty="0"/>
              <a:t>앞에서 부터 </a:t>
            </a:r>
            <a:r>
              <a:rPr lang="en-US" altLang="ko-KR" b="1" dirty="0"/>
              <a:t>10</a:t>
            </a:r>
            <a:r>
              <a:rPr lang="ko-KR" altLang="en-US" b="1" dirty="0"/>
              <a:t>개만 미리 보기</a:t>
            </a:r>
            <a:r>
              <a:rPr lang="en-US" altLang="ko-KR" b="1" dirty="0"/>
              <a:t>") </a:t>
            </a:r>
          </a:p>
          <a:p>
            <a:pPr algn="l"/>
            <a:r>
              <a:rPr lang="en-US" altLang="ko-KR" b="1" dirty="0"/>
              <a:t>print( 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(10))</a:t>
            </a:r>
          </a:p>
          <a:p>
            <a:pPr algn="l"/>
            <a:r>
              <a:rPr lang="en-US" altLang="ko-KR" b="1" dirty="0"/>
              <a:t>print( </a:t>
            </a:r>
            <a:r>
              <a:rPr lang="en-US" altLang="ko-KR" b="1" dirty="0" err="1"/>
              <a:t>data.shape</a:t>
            </a:r>
            <a:r>
              <a:rPr lang="en-US" altLang="ko-KR" b="1" dirty="0"/>
              <a:t> ) #</a:t>
            </a:r>
            <a:r>
              <a:rPr lang="ko-KR" altLang="en-US" b="1" dirty="0"/>
              <a:t>데이터프레임의 차원 행</a:t>
            </a:r>
            <a:r>
              <a:rPr lang="en-US" altLang="ko-KR" b="1" dirty="0"/>
              <a:t>, </a:t>
            </a:r>
            <a:r>
              <a:rPr lang="ko-KR" altLang="en-US" b="1" dirty="0"/>
              <a:t>열의 개수 확인 가능 </a:t>
            </a:r>
            <a:endParaRPr lang="en-US" altLang="ko-KR" b="1" dirty="0"/>
          </a:p>
          <a:p>
            <a:pPr algn="l"/>
            <a:br>
              <a:rPr lang="en-US" altLang="ko-KR" b="1" dirty="0"/>
            </a:br>
            <a:r>
              <a:rPr lang="en-US" altLang="ko-KR" b="1" dirty="0"/>
              <a:t>row, col = </a:t>
            </a:r>
            <a:r>
              <a:rPr lang="en-US" altLang="ko-KR" b="1" dirty="0" err="1"/>
              <a:t>data.shape</a:t>
            </a:r>
            <a:r>
              <a:rPr lang="en-US" altLang="ko-KR" b="1" dirty="0"/>
              <a:t> </a:t>
            </a:r>
          </a:p>
          <a:p>
            <a:pPr algn="l"/>
            <a:r>
              <a:rPr lang="en-US" altLang="ko-KR" b="1" dirty="0"/>
              <a:t>#tuple</a:t>
            </a:r>
            <a:r>
              <a:rPr lang="ko-KR" altLang="en-US" b="1" dirty="0"/>
              <a:t>타입임</a:t>
            </a:r>
            <a:r>
              <a:rPr lang="en-US" altLang="ko-KR" b="1" dirty="0"/>
              <a:t>, </a:t>
            </a:r>
            <a:r>
              <a:rPr lang="ko-KR" altLang="en-US" b="1" dirty="0"/>
              <a:t>행과 열에 대한 정보를 모두 가지고 있음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행의 개수 </a:t>
            </a:r>
            <a:r>
              <a:rPr lang="en-US" altLang="ko-KR" b="1" dirty="0"/>
              <a:t>", row)</a:t>
            </a:r>
          </a:p>
          <a:p>
            <a:pPr algn="l"/>
            <a:r>
              <a:rPr lang="en-US" altLang="ko-KR" b="1" dirty="0"/>
              <a:t>print("</a:t>
            </a:r>
            <a:r>
              <a:rPr lang="ko-KR" altLang="en-US" b="1" dirty="0"/>
              <a:t>열의 개수 </a:t>
            </a:r>
            <a:r>
              <a:rPr lang="en-US" altLang="ko-KR" b="1" dirty="0"/>
              <a:t>", col)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EA1E56-1882-4367-ADA8-8806E4540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4" y="391776"/>
            <a:ext cx="4278424" cy="362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866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881430" cy="307766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1338818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b="1" dirty="0"/>
              <a:t>info ()</a:t>
            </a:r>
          </a:p>
          <a:p>
            <a:pPr algn="l"/>
            <a:r>
              <a:rPr lang="en-US" altLang="ko-KR" b="1" dirty="0"/>
              <a:t> </a:t>
            </a:r>
            <a:r>
              <a:rPr lang="en-US" altLang="ko-KR" b="1" dirty="0" err="1"/>
              <a:t>dataFrame</a:t>
            </a:r>
            <a:r>
              <a:rPr lang="en-US" altLang="ko-KR" b="1" dirty="0"/>
              <a:t> </a:t>
            </a:r>
            <a:r>
              <a:rPr lang="ko-KR" altLang="en-US" b="1" dirty="0"/>
              <a:t>객체 안에 어떤 필드들을 갖고 있는지 구조를 파악할 수 있습니다</a:t>
            </a:r>
            <a:r>
              <a:rPr lang="en-US" altLang="ko-KR" b="1" dirty="0"/>
              <a:t>. </a:t>
            </a:r>
            <a:r>
              <a:rPr lang="ko-KR" altLang="en-US" b="1" dirty="0"/>
              <a:t>데이터 </a:t>
            </a:r>
            <a:r>
              <a:rPr lang="ko-KR" altLang="en-US" b="1" dirty="0" err="1"/>
              <a:t>갯수는</a:t>
            </a:r>
            <a:r>
              <a:rPr lang="ko-KR" altLang="en-US" b="1" dirty="0"/>
              <a:t> 몇개이고</a:t>
            </a:r>
            <a:r>
              <a:rPr lang="en-US" altLang="ko-KR" b="1" dirty="0"/>
              <a:t>, </a:t>
            </a:r>
            <a:r>
              <a:rPr lang="ko-KR" altLang="en-US" b="1" dirty="0"/>
              <a:t>인덱스는 무엇이고</a:t>
            </a:r>
            <a:r>
              <a:rPr lang="en-US" altLang="ko-KR" b="1" dirty="0"/>
              <a:t>, </a:t>
            </a:r>
          </a:p>
          <a:p>
            <a:pPr algn="l"/>
            <a:r>
              <a:rPr lang="ko-KR" altLang="en-US" b="1" dirty="0"/>
              <a:t>각 컬럼별로 어떤 데이터 타입인지 확인이 가능합니다</a:t>
            </a:r>
            <a:r>
              <a:rPr lang="en-US" altLang="ko-KR" b="1" dirty="0"/>
              <a:t>.  auto-mpg.csv</a:t>
            </a:r>
            <a:r>
              <a:rPr lang="ko-KR" altLang="en-US" b="1" dirty="0"/>
              <a:t> 파일의 예입니다 </a:t>
            </a:r>
            <a:r>
              <a:rPr lang="en-US" altLang="ko-KR" b="1" dirty="0"/>
              <a:t>.</a:t>
            </a:r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r>
              <a:rPr lang="en-US" altLang="ko-KR" b="1" dirty="0"/>
              <a:t> </a:t>
            </a:r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  <a:p>
            <a:pPr algn="l"/>
            <a:endParaRPr lang="en-US" altLang="ko-KR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9C09EA-EF70-4ECC-8033-39F0D8E5C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536583"/>
            <a:ext cx="2868935" cy="236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4367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685056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 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75404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39604C-B39C-4811-B467-268D4B82B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7" y="1614487"/>
            <a:ext cx="8239125" cy="1914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92D95BA-ED43-4ABD-AA41-F738CA6EA6C5}"/>
              </a:ext>
            </a:extLst>
          </p:cNvPr>
          <p:cNvSpPr txBox="1"/>
          <p:nvPr/>
        </p:nvSpPr>
        <p:spPr bwMode="auto">
          <a:xfrm>
            <a:off x="443106" y="853207"/>
            <a:ext cx="813690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l"/>
            <a:r>
              <a:rPr lang="en-US" altLang="ko-KR" sz="1200" dirty="0">
                <a:latin typeface="+mn-ea"/>
                <a:ea typeface="+mn-ea"/>
              </a:rPr>
              <a:t>describe :  </a:t>
            </a:r>
            <a:r>
              <a:rPr lang="ko-KR" altLang="en-US" sz="1200" dirty="0">
                <a:latin typeface="+mn-ea"/>
                <a:ea typeface="+mn-ea"/>
              </a:rPr>
              <a:t>각 필드별로 카운트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평균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표준편차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최소값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사분위수</a:t>
            </a:r>
            <a:r>
              <a:rPr lang="en-US" altLang="ko-KR" sz="1200" dirty="0">
                <a:latin typeface="+mn-ea"/>
                <a:ea typeface="+mn-ea"/>
              </a:rPr>
              <a:t>(1/4, 2/4, ¾), </a:t>
            </a:r>
            <a:r>
              <a:rPr lang="ko-KR" altLang="en-US" sz="1200" dirty="0">
                <a:latin typeface="+mn-ea"/>
                <a:ea typeface="+mn-ea"/>
              </a:rPr>
              <a:t>최대값을 확인할 수 있습니다 </a:t>
            </a:r>
            <a:endParaRPr lang="en-US" altLang="ko-KR" sz="1200" dirty="0">
              <a:latin typeface="+mn-ea"/>
              <a:ea typeface="+mn-ea"/>
            </a:endParaRP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이 함수는 </a:t>
            </a:r>
            <a:r>
              <a:rPr lang="ko-KR" altLang="en-US" sz="1200" dirty="0" err="1">
                <a:latin typeface="+mn-ea"/>
                <a:ea typeface="+mn-ea"/>
              </a:rPr>
              <a:t>파이썬을</a:t>
            </a:r>
            <a:r>
              <a:rPr lang="ko-KR" altLang="en-US" sz="1200" dirty="0">
                <a:latin typeface="+mn-ea"/>
                <a:ea typeface="+mn-ea"/>
              </a:rPr>
              <a:t> 이용하여 데이터를 </a:t>
            </a:r>
            <a:r>
              <a:rPr lang="ko-KR" altLang="en-US" sz="1200" dirty="0" err="1">
                <a:latin typeface="+mn-ea"/>
                <a:ea typeface="+mn-ea"/>
              </a:rPr>
              <a:t>분석할때</a:t>
            </a:r>
            <a:r>
              <a:rPr lang="en-US" altLang="ko-KR" sz="1200" dirty="0">
                <a:latin typeface="+mn-ea"/>
                <a:ea typeface="+mn-ea"/>
              </a:rPr>
              <a:t>, </a:t>
            </a:r>
            <a:r>
              <a:rPr lang="ko-KR" altLang="en-US" sz="1200" dirty="0">
                <a:latin typeface="+mn-ea"/>
                <a:ea typeface="+mn-ea"/>
              </a:rPr>
              <a:t>대략적인 데이터에 대한 파악을 도와주는 함수입니다</a:t>
            </a:r>
            <a:r>
              <a:rPr lang="en-US" altLang="ko-KR" sz="1200" dirty="0">
                <a:latin typeface="+mn-ea"/>
                <a:ea typeface="+mn-ea"/>
              </a:rPr>
              <a:t>. </a:t>
            </a:r>
          </a:p>
          <a:p>
            <a:pPr algn="l"/>
            <a:r>
              <a:rPr lang="ko-KR" altLang="en-US" sz="1200" dirty="0">
                <a:latin typeface="+mn-ea"/>
                <a:ea typeface="+mn-ea"/>
              </a:rPr>
              <a:t>각 필드별로 통계에서 자주 사용하는 통계량들을 보여줍니다</a:t>
            </a:r>
            <a:r>
              <a:rPr lang="en-US" altLang="ko-KR" sz="1200" dirty="0">
                <a:latin typeface="+mn-ea"/>
                <a:ea typeface="+mn-ea"/>
              </a:rPr>
              <a:t>. </a:t>
            </a:r>
            <a:endParaRPr lang="ko-KR" altLang="en-US" sz="1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0107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2903339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요약 정보 보기 예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295464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endParaRPr lang="en-US" altLang="ko-KR" sz="1200" dirty="0"/>
          </a:p>
          <a:p>
            <a:pPr algn="l"/>
            <a:r>
              <a:rPr lang="en-US" altLang="ko-KR" sz="1200" dirty="0"/>
              <a:t>#</a:t>
            </a:r>
            <a:r>
              <a:rPr lang="ko-KR" altLang="en-US" sz="1200" dirty="0"/>
              <a:t>파일명 </a:t>
            </a:r>
            <a:r>
              <a:rPr lang="en-US" altLang="ko-KR" sz="1200" dirty="0"/>
              <a:t>: exam10_6.py</a:t>
            </a:r>
          </a:p>
          <a:p>
            <a:pPr algn="l"/>
            <a:br>
              <a:rPr lang="en-US" altLang="ko-KR" sz="1200" dirty="0"/>
            </a:br>
            <a:r>
              <a:rPr lang="en-US" altLang="ko-KR" sz="1200" dirty="0"/>
              <a:t>import pandas as pd </a:t>
            </a:r>
          </a:p>
          <a:p>
            <a:pPr algn="l"/>
            <a:br>
              <a:rPr lang="en-US" altLang="ko-KR" sz="1200" dirty="0"/>
            </a:br>
            <a:r>
              <a:rPr lang="en-US" altLang="ko-KR" sz="1200" dirty="0"/>
              <a:t>#header</a:t>
            </a:r>
            <a:r>
              <a:rPr lang="ko-KR" altLang="en-US" sz="1200" dirty="0"/>
              <a:t>가 </a:t>
            </a:r>
            <a:r>
              <a:rPr lang="en-US" altLang="ko-KR" sz="1200" dirty="0"/>
              <a:t>3</a:t>
            </a:r>
            <a:r>
              <a:rPr lang="ko-KR" altLang="en-US" sz="1200" dirty="0"/>
              <a:t>번째 줄에 있음 </a:t>
            </a:r>
          </a:p>
          <a:p>
            <a:pPr algn="l"/>
            <a:r>
              <a:rPr lang="en-US" altLang="ko-KR" sz="1200" dirty="0"/>
              <a:t>data = </a:t>
            </a:r>
            <a:r>
              <a:rPr lang="en-US" altLang="ko-KR" sz="1200" dirty="0" err="1"/>
              <a:t>pd.read_csv</a:t>
            </a:r>
            <a:r>
              <a:rPr lang="en-US" altLang="ko-KR" sz="1200" dirty="0"/>
              <a:t>("./data/auto-mpg.csv")</a:t>
            </a:r>
          </a:p>
          <a:p>
            <a:pPr algn="l"/>
            <a:br>
              <a:rPr lang="en-US" altLang="ko-KR" sz="1200" dirty="0"/>
            </a:br>
            <a:r>
              <a:rPr lang="en-US" altLang="ko-KR" sz="1200" dirty="0"/>
              <a:t>print("</a:t>
            </a:r>
            <a:r>
              <a:rPr lang="ko-KR" altLang="en-US" sz="1200" dirty="0"/>
              <a:t>데이터의 기본 구조</a:t>
            </a:r>
            <a:r>
              <a:rPr lang="en-US" altLang="ko-KR" sz="1200" dirty="0"/>
              <a:t>")</a:t>
            </a:r>
          </a:p>
          <a:p>
            <a:pPr algn="l"/>
            <a:r>
              <a:rPr lang="en-US" altLang="ko-KR" sz="1200" dirty="0"/>
              <a:t>print( data.info() )</a:t>
            </a:r>
          </a:p>
          <a:p>
            <a:pPr algn="l"/>
            <a:br>
              <a:rPr lang="en-US" altLang="ko-KR" sz="1200" dirty="0"/>
            </a:br>
            <a:r>
              <a:rPr lang="en-US" altLang="ko-KR" sz="1200" dirty="0"/>
              <a:t>print("</a:t>
            </a:r>
            <a:r>
              <a:rPr lang="ko-KR" altLang="en-US" sz="1200" dirty="0"/>
              <a:t>데이터의 요약정보 확인</a:t>
            </a:r>
            <a:r>
              <a:rPr lang="en-US" altLang="ko-KR" sz="1200" dirty="0"/>
              <a:t>")</a:t>
            </a:r>
          </a:p>
          <a:p>
            <a:pPr algn="l"/>
            <a:r>
              <a:rPr lang="en-US" altLang="ko-KR" sz="1200" dirty="0"/>
              <a:t>print( </a:t>
            </a:r>
            <a:r>
              <a:rPr lang="en-US" altLang="ko-KR" sz="1200" dirty="0" err="1"/>
              <a:t>data.describe</a:t>
            </a:r>
            <a:r>
              <a:rPr lang="en-US" altLang="ko-KR" sz="1200" dirty="0"/>
              <a:t>())</a:t>
            </a:r>
          </a:p>
          <a:p>
            <a:pPr algn="l"/>
            <a:br>
              <a:rPr lang="en-US" altLang="ko-KR" sz="1200" dirty="0"/>
            </a:br>
            <a:br>
              <a:rPr lang="en-US" altLang="ko-KR" b="1" dirty="0"/>
            </a:br>
            <a:endParaRPr lang="en-US" altLang="ko-KR" b="1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274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6224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조건부여하기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163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객체는 데이터를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검색할때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특정 조건을 부여하기가 쉽습니다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별도의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문을 필요로 하지 않습니다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  data[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조건식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]  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조건식의 결과가 참인 경우의 데이터만 반환합니다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data[ data[‘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필드명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’] == 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]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또는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[data.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필드명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== 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” ] 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조건식은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==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뿐만아니라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관계연산자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(==, !=, &gt;, &lt;. &gt;=. &lt;=)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모두 사용이 가능합니다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조건이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두개이상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결합할때는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파이썬이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논리연산자인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and(&amp;)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or(|)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연산자를 사용하면 안됩니다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파이썬 논리연산자를 사용할 경우에는 다음과 같은 에러가 발생합니다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4B086DE-945D-45E9-BE38-F97D22FC2378}"/>
              </a:ext>
            </a:extLst>
          </p:cNvPr>
          <p:cNvSpPr/>
          <p:nvPr/>
        </p:nvSpPr>
        <p:spPr bwMode="auto">
          <a:xfrm>
            <a:off x="755576" y="3147814"/>
            <a:ext cx="6624736" cy="720080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l">
              <a:buFontTx/>
              <a:buChar char="-"/>
            </a:pP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ValueError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: The truth value of a Series is ambiguous. Use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a.empty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a.bool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a.item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a.any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 or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a.all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37076075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6224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조건부여하기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416310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조건식을 결합해야 할 경우에는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라이브러리를 사용합니다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라이브러리에서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logical_and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메서드와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logical_or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메서드를 대신 사용합니다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주의할점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결국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사용이 가장 많이 이루어지는 영역은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딥러닝입니다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머신러닝이나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딥러닝 라이브러리는 모두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언어로 되어 있습니다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언어로 되어 있는데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사용하는 이유는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파이썬이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언어와의 결합력이 우수하고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습득하는것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보다는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습득하는게 더 빠르고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코딩을 쉽게 할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수있기때문에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대부분의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빅데이터분야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개발자들은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파이썬에서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사용하는 기본 데이터 타입들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(list,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dict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tuple)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등은 바로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 구조로 변환되지 않습니다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그래서 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만든겁니다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빅데이터 분석에서는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제공하는 데이터타입이나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pandas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제공하는 데이터 타입으로 파이썬 데이터 타입들을 변환해야만 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B6E39F9-80C9-48BF-9166-008E500588F6}"/>
              </a:ext>
            </a:extLst>
          </p:cNvPr>
          <p:cNvSpPr/>
          <p:nvPr/>
        </p:nvSpPr>
        <p:spPr bwMode="auto">
          <a:xfrm>
            <a:off x="971600" y="1563638"/>
            <a:ext cx="6336704" cy="864096"/>
          </a:xfrm>
          <a:prstGeom prst="rect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headEnd type="none" w="med" len="med"/>
            <a:tailEnd type="triangl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import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</a:rPr>
              <a:t>numpy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as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np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altLang="ko-KR" sz="1200" b="1" dirty="0">
              <a:solidFill>
                <a:schemeClr val="tx2">
                  <a:lumMod val="75000"/>
                </a:schemeClr>
              </a:solidFill>
            </a:endParaRPr>
          </a:p>
          <a:p>
            <a:pPr algn="l"/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data [ </a:t>
            </a:r>
            <a:r>
              <a:rPr lang="en-US" altLang="ko-KR" sz="1200" b="1" dirty="0" err="1">
                <a:solidFill>
                  <a:schemeClr val="tx2">
                    <a:lumMod val="75000"/>
                  </a:schemeClr>
                </a:solidFill>
              </a:rPr>
              <a:t>np.logical_and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(data['model-year']==70, data['mpg']&gt;=25) ]</a:t>
            </a:r>
          </a:p>
        </p:txBody>
      </p:sp>
    </p:spTree>
    <p:extLst>
      <p:ext uri="{BB962C8B-B14F-4D97-AF65-F5344CB8AC3E}">
        <p14:creationId xmlns:p14="http://schemas.microsoft.com/office/powerpoint/2010/main" val="2634502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1462240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조건부여하기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63202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dirty="0"/>
              <a:t>#</a:t>
            </a:r>
            <a:r>
              <a:rPr lang="ko-KR" altLang="en-US" dirty="0"/>
              <a:t>파일명 </a:t>
            </a:r>
            <a:r>
              <a:rPr lang="en-US" altLang="ko-KR" dirty="0"/>
              <a:t>: exam10_7.py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import pandas as pd 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#header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번째 줄에 있음 </a:t>
            </a:r>
          </a:p>
          <a:p>
            <a:pPr algn="l"/>
            <a:r>
              <a:rPr lang="en-US" altLang="ko-KR" dirty="0"/>
              <a:t>data = </a:t>
            </a:r>
            <a:r>
              <a:rPr lang="en-US" altLang="ko-KR" dirty="0" err="1"/>
              <a:t>pd.read_csv</a:t>
            </a:r>
            <a:r>
              <a:rPr lang="en-US" altLang="ko-KR" dirty="0"/>
              <a:t>("./data/auto-mpg.csv")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print("</a:t>
            </a:r>
            <a:r>
              <a:rPr lang="ko-KR" altLang="en-US" dirty="0"/>
              <a:t>조건식 적용하기 </a:t>
            </a:r>
            <a:r>
              <a:rPr lang="en-US" altLang="ko-KR" dirty="0"/>
              <a:t>")</a:t>
            </a:r>
          </a:p>
          <a:p>
            <a:pPr algn="l"/>
            <a:r>
              <a:rPr lang="en-US" altLang="ko-KR" dirty="0"/>
              <a:t>print( data[</a:t>
            </a:r>
            <a:r>
              <a:rPr lang="en-US" altLang="ko-KR" dirty="0" err="1"/>
              <a:t>data.cylinders</a:t>
            </a:r>
            <a:r>
              <a:rPr lang="en-US" altLang="ko-KR" dirty="0"/>
              <a:t>==4] ) #</a:t>
            </a:r>
            <a:r>
              <a:rPr lang="ko-KR" altLang="en-US" dirty="0"/>
              <a:t>실린더 개수 </a:t>
            </a:r>
            <a:r>
              <a:rPr lang="en-US" altLang="ko-KR" dirty="0"/>
              <a:t>4</a:t>
            </a:r>
            <a:r>
              <a:rPr lang="ko-KR" altLang="en-US" dirty="0"/>
              <a:t>개 짜리만 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#</a:t>
            </a:r>
            <a:r>
              <a:rPr lang="ko-KR" altLang="en-US" dirty="0"/>
              <a:t>연비가 </a:t>
            </a:r>
            <a:r>
              <a:rPr lang="en-US" altLang="ko-KR" dirty="0"/>
              <a:t>27 </a:t>
            </a:r>
            <a:r>
              <a:rPr lang="ko-KR" altLang="en-US" dirty="0"/>
              <a:t>이상만 </a:t>
            </a:r>
          </a:p>
          <a:p>
            <a:pPr algn="l"/>
            <a:r>
              <a:rPr lang="en-US" altLang="ko-KR" dirty="0"/>
              <a:t>print( data[data.mpg&gt;=27] )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#</a:t>
            </a:r>
            <a:r>
              <a:rPr lang="ko-KR" altLang="en-US" dirty="0"/>
              <a:t>모델 연도가 </a:t>
            </a:r>
            <a:r>
              <a:rPr lang="en-US" altLang="ko-KR" dirty="0"/>
              <a:t>70</a:t>
            </a:r>
            <a:r>
              <a:rPr lang="ko-KR" altLang="en-US" dirty="0"/>
              <a:t>년이고 연비가 </a:t>
            </a:r>
            <a:r>
              <a:rPr lang="en-US" altLang="ko-KR" dirty="0"/>
              <a:t>27</a:t>
            </a:r>
            <a:r>
              <a:rPr lang="ko-KR" altLang="en-US" dirty="0"/>
              <a:t>이상만</a:t>
            </a:r>
            <a:r>
              <a:rPr lang="en-US" altLang="ko-KR" dirty="0"/>
              <a:t>, -(</a:t>
            </a:r>
            <a:r>
              <a:rPr lang="ko-KR" altLang="en-US" dirty="0"/>
              <a:t>하이픈</a:t>
            </a:r>
            <a:r>
              <a:rPr lang="en-US" altLang="ko-KR" dirty="0"/>
              <a:t>) </a:t>
            </a:r>
            <a:r>
              <a:rPr lang="ko-KR" altLang="en-US" dirty="0" err="1"/>
              <a:t>때문데</a:t>
            </a:r>
            <a:r>
              <a:rPr lang="ko-KR" altLang="en-US" dirty="0"/>
              <a:t> </a:t>
            </a:r>
            <a:r>
              <a:rPr lang="en-US" altLang="ko-KR" dirty="0" err="1"/>
              <a:t>data.model</a:t>
            </a:r>
            <a:r>
              <a:rPr lang="en-US" altLang="ko-KR" dirty="0"/>
              <a:t>-year </a:t>
            </a:r>
            <a:r>
              <a:rPr lang="ko-KR" altLang="en-US" dirty="0"/>
              <a:t>는 안된다</a:t>
            </a:r>
            <a:r>
              <a:rPr lang="en-US" altLang="ko-KR" dirty="0"/>
              <a:t>. </a:t>
            </a:r>
            <a:endParaRPr lang="ko-KR" altLang="en-US" dirty="0"/>
          </a:p>
          <a:p>
            <a:pPr algn="l"/>
            <a:r>
              <a:rPr lang="en-US" altLang="ko-KR" dirty="0"/>
              <a:t>#</a:t>
            </a:r>
            <a:r>
              <a:rPr lang="ko-KR" altLang="en-US" dirty="0"/>
              <a:t>아래처럼 하던지 아니면 컬럼명을 수정해야 한다 </a:t>
            </a:r>
          </a:p>
          <a:p>
            <a:pPr algn="l"/>
            <a:r>
              <a:rPr lang="en-US" altLang="ko-KR" dirty="0"/>
              <a:t>print ( data[data['model-year']==70])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#</a:t>
            </a:r>
            <a:r>
              <a:rPr lang="ko-KR" altLang="en-US" dirty="0"/>
              <a:t>두가지 조건을 동시에 주고 </a:t>
            </a:r>
            <a:r>
              <a:rPr lang="ko-KR" altLang="en-US" dirty="0" err="1"/>
              <a:t>싶을때</a:t>
            </a:r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에러발생 이렇게 못쓴다 </a:t>
            </a:r>
          </a:p>
          <a:p>
            <a:pPr algn="l"/>
            <a:r>
              <a:rPr lang="en-US" altLang="ko-KR" dirty="0"/>
              <a:t>#print( data[ data['model-year']==70 or data['mpg']&gt;=25 ])</a:t>
            </a:r>
          </a:p>
          <a:p>
            <a:pPr algn="l"/>
            <a:r>
              <a:rPr lang="en-US" altLang="ko-KR" dirty="0"/>
              <a:t>#</a:t>
            </a:r>
            <a:r>
              <a:rPr lang="en-US" altLang="ko-KR" dirty="0" err="1"/>
              <a:t>ValueError</a:t>
            </a:r>
            <a:r>
              <a:rPr lang="en-US" altLang="ko-KR" dirty="0"/>
              <a:t>: The truth value of a Series is ambiguous. Use </a:t>
            </a:r>
            <a:r>
              <a:rPr lang="en-US" altLang="ko-KR" dirty="0" err="1"/>
              <a:t>a.empty</a:t>
            </a:r>
            <a:r>
              <a:rPr lang="en-US" altLang="ko-KR" dirty="0"/>
              <a:t>, </a:t>
            </a:r>
            <a:r>
              <a:rPr lang="en-US" altLang="ko-KR" dirty="0" err="1"/>
              <a:t>a.bool</a:t>
            </a:r>
            <a:r>
              <a:rPr lang="en-US" altLang="ko-KR" dirty="0"/>
              <a:t>(), </a:t>
            </a:r>
            <a:r>
              <a:rPr lang="en-US" altLang="ko-KR" dirty="0" err="1"/>
              <a:t>a.item</a:t>
            </a:r>
            <a:r>
              <a:rPr lang="en-US" altLang="ko-KR" dirty="0"/>
              <a:t>(), </a:t>
            </a:r>
            <a:r>
              <a:rPr lang="en-US" altLang="ko-KR" dirty="0" err="1"/>
              <a:t>a.any</a:t>
            </a:r>
            <a:r>
              <a:rPr lang="en-US" altLang="ko-KR" dirty="0"/>
              <a:t>() or </a:t>
            </a:r>
            <a:r>
              <a:rPr lang="en-US" altLang="ko-KR" dirty="0" err="1"/>
              <a:t>a.all</a:t>
            </a:r>
            <a:r>
              <a:rPr lang="en-US" altLang="ko-KR" dirty="0"/>
              <a:t>().</a:t>
            </a:r>
          </a:p>
          <a:p>
            <a:pPr algn="l"/>
            <a:br>
              <a:rPr lang="en-US" altLang="ko-KR" dirty="0"/>
            </a:br>
            <a:r>
              <a:rPr lang="en-US" altLang="ko-KR" dirty="0"/>
              <a:t>#</a:t>
            </a:r>
            <a:r>
              <a:rPr lang="ko-KR" altLang="en-US" dirty="0"/>
              <a:t>두가지 조건을 동시에 주고 </a:t>
            </a:r>
            <a:r>
              <a:rPr lang="ko-KR" altLang="en-US" dirty="0" err="1"/>
              <a:t>싶을때</a:t>
            </a:r>
            <a:r>
              <a:rPr lang="ko-KR" altLang="en-US" dirty="0"/>
              <a:t> </a:t>
            </a:r>
          </a:p>
          <a:p>
            <a:pPr algn="l"/>
            <a:r>
              <a:rPr lang="en-US" altLang="ko-KR" dirty="0"/>
              <a:t>import </a:t>
            </a:r>
            <a:r>
              <a:rPr lang="en-US" altLang="ko-KR" dirty="0" err="1"/>
              <a:t>numpy</a:t>
            </a:r>
            <a:r>
              <a:rPr lang="en-US" altLang="ko-KR" dirty="0"/>
              <a:t> as np </a:t>
            </a:r>
          </a:p>
          <a:p>
            <a:pPr algn="l"/>
            <a:r>
              <a:rPr lang="en-US" altLang="ko-KR" dirty="0"/>
              <a:t>print(data [</a:t>
            </a:r>
            <a:r>
              <a:rPr lang="en-US" altLang="ko-KR" dirty="0" err="1"/>
              <a:t>np.logical_and</a:t>
            </a:r>
            <a:r>
              <a:rPr lang="en-US" altLang="ko-KR" dirty="0"/>
              <a:t>(data['model-year']==70, data['mpg']&gt;=25)])</a:t>
            </a:r>
          </a:p>
          <a:p>
            <a:pPr algn="l"/>
            <a:br>
              <a:rPr lang="en-US" altLang="ko-KR" sz="1200" b="1" dirty="0"/>
            </a:b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684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07165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제공하는 통계 함수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470897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객체의 각 열은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Series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티입입니다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열의 평균이나 중간값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최대값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최소값등을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구하려면 </a:t>
            </a:r>
            <a:r>
              <a:rPr lang="en-US" altLang="ko-KR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사용하지 않더라도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Series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타입도 기본적을 제공합니다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max :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필드의 최대값을 반환한다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min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해당 필드의 최소값 반환한다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std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표준편차를 반환한다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표준편차랑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집단의 성격을 알아내기 위해 사용하는 값이다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표준편차가 크면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집단의 평균이 같더라도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최대값과 최소값의 차가 커서 값이 넓게 분포되어 있음을 의미한다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 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분산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집단내 값이 흩어짐의 척도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파이썬은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표준 분산을 사용하지 않고 있다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quantile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사분위수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집단내의 값들의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¼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2/4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 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¾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 등을 알아보기 위해 사용한다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       quantile(0.25), quantile(0,5), quantile(0.75)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median :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집단내에서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중간번째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위치한 값을 알아내고자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사용한다</a:t>
            </a: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집단내의 값들의 편차가 클 경우 평균값만으로는 특정 집단의 특성을 나타내기 어려운 경우가 많다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이럴때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중간값을</a:t>
            </a:r>
            <a:r>
              <a:rPr lang="ko-KR" altLang="en-US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사용한다</a:t>
            </a: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endParaRPr lang="en-US" altLang="ko-KR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buFontTx/>
              <a:buChar char="-"/>
            </a:pPr>
            <a:r>
              <a:rPr lang="en-US" altLang="ko-KR" sz="1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7822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7916" tIns="38958" rIns="77916" bIns="38958"/>
          <a:lstStyle/>
          <a:p>
            <a:pPr algn="l"/>
            <a:endParaRPr lang="ko-KR" altLang="en-US" sz="800" dirty="0">
              <a:solidFill>
                <a:srgbClr val="180DFB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78402" y="391776"/>
            <a:ext cx="340828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</a:t>
            </a:r>
            <a:r>
              <a:rPr lang="en-US" altLang="ko-KR" sz="14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제공하는 통계 함수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예제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467544" y="699542"/>
            <a:ext cx="7416824" cy="378564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sz="1200" b="1" i="1" dirty="0"/>
              <a:t>#</a:t>
            </a:r>
            <a:r>
              <a:rPr lang="ko-KR" altLang="en-US" sz="1200" b="1" i="1" dirty="0"/>
              <a:t>파일명 </a:t>
            </a:r>
            <a:r>
              <a:rPr lang="en-US" altLang="ko-KR" sz="1200" b="1" i="1" dirty="0"/>
              <a:t>: exam10_8.py</a:t>
            </a:r>
            <a:br>
              <a:rPr lang="en-US" altLang="ko-KR" sz="1200" b="1" i="1" dirty="0"/>
            </a:br>
            <a:r>
              <a:rPr lang="en-US" altLang="ko-KR" sz="1200" b="1" i="1" dirty="0"/>
              <a:t>import pandas as pd </a:t>
            </a:r>
          </a:p>
          <a:p>
            <a:pPr algn="l"/>
            <a:br>
              <a:rPr lang="en-US" altLang="ko-KR" sz="1200" b="1" i="1" dirty="0"/>
            </a:br>
            <a:r>
              <a:rPr lang="en-US" altLang="ko-KR" sz="1200" b="1" i="1" dirty="0"/>
              <a:t>data = </a:t>
            </a:r>
            <a:r>
              <a:rPr lang="en-US" altLang="ko-KR" sz="1200" b="1" i="1" dirty="0" err="1"/>
              <a:t>pd.read_csv</a:t>
            </a:r>
            <a:r>
              <a:rPr lang="en-US" altLang="ko-KR" sz="1200" b="1" i="1" dirty="0"/>
              <a:t>("./data/auto-mpg.csv")</a:t>
            </a:r>
          </a:p>
          <a:p>
            <a:pPr algn="l"/>
            <a:endParaRPr lang="ko-KR" altLang="en-US" sz="1200" b="1" i="1" dirty="0"/>
          </a:p>
          <a:p>
            <a:pPr algn="l"/>
            <a:r>
              <a:rPr lang="en-US" altLang="ko-KR" sz="1200" b="1" i="1" dirty="0"/>
              <a:t>print( data['model-year'].</a:t>
            </a:r>
            <a:r>
              <a:rPr lang="en-US" altLang="ko-KR" sz="1200" b="1" i="1" dirty="0" err="1"/>
              <a:t>value_counts</a:t>
            </a:r>
            <a:r>
              <a:rPr lang="en-US" altLang="ko-KR" sz="1200" b="1" i="1" dirty="0"/>
              <a:t>()) #</a:t>
            </a:r>
            <a:r>
              <a:rPr lang="en-US" altLang="ko-KR" sz="1200" b="1" i="1" dirty="0" err="1"/>
              <a:t>value_counts</a:t>
            </a:r>
            <a:r>
              <a:rPr lang="en-US" altLang="ko-KR" sz="1200" b="1" i="1" dirty="0"/>
              <a:t> </a:t>
            </a:r>
            <a:r>
              <a:rPr lang="ko-KR" altLang="en-US" sz="1200" b="1" i="1" dirty="0"/>
              <a:t>각 데이터별 고유카운트 </a:t>
            </a:r>
            <a:endParaRPr lang="en-US" altLang="ko-KR" sz="1200" b="1" i="1" dirty="0"/>
          </a:p>
          <a:p>
            <a:pPr algn="l"/>
            <a:br>
              <a:rPr lang="en-US" altLang="ko-KR" sz="1200" b="1" i="1" dirty="0"/>
            </a:br>
            <a:r>
              <a:rPr lang="en-US" altLang="ko-KR" sz="1200" b="1" i="1" dirty="0"/>
              <a:t>#</a:t>
            </a:r>
            <a:r>
              <a:rPr lang="ko-KR" altLang="en-US" sz="1200" b="1" i="1" dirty="0"/>
              <a:t>평균</a:t>
            </a:r>
            <a:r>
              <a:rPr lang="en-US" altLang="ko-KR" sz="1200" b="1" i="1" dirty="0"/>
              <a:t>, </a:t>
            </a:r>
            <a:r>
              <a:rPr lang="ko-KR" altLang="en-US" sz="1200" b="1" i="1" dirty="0"/>
              <a:t>최대</a:t>
            </a:r>
            <a:r>
              <a:rPr lang="en-US" altLang="ko-KR" sz="1200" b="1" i="1" dirty="0"/>
              <a:t>, </a:t>
            </a:r>
            <a:r>
              <a:rPr lang="ko-KR" altLang="en-US" sz="1200" b="1" i="1" dirty="0"/>
              <a:t>최소 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/>
              <a:t>연비평균 </a:t>
            </a:r>
            <a:r>
              <a:rPr lang="en-US" altLang="ko-KR" sz="1200" b="1" i="1" dirty="0"/>
              <a:t>: ", data['mpg'].mean())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/>
              <a:t>연비최대 </a:t>
            </a:r>
            <a:r>
              <a:rPr lang="en-US" altLang="ko-KR" sz="1200" b="1" i="1" dirty="0"/>
              <a:t>: ", data['mpg'].max())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 err="1"/>
              <a:t>연비최소</a:t>
            </a:r>
            <a:r>
              <a:rPr lang="ko-KR" altLang="en-US" sz="1200" b="1" i="1" dirty="0"/>
              <a:t> </a:t>
            </a:r>
            <a:r>
              <a:rPr lang="en-US" altLang="ko-KR" sz="1200" b="1" i="1" dirty="0"/>
              <a:t>: ", data['mpg'].min())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/>
              <a:t>연비중간 </a:t>
            </a:r>
            <a:r>
              <a:rPr lang="en-US" altLang="ko-KR" sz="1200" b="1" i="1" dirty="0"/>
              <a:t>: ", data['mpg'].median())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/>
              <a:t>연비분산 </a:t>
            </a:r>
            <a:r>
              <a:rPr lang="en-US" altLang="ko-KR" sz="1200" b="1" i="1" dirty="0"/>
              <a:t>: ", data['mpg'].var())</a:t>
            </a:r>
          </a:p>
          <a:p>
            <a:pPr algn="l"/>
            <a:r>
              <a:rPr lang="en-US" altLang="ko-KR" sz="1200" b="1" i="1" dirty="0"/>
              <a:t>print("</a:t>
            </a:r>
            <a:r>
              <a:rPr lang="ko-KR" altLang="en-US" sz="1200" b="1" i="1" dirty="0" err="1"/>
              <a:t>연비표준편차</a:t>
            </a:r>
            <a:r>
              <a:rPr lang="ko-KR" altLang="en-US" sz="1200" b="1" i="1" dirty="0"/>
              <a:t> </a:t>
            </a:r>
            <a:r>
              <a:rPr lang="en-US" altLang="ko-KR" sz="1200" b="1" i="1" dirty="0"/>
              <a:t>: ", data['mpg'].std())</a:t>
            </a:r>
          </a:p>
          <a:p>
            <a:pPr algn="l"/>
            <a:br>
              <a:rPr lang="en-US" altLang="ko-KR" sz="1200" b="1" i="1" dirty="0"/>
            </a:br>
            <a:r>
              <a:rPr lang="en-US" altLang="ko-KR" sz="1200" b="1" i="1" dirty="0"/>
              <a:t>print("1</a:t>
            </a:r>
            <a:r>
              <a:rPr lang="ko-KR" altLang="en-US" sz="1200" b="1" i="1" dirty="0"/>
              <a:t>사분위수 </a:t>
            </a:r>
            <a:r>
              <a:rPr lang="en-US" altLang="ko-KR" sz="1200" b="1" i="1" dirty="0"/>
              <a:t>: ", data['mpg'].quantile(0.25))</a:t>
            </a:r>
          </a:p>
          <a:p>
            <a:pPr algn="l"/>
            <a:r>
              <a:rPr lang="en-US" altLang="ko-KR" sz="1200" b="1" i="1" dirty="0"/>
              <a:t>print("2</a:t>
            </a:r>
            <a:r>
              <a:rPr lang="ko-KR" altLang="en-US" sz="1200" b="1" i="1" dirty="0"/>
              <a:t>사분위수 </a:t>
            </a:r>
            <a:r>
              <a:rPr lang="en-US" altLang="ko-KR" sz="1200" b="1" i="1" dirty="0"/>
              <a:t>: ", data['mpg'].quantile(0.5))</a:t>
            </a:r>
          </a:p>
          <a:p>
            <a:pPr algn="l"/>
            <a:r>
              <a:rPr lang="en-US" altLang="ko-KR" sz="1200" b="1" i="1" dirty="0"/>
              <a:t>print("3</a:t>
            </a:r>
            <a:r>
              <a:rPr lang="ko-KR" altLang="en-US" sz="1200" b="1" i="1" dirty="0"/>
              <a:t>사분위수 </a:t>
            </a:r>
            <a:r>
              <a:rPr lang="en-US" altLang="ko-KR" sz="1200" b="1" i="1" dirty="0"/>
              <a:t>: ", data['mpg'].quantile(0.75))</a:t>
            </a:r>
          </a:p>
          <a:p>
            <a:pPr algn="l"/>
            <a:br>
              <a:rPr lang="en-US" altLang="ko-KR" sz="1200" b="1" dirty="0"/>
            </a:b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0FDCC27-B19A-4A8C-A2EB-1A8261DEBFC9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0692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23528" y="638071"/>
            <a:ext cx="7776864" cy="1903075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 아래에 있는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iris.csv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읽어서 다음 동작들을 수행해 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iris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데이터셋에 몇개의 필드가 있고 각 필드의 타입이 무엇인지 확인해 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맨 앞의 데이터를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개만 출력해보세요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3) iris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데이터셋의 통계량을 확인해보세요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표준편차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중간값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사분위수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...)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4) variety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 데이터의 통계량을 출력하세요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각각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variety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Virginica Versicolor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sepal.length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값의 평균값을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꽃의 종류가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Setosa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이면서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sepal.length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길이가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5cm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이상인 것의 개수를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출력하시오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 algn="l">
              <a:lnSpc>
                <a:spcPct val="150000"/>
              </a:lnSpc>
              <a:buAutoNum type="arabicParenR" startAt="5"/>
            </a:pP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617147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297388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ko-KR" altLang="en-US" sz="1200" b="1" dirty="0"/>
              <a:t>파일명 </a:t>
            </a:r>
            <a:r>
              <a:rPr lang="en-US" altLang="ko-KR" sz="1200" b="1" dirty="0"/>
              <a:t>: homework10.py</a:t>
            </a:r>
          </a:p>
          <a:p>
            <a:pPr algn="l"/>
            <a:r>
              <a:rPr lang="en-US" altLang="ko-KR" b="1" dirty="0"/>
              <a:t>#</a:t>
            </a:r>
            <a:r>
              <a:rPr lang="ko-KR" altLang="en-US" b="1" dirty="0"/>
              <a:t>파일명 </a:t>
            </a:r>
            <a:r>
              <a:rPr lang="en-US" altLang="ko-KR" b="1" dirty="0"/>
              <a:t>: exam10_8.py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import pandas as pd </a:t>
            </a:r>
          </a:p>
          <a:p>
            <a:pPr algn="l"/>
            <a:r>
              <a:rPr lang="en-US" altLang="ko-KR" b="1" dirty="0"/>
              <a:t>import </a:t>
            </a:r>
            <a:r>
              <a:rPr lang="en-US" altLang="ko-KR" b="1" dirty="0" err="1"/>
              <a:t>numpy</a:t>
            </a:r>
            <a:r>
              <a:rPr lang="en-US" altLang="ko-KR" b="1" dirty="0"/>
              <a:t> as np </a:t>
            </a:r>
          </a:p>
          <a:p>
            <a:pPr algn="l"/>
            <a:r>
              <a:rPr lang="en-US" altLang="ko-KR" b="1" dirty="0"/>
              <a:t>#header</a:t>
            </a:r>
            <a:r>
              <a:rPr lang="ko-KR" altLang="en-US" b="1" dirty="0"/>
              <a:t>가 </a:t>
            </a:r>
            <a:r>
              <a:rPr lang="en-US" altLang="ko-KR" b="1" dirty="0"/>
              <a:t>3</a:t>
            </a:r>
            <a:r>
              <a:rPr lang="ko-KR" altLang="en-US" b="1" dirty="0"/>
              <a:t>번째 줄에 있음 </a:t>
            </a:r>
          </a:p>
          <a:p>
            <a:pPr algn="l"/>
            <a:r>
              <a:rPr lang="en-US" altLang="ko-KR" b="1" dirty="0"/>
              <a:t>data = </a:t>
            </a:r>
            <a:r>
              <a:rPr lang="en-US" altLang="ko-KR" b="1" dirty="0" err="1"/>
              <a:t>pd.read_csv</a:t>
            </a:r>
            <a:r>
              <a:rPr lang="en-US" altLang="ko-KR" b="1" dirty="0"/>
              <a:t>("./data/iris.csv")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#1) iris </a:t>
            </a:r>
            <a:r>
              <a:rPr lang="ko-KR" altLang="en-US" b="1" dirty="0"/>
              <a:t>데이터셋에 몇개의 필드가 있고 각 필드의 타입이 무엇인지 확인해 보세요</a:t>
            </a:r>
          </a:p>
          <a:p>
            <a:pPr algn="l"/>
            <a:r>
              <a:rPr lang="en-US" altLang="ko-KR" b="1" dirty="0"/>
              <a:t>print(data.info())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#2) </a:t>
            </a:r>
            <a:r>
              <a:rPr lang="ko-KR" altLang="en-US" b="1" dirty="0"/>
              <a:t>앞에 </a:t>
            </a:r>
            <a:r>
              <a:rPr lang="en-US" altLang="ko-KR" b="1" dirty="0"/>
              <a:t>7</a:t>
            </a:r>
            <a:r>
              <a:rPr lang="ko-KR" altLang="en-US" b="1" dirty="0"/>
              <a:t>개 데이터 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data.head</a:t>
            </a:r>
            <a:r>
              <a:rPr lang="en-US" altLang="ko-KR" b="1" dirty="0"/>
              <a:t>(7))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#3)</a:t>
            </a:r>
            <a:r>
              <a:rPr lang="ko-KR" altLang="en-US" b="1" dirty="0"/>
              <a:t>통계량 요약정보 </a:t>
            </a:r>
          </a:p>
          <a:p>
            <a:pPr algn="l"/>
            <a:r>
              <a:rPr lang="en-US" altLang="ko-KR" b="1" dirty="0"/>
              <a:t>print(</a:t>
            </a:r>
            <a:r>
              <a:rPr lang="en-US" altLang="ko-KR" b="1" dirty="0" err="1"/>
              <a:t>data.describe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85607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66761" y="330305"/>
            <a:ext cx="1675438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적용하기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풀이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46334" y="638071"/>
            <a:ext cx="8330121" cy="3204713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/>
            <a:r>
              <a:rPr lang="en-US" altLang="ko-KR" b="1" dirty="0"/>
              <a:t>#4)variety </a:t>
            </a:r>
            <a:r>
              <a:rPr lang="ko-KR" altLang="en-US" b="1" dirty="0"/>
              <a:t>이 </a:t>
            </a:r>
            <a:r>
              <a:rPr lang="en-US" altLang="ko-KR" b="1" dirty="0" err="1"/>
              <a:t>Setosa</a:t>
            </a:r>
            <a:r>
              <a:rPr lang="en-US" altLang="ko-KR" b="1" dirty="0"/>
              <a:t> </a:t>
            </a:r>
            <a:r>
              <a:rPr lang="ko-KR" altLang="en-US" b="1" dirty="0"/>
              <a:t>인 데이터의 통계량을 출력하세요</a:t>
            </a:r>
          </a:p>
          <a:p>
            <a:pPr algn="l"/>
            <a:br>
              <a:rPr lang="ko-KR" altLang="en-US" b="1" dirty="0"/>
            </a:br>
            <a:r>
              <a:rPr lang="en-US" altLang="ko-KR" b="1" dirty="0"/>
              <a:t>temp = data[data['variety']=='</a:t>
            </a:r>
            <a:r>
              <a:rPr lang="en-US" altLang="ko-KR" b="1" dirty="0" err="1"/>
              <a:t>Setosa</a:t>
            </a:r>
            <a:r>
              <a:rPr lang="en-US" altLang="ko-KR" b="1" dirty="0"/>
              <a:t>']</a:t>
            </a:r>
          </a:p>
          <a:p>
            <a:pPr algn="l"/>
            <a:r>
              <a:rPr lang="en-US" altLang="ko-KR" b="1" dirty="0"/>
              <a:t>print(temp)</a:t>
            </a:r>
          </a:p>
          <a:p>
            <a:pPr algn="l"/>
            <a:br>
              <a:rPr lang="en-US" altLang="ko-KR" b="1" dirty="0"/>
            </a:br>
            <a:r>
              <a:rPr lang="en-US" altLang="ko-KR" b="1" dirty="0"/>
              <a:t>#5) </a:t>
            </a:r>
            <a:r>
              <a:rPr lang="ko-KR" altLang="en-US" b="1" dirty="0"/>
              <a:t>각각 </a:t>
            </a:r>
            <a:r>
              <a:rPr lang="en-US" altLang="ko-KR" b="1" dirty="0"/>
              <a:t>variety</a:t>
            </a:r>
            <a:r>
              <a:rPr lang="ko-KR" altLang="en-US" b="1" dirty="0"/>
              <a:t>가 </a:t>
            </a:r>
            <a:r>
              <a:rPr lang="en-US" altLang="ko-KR" b="1" dirty="0" err="1"/>
              <a:t>Setosa</a:t>
            </a:r>
            <a:r>
              <a:rPr lang="en-US" altLang="ko-KR" b="1" dirty="0"/>
              <a:t>, Virginica Versicolor </a:t>
            </a:r>
            <a:r>
              <a:rPr lang="ko-KR" altLang="en-US" b="1" dirty="0"/>
              <a:t>의 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 </a:t>
            </a:r>
            <a:r>
              <a:rPr lang="ko-KR" altLang="en-US" b="1" dirty="0"/>
              <a:t>값의 평균값을 </a:t>
            </a:r>
            <a:r>
              <a:rPr lang="ko-KR" altLang="en-US" b="1" dirty="0" err="1"/>
              <a:t>출력하시오</a:t>
            </a:r>
            <a:endParaRPr lang="ko-KR" altLang="en-US" b="1" dirty="0"/>
          </a:p>
          <a:p>
            <a:pPr algn="l"/>
            <a:r>
              <a:rPr lang="en-US" altLang="ko-KR" b="1" dirty="0"/>
              <a:t>temp = data[data['variety']=='</a:t>
            </a:r>
            <a:r>
              <a:rPr lang="en-US" altLang="ko-KR" b="1" dirty="0" err="1"/>
              <a:t>Setosa</a:t>
            </a:r>
            <a:r>
              <a:rPr lang="en-US" altLang="ko-KR" b="1" dirty="0"/>
              <a:t>']['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']</a:t>
            </a:r>
          </a:p>
          <a:p>
            <a:pPr algn="l"/>
            <a:r>
              <a:rPr lang="en-US" altLang="ko-KR" b="1" dirty="0"/>
              <a:t>print("</a:t>
            </a:r>
            <a:r>
              <a:rPr lang="en-US" altLang="ko-KR" b="1" dirty="0" err="1"/>
              <a:t>Setosa</a:t>
            </a:r>
            <a:r>
              <a:rPr lang="en-US" altLang="ko-KR" b="1" dirty="0"/>
              <a:t> </a:t>
            </a:r>
            <a:r>
              <a:rPr lang="ko-KR" altLang="en-US" b="1" dirty="0"/>
              <a:t>평균 </a:t>
            </a:r>
            <a:r>
              <a:rPr lang="en-US" altLang="ko-KR" b="1" dirty="0"/>
              <a:t>: ", </a:t>
            </a:r>
            <a:r>
              <a:rPr lang="en-US" altLang="ko-KR" b="1" dirty="0" err="1"/>
              <a:t>temp.mean</a:t>
            </a:r>
            <a:r>
              <a:rPr lang="en-US" altLang="ko-KR" b="1" dirty="0"/>
              <a:t>())</a:t>
            </a:r>
          </a:p>
          <a:p>
            <a:pPr algn="l"/>
            <a:r>
              <a:rPr lang="en-US" altLang="ko-KR" b="1" dirty="0"/>
              <a:t>temp = data[data['variety']=='Versicolor']['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']</a:t>
            </a:r>
          </a:p>
          <a:p>
            <a:pPr algn="l"/>
            <a:r>
              <a:rPr lang="en-US" altLang="ko-KR" b="1" dirty="0"/>
              <a:t>print("Versicolor </a:t>
            </a:r>
            <a:r>
              <a:rPr lang="ko-KR" altLang="en-US" b="1" dirty="0"/>
              <a:t>평균 </a:t>
            </a:r>
            <a:r>
              <a:rPr lang="en-US" altLang="ko-KR" b="1" dirty="0"/>
              <a:t>: ", </a:t>
            </a:r>
            <a:r>
              <a:rPr lang="en-US" altLang="ko-KR" b="1" dirty="0" err="1"/>
              <a:t>temp.mean</a:t>
            </a:r>
            <a:r>
              <a:rPr lang="en-US" altLang="ko-KR" b="1" dirty="0"/>
              <a:t>())</a:t>
            </a:r>
          </a:p>
          <a:p>
            <a:pPr algn="l"/>
            <a:r>
              <a:rPr lang="en-US" altLang="ko-KR" b="1" dirty="0"/>
              <a:t>temp = data[data['variety']=='Virginica']['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']</a:t>
            </a:r>
          </a:p>
          <a:p>
            <a:pPr algn="l"/>
            <a:r>
              <a:rPr lang="en-US" altLang="ko-KR" b="1" dirty="0"/>
              <a:t>print("Virginica </a:t>
            </a:r>
            <a:r>
              <a:rPr lang="ko-KR" altLang="en-US" b="1" dirty="0"/>
              <a:t>평균 </a:t>
            </a:r>
            <a:r>
              <a:rPr lang="en-US" altLang="ko-KR" b="1" dirty="0"/>
              <a:t>: ", </a:t>
            </a:r>
            <a:r>
              <a:rPr lang="en-US" altLang="ko-KR" b="1" dirty="0" err="1"/>
              <a:t>temp.mean</a:t>
            </a:r>
            <a:r>
              <a:rPr lang="en-US" altLang="ko-KR" b="1" dirty="0"/>
              <a:t>())</a:t>
            </a:r>
          </a:p>
          <a:p>
            <a:pPr algn="l"/>
            <a:br>
              <a:rPr lang="en-US" altLang="ko-KR" b="1" dirty="0"/>
            </a:br>
            <a:br>
              <a:rPr lang="en-US" altLang="ko-KR" b="1" dirty="0"/>
            </a:br>
            <a:r>
              <a:rPr lang="en-US" altLang="ko-KR" b="1" dirty="0"/>
              <a:t>#6) </a:t>
            </a:r>
            <a:r>
              <a:rPr lang="ko-KR" altLang="en-US" b="1" dirty="0"/>
              <a:t>꽃의 종류가 </a:t>
            </a:r>
            <a:r>
              <a:rPr lang="en-US" altLang="ko-KR" b="1" dirty="0" err="1"/>
              <a:t>Setosa</a:t>
            </a:r>
            <a:r>
              <a:rPr lang="en-US" altLang="ko-KR" b="1" dirty="0"/>
              <a:t> </a:t>
            </a:r>
            <a:r>
              <a:rPr lang="ko-KR" altLang="en-US" b="1" dirty="0"/>
              <a:t>이면서 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 </a:t>
            </a:r>
            <a:r>
              <a:rPr lang="ko-KR" altLang="en-US" b="1" dirty="0"/>
              <a:t>길이가 </a:t>
            </a:r>
            <a:r>
              <a:rPr lang="en-US" altLang="ko-KR" b="1" dirty="0"/>
              <a:t>5cm</a:t>
            </a:r>
            <a:r>
              <a:rPr lang="ko-KR" altLang="en-US" b="1" dirty="0"/>
              <a:t>이상인 것의 개수를 </a:t>
            </a:r>
            <a:r>
              <a:rPr lang="ko-KR" altLang="en-US" b="1" dirty="0" err="1"/>
              <a:t>출력하시오</a:t>
            </a:r>
            <a:r>
              <a:rPr lang="ko-KR" altLang="en-US" b="1" dirty="0"/>
              <a:t> </a:t>
            </a:r>
            <a:br>
              <a:rPr lang="ko-KR" altLang="en-US" b="1" dirty="0"/>
            </a:br>
            <a:r>
              <a:rPr lang="en-US" altLang="ko-KR" b="1" dirty="0"/>
              <a:t>temp = data[</a:t>
            </a:r>
            <a:r>
              <a:rPr lang="en-US" altLang="ko-KR" b="1" dirty="0" err="1"/>
              <a:t>np.logical_and</a:t>
            </a:r>
            <a:r>
              <a:rPr lang="en-US" altLang="ko-KR" b="1" dirty="0"/>
              <a:t>(data['variety']=='</a:t>
            </a:r>
            <a:r>
              <a:rPr lang="en-US" altLang="ko-KR" b="1" dirty="0" err="1"/>
              <a:t>Setosa</a:t>
            </a:r>
            <a:r>
              <a:rPr lang="en-US" altLang="ko-KR" b="1" dirty="0"/>
              <a:t>', data['</a:t>
            </a:r>
            <a:r>
              <a:rPr lang="en-US" altLang="ko-KR" b="1" dirty="0" err="1"/>
              <a:t>sepal.length</a:t>
            </a:r>
            <a:r>
              <a:rPr lang="en-US" altLang="ko-KR" b="1" dirty="0"/>
              <a:t>']&gt;=5)]</a:t>
            </a:r>
          </a:p>
          <a:p>
            <a:pPr algn="l"/>
            <a:r>
              <a:rPr lang="en-US" altLang="ko-KR" b="1" dirty="0"/>
              <a:t>print(temp)</a:t>
            </a:r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/>
            <a:br>
              <a:rPr lang="en-US" altLang="ko-KR" b="1" dirty="0"/>
            </a:br>
            <a:endParaRPr lang="en-US" altLang="ko-KR" b="1" dirty="0"/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0159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547161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문제풀기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920576"/>
            <a:ext cx="8490292" cy="1450387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문제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csv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파일을 읽으려고 합니다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폴더 구조가 다음과 같을 때 경로를 틀리게 지정한 것은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645461" y="2145105"/>
            <a:ext cx="6283696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①  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pd.read_csv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(“/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pandas_workspace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/uni_10/data/iris.csv”)</a:t>
            </a: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pd.read_csv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r“c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:\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pandas_workspace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\uni_10\data\iris.csv”) </a:t>
            </a:r>
          </a:p>
          <a:p>
            <a:pPr marL="228600" indent="-228600" algn="l">
              <a:lnSpc>
                <a:spcPct val="150000"/>
              </a:lnSpc>
              <a:buAutoNum type="circleNumDbPlain" startAt="2"/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pd.read_csv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(“c:\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pandas_workspace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\uni_10\data\iris.csv”)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④   data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=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pd.read_csv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(“.\\data\\iris.csv”) 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645461" y="3186554"/>
            <a:ext cx="6642614" cy="988722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정답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3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해설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경로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지정시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 문제입니다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\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사용하고자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할때는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\\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두개를 겹쳐 쓰거나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문자열앞에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r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붙여줘야 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난이도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1(1: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아주어려움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2: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어려움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보통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쉬움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5: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쉬움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관련페이지번호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9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BE62A6D-14C9-429E-89DA-1358B0B8E988}"/>
              </a:ext>
            </a:extLst>
          </p:cNvPr>
          <p:cNvGrpSpPr/>
          <p:nvPr/>
        </p:nvGrpSpPr>
        <p:grpSpPr>
          <a:xfrm>
            <a:off x="755576" y="1357401"/>
            <a:ext cx="6301537" cy="734977"/>
            <a:chOff x="755576" y="1357401"/>
            <a:chExt cx="6301537" cy="734977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67AEB778-7A7A-497A-8299-3EABA1B57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5576" y="1357401"/>
              <a:ext cx="1743075" cy="676275"/>
            </a:xfrm>
            <a:prstGeom prst="rect">
              <a:avLst/>
            </a:prstGeom>
          </p:spPr>
        </p:pic>
        <p:cxnSp>
          <p:nvCxnSpPr>
            <p:cNvPr id="4" name="직선 화살표 연결선 3">
              <a:extLst>
                <a:ext uri="{FF2B5EF4-FFF2-40B4-BE49-F238E27FC236}">
                  <a16:creationId xmlns:a16="http://schemas.microsoft.com/office/drawing/2014/main" id="{7E592C9E-42E7-4BB1-87A5-EA6344962464}"/>
                </a:ext>
              </a:extLst>
            </p:cNvPr>
            <p:cNvCxnSpPr/>
            <p:nvPr/>
          </p:nvCxnSpPr>
          <p:spPr>
            <a:xfrm flipH="1">
              <a:off x="2627784" y="1645769"/>
              <a:ext cx="2160240" cy="14591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FA7847-9A2D-432C-A20E-38E75C96CE0F}"/>
                </a:ext>
              </a:extLst>
            </p:cNvPr>
            <p:cNvSpPr txBox="1"/>
            <p:nvPr/>
          </p:nvSpPr>
          <p:spPr bwMode="auto">
            <a:xfrm>
              <a:off x="4896873" y="1521860"/>
              <a:ext cx="216024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1100" b="1" dirty="0">
                  <a:latin typeface="+mn-ea"/>
                  <a:ea typeface="+mn-ea"/>
                </a:rPr>
                <a:t>파이썬 파일 </a:t>
              </a:r>
              <a:r>
                <a:rPr lang="en-US" altLang="ko-KR" sz="1100" b="1" dirty="0">
                  <a:latin typeface="+mn-ea"/>
                  <a:ea typeface="+mn-ea"/>
                </a:rPr>
                <a:t>( test1.py )</a:t>
              </a:r>
              <a:endParaRPr lang="ko-KR" altLang="en-US" sz="1100" b="1" dirty="0">
                <a:latin typeface="+mn-ea"/>
                <a:ea typeface="+mn-ea"/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1BCC32A1-AEDB-4A5C-90FD-C9479659F123}"/>
                </a:ext>
              </a:extLst>
            </p:cNvPr>
            <p:cNvCxnSpPr/>
            <p:nvPr/>
          </p:nvCxnSpPr>
          <p:spPr>
            <a:xfrm flipH="1">
              <a:off x="2659089" y="1954677"/>
              <a:ext cx="2160240" cy="14591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A9253E0-E13D-4BCF-AA6D-D9E95F2615B2}"/>
                </a:ext>
              </a:extLst>
            </p:cNvPr>
            <p:cNvSpPr txBox="1"/>
            <p:nvPr/>
          </p:nvSpPr>
          <p:spPr bwMode="auto">
            <a:xfrm>
              <a:off x="4896873" y="1830768"/>
              <a:ext cx="2160240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lstStyle/>
            <a:p>
              <a:pPr algn="l"/>
              <a:r>
                <a:rPr lang="ko-KR" altLang="en-US" sz="1100" b="1" dirty="0">
                  <a:latin typeface="+mn-ea"/>
                  <a:ea typeface="+mn-ea"/>
                </a:rPr>
                <a:t>데이터파일  </a:t>
              </a:r>
              <a:r>
                <a:rPr lang="en-US" altLang="ko-KR" sz="1100" b="1" dirty="0">
                  <a:latin typeface="+mn-ea"/>
                  <a:ea typeface="+mn-ea"/>
                </a:rPr>
                <a:t>(iris.csv) </a:t>
              </a:r>
              <a:endParaRPr lang="ko-KR" altLang="en-US" sz="1100" b="1" dirty="0"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04504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258350"/>
              </p:ext>
            </p:extLst>
          </p:nvPr>
        </p:nvGraphicFramePr>
        <p:xfrm>
          <a:off x="107504" y="51470"/>
          <a:ext cx="8749636" cy="46864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5661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35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제목이 없는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csv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파일을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읽었을때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별도의 컬럼 제목을 붙이고자 합니다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파이르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제대로 읽은 명령문은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? (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단 파일명은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iris.csv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이고 파이썬 파일과 동일한 디렉토리에 있습니다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r>
                        <a:rPr lang="ko-KR" altLang="en-US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pd.read_csv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(“iris.csv”)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pd.read_csv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(“iris.csv”, header=None)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 =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pd.read_csv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(“./data/iris.csv”, header=None) 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    data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pd.read_csv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(“iris.csv”,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index_col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=1) 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제목줄이 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없을때는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heade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필드에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None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속성을 부여하면 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파이썬 파일과 데이터파일이 동일한 경로일때는 파일명만 기술하면 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75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DataFrame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객체에서 특정 조건을 만족하는 필드만 추출하고자 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auto-mpg.csv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파일에서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cylinders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필드값이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인 데이터의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horsepower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필드값만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보고자 합니다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바르게 작성하세요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해설참조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data[data['cylinders']==8]['horsepower’] </a:t>
                      </a:r>
                      <a:r>
                        <a:rPr lang="ko-KR" altLang="en-US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</a:t>
                      </a:r>
                      <a:endParaRPr lang="en-US" altLang="ko-KR" sz="12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data[</a:t>
                      </a:r>
                      <a:r>
                        <a:rPr lang="en-US" altLang="ko-KR" sz="12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data.cylinders</a:t>
                      </a:r>
                      <a:r>
                        <a:rPr lang="en-US" altLang="ko-KR" sz="1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]==8]['horsepower']</a:t>
                      </a:r>
                    </a:p>
                    <a:p>
                      <a:endParaRPr lang="en-US" altLang="ko-KR" sz="15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78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auto-mpg.csv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파일을 읽어 각 필드들에 대한 정보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데이터타입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필드명등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를 확인하고자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할때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어떠한 함수를 사용하는가 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info()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describe()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tail()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    head() </a:t>
                      </a:r>
                    </a:p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779159" rtl="0" eaLnBrk="1" latinLnBrk="1" hangingPunct="1">
                        <a:lnSpc>
                          <a:spcPct val="150000"/>
                        </a:lnSpc>
                      </a:pP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필드에 대한 정보는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info</a:t>
                      </a:r>
                      <a:r>
                        <a:rPr lang="ko-KR" altLang="en-US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함수를 사용합니다 </a:t>
                      </a: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60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223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671694"/>
              </p:ext>
            </p:extLst>
          </p:nvPr>
        </p:nvGraphicFramePr>
        <p:xfrm>
          <a:off x="107504" y="51470"/>
          <a:ext cx="8749636" cy="45823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82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7847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auto-mpg.csv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파일을 읽어 각 필드들에 대한 통계량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평균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표준편차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분산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중앙갑등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을 확인하기 위한 함수는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info()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describe()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tail()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    head()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통계량을 확인하려면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describe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함수를 사용합니다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6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6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데이터프레임의 컬럼명을 변경하고자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할때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사용하는 속성은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info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shape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2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cols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 startAt="4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columns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data.columns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= [ ‘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필드명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1’, ‘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필드명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2’, ‘</a:t>
                      </a: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필드명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3’]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등으로 부여하면 됩니다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6012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7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데이터프레임 객체의 데이터의 행과 열의 개수를 확인하는 속성은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shape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shape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속성을 활용하면 행과 열등 크기를 확인 할 수 있습니다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4281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895634"/>
              </p:ext>
            </p:extLst>
          </p:nvPr>
        </p:nvGraphicFramePr>
        <p:xfrm>
          <a:off x="107504" y="51470"/>
          <a:ext cx="8749636" cy="451152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8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5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665731457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7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5342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77915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관련학습보기</a:t>
                      </a:r>
                      <a:endParaRPr lang="ko-KR" altLang="en-US" sz="9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8874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8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auto-mpg.csv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파일을 읽어서 모델의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연도고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70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년과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71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년 두 종류의 데이터만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보고싶을때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올바른 수식은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np.logical_and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 data[‘model-year’]==70, data[‘model-year’]==71)]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np.logical_or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 data[‘model-year’]==70, data[‘model-year’]==71)] 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data[data[‘model-year’]==70 and data[‘model-year’]==71] 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④    data[data[‘model-year’]==70 or data[‘model-year’]==71]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Font typeface="+mj-ea"/>
                        <a:buNone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lang="ko-KR" altLang="en-US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논리식의 경우에는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and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 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or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연산이 아니라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numpy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의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logical_or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나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logical_and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연산을 사용해야 한다 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5331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9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l" defTabSz="779159" rtl="0" eaLnBrk="1" latinLnBrk="1" hangingPunct="1">
                        <a:lnSpc>
                          <a:spcPct val="100000"/>
                        </a:lnSpc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auto-mpg.csv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파일에서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cylinders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개인 데이터의 개수를 알아내고자 한다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올바른 방법은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?</a:t>
                      </a:r>
                    </a:p>
                    <a:p>
                      <a:pPr marL="228600" indent="-228600" algn="l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data[ data[‘cylinders’]==8].count()</a:t>
                      </a:r>
                    </a:p>
                    <a:p>
                      <a:pPr marL="228600" marR="0" lvl="0" indent="-22860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circleNumDbPlain"/>
                        <a:tabLst/>
                        <a:defRPr/>
                      </a:pPr>
                      <a:r>
                        <a:rPr lang="it-IT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data[ data['cylinders']==8].shape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228600" indent="-228600" algn="l" defTabSz="779159" rtl="0" eaLnBrk="1" latinLnBrk="1" hangingPunct="1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data[ data[‘cylinders’]==8].length()</a:t>
                      </a:r>
                    </a:p>
                    <a:p>
                      <a:pPr marL="228600" indent="-228600" algn="l" defTabSz="779159" rtl="0" eaLnBrk="1" latinLnBrk="1" hangingPunct="1">
                        <a:lnSpc>
                          <a:spcPct val="150000"/>
                        </a:lnSpc>
                        <a:buAutoNum type="circleNumDbPlain"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data[ data[‘cylinders’]=8].length()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it-IT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data[ data['cylinders']==8].shape</a:t>
                      </a:r>
                      <a:endParaRPr lang="en-US" altLang="ko-KR" sz="800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data[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조건식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].shape </a:t>
                      </a:r>
                      <a:r>
                        <a:rPr lang="ko-KR" altLang="en-US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속성을 사용하면 열의 개수와 행의 개수 모드를 알 수 있습니다</a:t>
                      </a: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9627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8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10</a:t>
                      </a:r>
                      <a:endParaRPr lang="ko-KR" altLang="en-US" sz="8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auto-mpg.csv 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파일에서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cylinders 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가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8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개인 </a:t>
                      </a:r>
                      <a:r>
                        <a:rPr lang="en-US" altLang="ko-KR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horsepower</a:t>
                      </a:r>
                      <a:r>
                        <a:rPr lang="ko-KR" altLang="en-US" sz="800" b="1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의 평균값을 알아내는 수식을 올바르게 </a:t>
                      </a:r>
                      <a:r>
                        <a:rPr lang="ko-KR" altLang="en-US" sz="800" b="1" kern="1200" dirty="0" err="1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작성하시오</a:t>
                      </a: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endParaRPr lang="en-US" altLang="ko-KR" sz="800" b="1" kern="1200" dirty="0">
                        <a:solidFill>
                          <a:schemeClr val="dk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해설참조</a:t>
                      </a: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chemeClr val="dk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data[ data['cylinders']==8]['horsepower'].mean()</a:t>
                      </a:r>
                    </a:p>
                    <a:p>
                      <a:pPr marL="0" marR="0" lvl="0" indent="0" algn="l" defTabSz="7791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8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374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204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323528" y="4163546"/>
            <a:ext cx="8797612" cy="941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7916" tIns="38958" rIns="77916" bIns="38958"/>
          <a:lstStyle/>
          <a:p>
            <a:pPr algn="l"/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기입하지 않습니다</a:t>
            </a:r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07504" y="330305"/>
            <a:ext cx="1075915" cy="307766"/>
          </a:xfrm>
          <a:prstGeom prst="rect">
            <a:avLst/>
          </a:prstGeom>
        </p:spPr>
        <p:txBody>
          <a:bodyPr wrap="none" lIns="91430" tIns="45715" rIns="91430" bIns="45715">
            <a:spAutoFit/>
          </a:bodyPr>
          <a:lstStyle/>
          <a:p>
            <a:pPr algn="l"/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◈ 핵심요약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330180" y="703720"/>
            <a:ext cx="8562300" cy="2835381"/>
          </a:xfrm>
          <a:prstGeom prst="rect">
            <a:avLst/>
          </a:prstGeom>
        </p:spPr>
        <p:txBody>
          <a:bodyPr wrap="square" lIns="91430" tIns="45715" rIns="91430" bIns="45715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판다스에서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제공하는 데이터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구조중에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가장 많이 쓰입니다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판다스는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csv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excel,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등의 파일을 읽어서 바로 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객체를 전달해줍니다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객체는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for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문을 사용하지 않고도 조건식을 마치 인덱스처럼 데이터에 접근할 수 있습니다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객체의 인덱스에 논리식을 사용할 경우에는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파이썬의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논리식이 아니라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numpy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제공하는 논리함수를 사용해야 합니다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▶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API</a:t>
            </a: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head() –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객체의 데이터를 기본적으로 앞에서부터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개를 보여준다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tail() –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객체의 데이터를 기본적으로 뒤애서부터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개를 보여준다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info() -  </a:t>
            </a:r>
            <a:r>
              <a:rPr lang="en-US" altLang="ko-KR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dataframe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내의 각 필드의 종류와 데이터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타입등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개수등의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정보를 보여준다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describe() –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 </a:t>
            </a:r>
            <a:r>
              <a:rPr lang="ko-KR" altLang="en-US" sz="1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통계값인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max, min,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mean,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quantile(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퍼센트</a:t>
            </a:r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), std </a:t>
            </a:r>
            <a:r>
              <a: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등을 적용한 통계량을 간략하게 보여준다 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950257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>
          <a:solidFill>
            <a:srgbClr val="FF0000"/>
          </a:solidFill>
          <a:headEnd type="none" w="med" len="med"/>
          <a:tailEnd type="triangle" w="med" len="med"/>
        </a:ln>
        <a:effectLst/>
      </a:spPr>
      <a:bodyPr rtlCol="0" anchor="ctr"/>
      <a:lstStyle>
        <a:defPPr marL="0" algn="l">
          <a:defRPr dirty="0" smtClean="0">
            <a:solidFill>
              <a:sysClr val="windowText" lastClr="000000"/>
            </a:solidFill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>
        <a:ln>
          <a:solidFill>
            <a:schemeClr val="tx1">
              <a:lumMod val="85000"/>
              <a:lumOff val="15000"/>
            </a:schemeClr>
          </a:solidFill>
          <a:headEnd type="none" w="med" len="med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</a:spPr>
      <a:bodyPr wrap="square" rtlCol="0" anchor="t">
        <a:spAutoFit/>
      </a:bodyPr>
      <a:lstStyle>
        <a:defPPr algn="l">
          <a:defRPr sz="1800" b="1" dirty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75004</TotalTime>
  <Words>4076</Words>
  <Application>Microsoft Office PowerPoint</Application>
  <PresentationFormat>화면 슬라이드 쇼(16:9)</PresentationFormat>
  <Paragraphs>590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나눔고딕</vt:lpstr>
      <vt:lpstr>돋움</vt:lpstr>
      <vt:lpstr>맑은 고딕</vt:lpstr>
      <vt:lpstr>Arial</vt:lpstr>
      <vt:lpstr>Calibri</vt:lpstr>
      <vt:lpstr>Cambria</vt:lpstr>
      <vt:lpstr>Consolas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CELK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스토리보드</dc:title>
  <dc:creator>CELK</dc:creator>
  <cp:lastModifiedBy>백 현숙</cp:lastModifiedBy>
  <cp:revision>4784</cp:revision>
  <cp:lastPrinted>2015-05-26T08:39:57Z</cp:lastPrinted>
  <dcterms:created xsi:type="dcterms:W3CDTF">2004-07-08T01:15:15Z</dcterms:created>
  <dcterms:modified xsi:type="dcterms:W3CDTF">2020-11-25T08:03:52Z</dcterms:modified>
</cp:coreProperties>
</file>